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366" r:id="rId3"/>
    <p:sldId id="364" r:id="rId4"/>
    <p:sldId id="367" r:id="rId5"/>
    <p:sldId id="369" r:id="rId6"/>
    <p:sldId id="370" r:id="rId7"/>
    <p:sldId id="368" r:id="rId8"/>
    <p:sldId id="3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60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DDE51-3BC9-C14F-95E0-12B84B53A5CE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0D45D-ECE9-F84B-92B8-6C8DA1D51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66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dirty="0"/>
              <a:t>Social Data Linkage Environment (SDLE) responsible for the provision of integration keys.</a:t>
            </a:r>
          </a:p>
          <a:p>
            <a:pPr lvl="1"/>
            <a:r>
              <a:rPr lang="en-CA" dirty="0"/>
              <a:t>STC maintains a data depot integrating multiple administrative and survey files to a central repository (Derived Record Depository [DRD]).</a:t>
            </a:r>
          </a:p>
          <a:p>
            <a:endParaRPr lang="en-CA" dirty="0"/>
          </a:p>
          <a:p>
            <a:r>
              <a:rPr lang="en-CA" dirty="0"/>
              <a:t>Integration keys must be cleaned and de-duplicated.</a:t>
            </a:r>
          </a:p>
          <a:p>
            <a:pPr lvl="1"/>
            <a:r>
              <a:rPr lang="en-CA" dirty="0"/>
              <a:t>SDLE integrates data files (IMDB/DAD/Census/etc.) to the DRD; the files are not directly integrated to each other.</a:t>
            </a:r>
          </a:p>
          <a:p>
            <a:pPr lvl="1"/>
            <a:r>
              <a:rPr lang="en-CA" dirty="0"/>
              <a:t>Cleaning and deduplication refers to creating unique combinations for populations of interest (immigrants on the IMDB, persons on the LAD).</a:t>
            </a:r>
          </a:p>
          <a:p>
            <a:endParaRPr lang="en-CA" dirty="0"/>
          </a:p>
          <a:p>
            <a:r>
              <a:rPr lang="en-CA" dirty="0"/>
              <a:t>As the project involves integrating 9 different datasets to both the IMDB and the LAD, this process had to be done 18 times.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78451-D462-4DE2-8E27-F5819ECEA1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0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278D-0AFC-9AC6-BF90-418AAA7F0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84E0D-65FC-A82F-5BCD-9491FB934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FA071-C1AF-39A3-17B6-CF9F496A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5AEDF-5CE7-14A1-3860-F5AD03EC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4383-2592-802C-54EE-7D53D44D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6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9AB0-2527-945F-4159-3FB12F4D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01DE-3341-C220-77C1-85050E332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C54E9-189C-F932-B385-A24EFFC55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61342-FB46-F8EB-27DE-BB0109AF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0BF9-8433-843F-0882-EF771971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5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DF09-C39B-0A9C-F228-2CEACAF8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5779-7CC2-E86D-C349-E00D9BB09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5E142-B661-265D-5AAB-22752ED2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6097-E4CF-DBED-F523-8D1D6EEF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E65D-E733-9EE3-2F2F-A4310C3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1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ECF8-B2E1-AE18-003F-29E80CC9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DD47-E1E0-5E31-3368-86ECF4F78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9947A-CC52-4900-4B4B-E5227803E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B55C4-6FD3-65E6-E858-B6573CAE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BE434-1260-3A58-CDBF-E40A9C0C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3EEC5-2168-8020-9432-E38BCB4F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8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D2F3-4D53-D743-6088-69E64D14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CBA72-A87B-7BBA-6BC9-6B20B5491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953C3-AC3F-BDA7-F2AF-B1DA860E6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F34872-5C32-0ED9-F892-D428DEF57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8C36C-76A7-2A1B-7758-28E51E85C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71CC7-D33D-79AE-AB04-0C4F4E22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E6EF5-58D7-A975-3B99-B45ABE43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B7520-E3B9-F99F-9777-6C84A126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1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A028-6ADE-9121-2CB4-73D98E07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604D0-0B37-D724-0531-CC29ABBD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5F14A-1C39-27B5-3923-E69D51C4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DBF84-908B-359B-5C57-80176D7F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30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75228-1F80-10D8-C4D0-99606327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1E1B4-2708-8EED-FD48-B5B15BE2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7A9A7-8E7D-6F6C-27F7-6DF7BF6C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4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461E-E579-2A62-6B0B-C582FDE2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33EC-E01C-0912-88F5-0D28C1560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8930F-9290-D41E-BCA6-F2E9FE038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BFFBF-DFF6-21CE-4259-9710F951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BD91B-2B0D-570E-912B-BF441A60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CC3DC-A251-BAA0-0B72-6E28C852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2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401F-7355-95DD-7E49-546E9E0F0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4341BF-CAB4-0B36-B194-17E15F7B9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107DE-7773-8470-6876-B635F1FB1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529B0-2337-9744-DE2E-7E074DC9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591E3-EF67-9512-18A4-F5EEC5AF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A66BF-E674-B537-20A1-1AE4B4C7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0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50C5-18E3-8815-BCC0-055629A0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ED8BD-D766-6DA0-6668-13D45D8B5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A09EA-9117-08FF-B5EB-A75C2B3A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E791E-6C89-3304-0846-D5EDAF72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2498-A18A-CE8E-FD68-91C2F762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5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D5393-A400-4041-D8BF-2D4B28A66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2F689-4499-EEBA-751A-670F5AE3E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1341F-6EF5-C457-CE15-B21BFDBF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7B882-4D3B-9FEA-012C-D76DC7C1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58A9E-42EC-1270-F702-6AE6616F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EA5A6-F3E8-D06F-AB86-18F9C6116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9C4D6-AB5B-7D09-0CEB-30C1838A0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0577B-150B-29B7-A700-4AF34B3DF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67934-6277-8541-95B7-3A0A8185D1B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17E23-D734-8210-9BB0-EEE8771FC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2248E-5983-CCB1-2099-E7A49E8B7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FFBCC-2E16-4041-AEDB-15CE84A20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3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haan2@uwo.c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2D26-DA10-6D88-1DCA-D7FFC57522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Labour</a:t>
            </a:r>
            <a:r>
              <a:rPr lang="en-US" dirty="0"/>
              <a:t> Data in Canada: the good, the bad, and the maybe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6B090-3A8D-1539-D6C2-58568B569B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Haan</a:t>
            </a:r>
          </a:p>
          <a:p>
            <a:r>
              <a:rPr lang="en-US" dirty="0"/>
              <a:t>Western University</a:t>
            </a:r>
          </a:p>
          <a:p>
            <a:r>
              <a:rPr lang="en-US" dirty="0">
                <a:hlinkClick r:id="rId2"/>
              </a:rPr>
              <a:t>mhaan2@uwo.ca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040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3C377-50B0-98C6-DA62-B0F63048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Good: The Interest in Data Development Remains Strong (too strong?)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4059-3838-E319-4EF1-AE358A57D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Several federal (IRCC, ESDC, etc.) and provincial departments remain heavily invested in providing data, funding development, and pushing for linkages.  </a:t>
            </a:r>
          </a:p>
          <a:p>
            <a:pPr lvl="1"/>
            <a:r>
              <a:rPr lang="en-US" dirty="0"/>
              <a:t>In 2024 alone, Statistics Canada approved more than 20 unique microdata linkages.  </a:t>
            </a:r>
          </a:p>
          <a:p>
            <a:r>
              <a:rPr lang="en-US" dirty="0"/>
              <a:t>Several linkages (BEAM, ELMLP) now include information on corporations. </a:t>
            </a:r>
          </a:p>
          <a:p>
            <a:pPr lvl="1"/>
            <a:r>
              <a:rPr lang="en-US" dirty="0"/>
              <a:t>It is possible to identify movement within and across firms. </a:t>
            </a:r>
          </a:p>
          <a:p>
            <a:r>
              <a:rPr lang="en-US" dirty="0"/>
              <a:t>Some linkages have become so extensive that they are now referred to as data ‘environments’. </a:t>
            </a:r>
          </a:p>
          <a:p>
            <a:pPr lvl="1"/>
            <a:r>
              <a:rPr lang="en-US" dirty="0"/>
              <a:t>Academic researchers have access to more data than ever.</a:t>
            </a:r>
          </a:p>
        </p:txBody>
      </p:sp>
    </p:spTree>
    <p:extLst>
      <p:ext uri="{BB962C8B-B14F-4D97-AF65-F5344CB8AC3E}">
        <p14:creationId xmlns:p14="http://schemas.microsoft.com/office/powerpoint/2010/main" val="344824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F0FAE-5CEE-20FB-FF7E-9AC489A181D3}"/>
              </a:ext>
            </a:extLst>
          </p:cNvPr>
          <p:cNvSpPr/>
          <p:nvPr/>
        </p:nvSpPr>
        <p:spPr>
          <a:xfrm>
            <a:off x="2318235" y="1519227"/>
            <a:ext cx="2252286" cy="3428637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FB8CF0B-48B5-AC6E-17E8-1A40CBC9140D}"/>
              </a:ext>
            </a:extLst>
          </p:cNvPr>
          <p:cNvSpPr/>
          <p:nvPr/>
        </p:nvSpPr>
        <p:spPr>
          <a:xfrm>
            <a:off x="4890879" y="1174324"/>
            <a:ext cx="1785266" cy="5143500"/>
          </a:xfrm>
          <a:prstGeom prst="cube">
            <a:avLst/>
          </a:prstGeom>
          <a:solidFill>
            <a:schemeClr val="accent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700" dirty="0">
                <a:solidFill>
                  <a:prstClr val="white"/>
                </a:solidFill>
                <a:latin typeface="Calibri" panose="020F0502020204030204"/>
              </a:rPr>
              <a:t>Longitudinal Immigration</a:t>
            </a:r>
          </a:p>
          <a:p>
            <a:pPr algn="ctr"/>
            <a:r>
              <a:rPr lang="en-CA" sz="1700" dirty="0">
                <a:solidFill>
                  <a:prstClr val="white"/>
                </a:solidFill>
                <a:latin typeface="Calibri" panose="020F0502020204030204"/>
              </a:rPr>
              <a:t>Statistical</a:t>
            </a:r>
          </a:p>
          <a:p>
            <a:pPr algn="ctr"/>
            <a:r>
              <a:rPr lang="en-CA" sz="1700" dirty="0">
                <a:solidFill>
                  <a:prstClr val="white"/>
                </a:solidFill>
                <a:latin typeface="Calibri" panose="020F0502020204030204"/>
              </a:rPr>
              <a:t>Environment</a:t>
            </a:r>
          </a:p>
          <a:p>
            <a:pPr algn="ctr"/>
            <a:endParaRPr lang="en-CA" sz="1700" dirty="0">
              <a:solidFill>
                <a:prstClr val="white"/>
              </a:solidFill>
              <a:latin typeface="Calibri" panose="020F0502020204030204"/>
            </a:endParaRPr>
          </a:p>
          <a:p>
            <a:pPr algn="ctr"/>
            <a:r>
              <a:rPr lang="en-CA" sz="1700" dirty="0">
                <a:solidFill>
                  <a:prstClr val="white"/>
                </a:solidFill>
                <a:latin typeface="Calibri" panose="020F0502020204030204"/>
              </a:rPr>
              <a:t>(LISE)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0AFF9-CF21-B8DB-5ECE-D59D3BAF5628}"/>
              </a:ext>
            </a:extLst>
          </p:cNvPr>
          <p:cNvSpPr/>
          <p:nvPr/>
        </p:nvSpPr>
        <p:spPr>
          <a:xfrm>
            <a:off x="7026227" y="1174325"/>
            <a:ext cx="912359" cy="14345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prstClr val="white"/>
                </a:solidFill>
                <a:latin typeface="Calibri" panose="020F0502020204030204"/>
              </a:rPr>
              <a:t>Health </a:t>
            </a:r>
          </a:p>
          <a:p>
            <a:pPr algn="ctr"/>
            <a:r>
              <a:rPr lang="en-CA" sz="1200" dirty="0">
                <a:solidFill>
                  <a:prstClr val="white"/>
                </a:solidFill>
                <a:latin typeface="Calibri" panose="020F0502020204030204"/>
              </a:rPr>
              <a:t>Data</a:t>
            </a:r>
          </a:p>
        </p:txBody>
      </p:sp>
      <p:sp>
        <p:nvSpPr>
          <p:cNvPr id="10" name="Left Arrow 117">
            <a:extLst>
              <a:ext uri="{FF2B5EF4-FFF2-40B4-BE49-F238E27FC236}">
                <a16:creationId xmlns:a16="http://schemas.microsoft.com/office/drawing/2014/main" id="{378A2184-D20B-3908-AB34-03A30330FA53}"/>
              </a:ext>
            </a:extLst>
          </p:cNvPr>
          <p:cNvSpPr/>
          <p:nvPr/>
        </p:nvSpPr>
        <p:spPr>
          <a:xfrm>
            <a:off x="7826135" y="1293173"/>
            <a:ext cx="349469" cy="231243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Left Arrow 43">
            <a:extLst>
              <a:ext uri="{FF2B5EF4-FFF2-40B4-BE49-F238E27FC236}">
                <a16:creationId xmlns:a16="http://schemas.microsoft.com/office/drawing/2014/main" id="{F6F0E867-389F-2C40-2619-5BA567596CB9}"/>
              </a:ext>
            </a:extLst>
          </p:cNvPr>
          <p:cNvSpPr/>
          <p:nvPr/>
        </p:nvSpPr>
        <p:spPr>
          <a:xfrm>
            <a:off x="7826135" y="1765840"/>
            <a:ext cx="349469" cy="231243"/>
          </a:xfrm>
          <a:prstGeom prst="lef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Left Arrow 45">
            <a:extLst>
              <a:ext uri="{FF2B5EF4-FFF2-40B4-BE49-F238E27FC236}">
                <a16:creationId xmlns:a16="http://schemas.microsoft.com/office/drawing/2014/main" id="{38D77DFC-3A67-1480-8984-3544DE1F622D}"/>
              </a:ext>
            </a:extLst>
          </p:cNvPr>
          <p:cNvSpPr/>
          <p:nvPr/>
        </p:nvSpPr>
        <p:spPr>
          <a:xfrm>
            <a:off x="7826135" y="2222543"/>
            <a:ext cx="349469" cy="231243"/>
          </a:xfrm>
          <a:prstGeom prst="lef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FE77C-4FA0-ED0C-C959-CEA758A67648}"/>
              </a:ext>
            </a:extLst>
          </p:cNvPr>
          <p:cNvSpPr/>
          <p:nvPr/>
        </p:nvSpPr>
        <p:spPr>
          <a:xfrm>
            <a:off x="8161991" y="1174326"/>
            <a:ext cx="2005790" cy="47266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>
                <a:solidFill>
                  <a:prstClr val="white"/>
                </a:solidFill>
                <a:latin typeface="Calibri" panose="020F0502020204030204"/>
              </a:rPr>
              <a:t>Ontario Mental Health Reporting System (OMHRS)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31E1B-254D-7EB9-8BE5-3CC0BAC58A42}"/>
              </a:ext>
            </a:extLst>
          </p:cNvPr>
          <p:cNvSpPr/>
          <p:nvPr/>
        </p:nvSpPr>
        <p:spPr>
          <a:xfrm>
            <a:off x="8157576" y="1646993"/>
            <a:ext cx="2013125" cy="47266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>
                <a:solidFill>
                  <a:prstClr val="white"/>
                </a:solidFill>
                <a:latin typeface="Calibri" panose="020F0502020204030204"/>
              </a:rPr>
              <a:t>National Ambulatory Care Reporting System (NACRS)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DB7019-EAC2-CE71-8C02-F6E860960CBE}"/>
              </a:ext>
            </a:extLst>
          </p:cNvPr>
          <p:cNvSpPr/>
          <p:nvPr/>
        </p:nvSpPr>
        <p:spPr>
          <a:xfrm>
            <a:off x="8161176" y="2117796"/>
            <a:ext cx="2006606" cy="472667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>
                <a:solidFill>
                  <a:prstClr val="white"/>
                </a:solidFill>
                <a:latin typeface="Calibri" panose="020F0502020204030204"/>
              </a:rPr>
              <a:t>Discharge Abstract Database</a:t>
            </a:r>
          </a:p>
          <a:p>
            <a:pPr algn="ctr"/>
            <a:r>
              <a:rPr lang="en-CA" sz="1100" dirty="0">
                <a:solidFill>
                  <a:prstClr val="white"/>
                </a:solidFill>
                <a:latin typeface="Calibri" panose="020F0502020204030204"/>
              </a:rPr>
              <a:t>(DAD)</a:t>
            </a:r>
          </a:p>
        </p:txBody>
      </p:sp>
      <p:sp>
        <p:nvSpPr>
          <p:cNvPr id="17" name="Left Arrow 46">
            <a:extLst>
              <a:ext uri="{FF2B5EF4-FFF2-40B4-BE49-F238E27FC236}">
                <a16:creationId xmlns:a16="http://schemas.microsoft.com/office/drawing/2014/main" id="{F5845B52-049C-0AD4-FFE6-3B2223B90D31}"/>
              </a:ext>
            </a:extLst>
          </p:cNvPr>
          <p:cNvSpPr/>
          <p:nvPr/>
        </p:nvSpPr>
        <p:spPr>
          <a:xfrm>
            <a:off x="6672344" y="1326664"/>
            <a:ext cx="349469" cy="231243"/>
          </a:xfrm>
          <a:prstGeom prst="lef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Left Arrow 47">
            <a:extLst>
              <a:ext uri="{FF2B5EF4-FFF2-40B4-BE49-F238E27FC236}">
                <a16:creationId xmlns:a16="http://schemas.microsoft.com/office/drawing/2014/main" id="{76178215-CDF6-F197-38CA-DFE8991BB4BF}"/>
              </a:ext>
            </a:extLst>
          </p:cNvPr>
          <p:cNvSpPr/>
          <p:nvPr/>
        </p:nvSpPr>
        <p:spPr>
          <a:xfrm>
            <a:off x="6672344" y="1799332"/>
            <a:ext cx="349469" cy="231243"/>
          </a:xfrm>
          <a:prstGeom prst="lef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Left Arrow 48">
            <a:extLst>
              <a:ext uri="{FF2B5EF4-FFF2-40B4-BE49-F238E27FC236}">
                <a16:creationId xmlns:a16="http://schemas.microsoft.com/office/drawing/2014/main" id="{A3FE7379-835F-BFFD-41C6-D2702DF9A64F}"/>
              </a:ext>
            </a:extLst>
          </p:cNvPr>
          <p:cNvSpPr/>
          <p:nvPr/>
        </p:nvSpPr>
        <p:spPr>
          <a:xfrm>
            <a:off x="6672344" y="2256034"/>
            <a:ext cx="349469" cy="231243"/>
          </a:xfrm>
          <a:prstGeom prst="lef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Left Arrow 49">
            <a:extLst>
              <a:ext uri="{FF2B5EF4-FFF2-40B4-BE49-F238E27FC236}">
                <a16:creationId xmlns:a16="http://schemas.microsoft.com/office/drawing/2014/main" id="{8AC01A85-1C02-144C-281E-6328A5846A5F}"/>
              </a:ext>
            </a:extLst>
          </p:cNvPr>
          <p:cNvSpPr/>
          <p:nvPr/>
        </p:nvSpPr>
        <p:spPr>
          <a:xfrm>
            <a:off x="6448936" y="1330746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Left Arrow 50">
            <a:extLst>
              <a:ext uri="{FF2B5EF4-FFF2-40B4-BE49-F238E27FC236}">
                <a16:creationId xmlns:a16="http://schemas.microsoft.com/office/drawing/2014/main" id="{D155595E-C7C6-ADAA-EBB1-337DBC453EFE}"/>
              </a:ext>
            </a:extLst>
          </p:cNvPr>
          <p:cNvSpPr/>
          <p:nvPr/>
        </p:nvSpPr>
        <p:spPr>
          <a:xfrm>
            <a:off x="6448936" y="1803413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Left Arrow 51">
            <a:extLst>
              <a:ext uri="{FF2B5EF4-FFF2-40B4-BE49-F238E27FC236}">
                <a16:creationId xmlns:a16="http://schemas.microsoft.com/office/drawing/2014/main" id="{B0127BD7-4251-956B-1DB6-40D4FFE9347E}"/>
              </a:ext>
            </a:extLst>
          </p:cNvPr>
          <p:cNvSpPr/>
          <p:nvPr/>
        </p:nvSpPr>
        <p:spPr>
          <a:xfrm>
            <a:off x="6448936" y="2260116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B748DC-3490-8594-727A-29D351A37824}"/>
              </a:ext>
            </a:extLst>
          </p:cNvPr>
          <p:cNvSpPr/>
          <p:nvPr/>
        </p:nvSpPr>
        <p:spPr>
          <a:xfrm>
            <a:off x="7026227" y="2692766"/>
            <a:ext cx="912359" cy="945335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prstClr val="white"/>
                </a:solidFill>
                <a:latin typeface="Calibri" panose="020F0502020204030204"/>
              </a:rPr>
              <a:t>Education </a:t>
            </a:r>
          </a:p>
          <a:p>
            <a:pPr algn="ctr"/>
            <a:r>
              <a:rPr lang="en-CA" sz="1200" dirty="0">
                <a:solidFill>
                  <a:prstClr val="white"/>
                </a:solidFill>
                <a:latin typeface="Calibri" panose="020F0502020204030204"/>
              </a:rPr>
              <a:t>Data</a:t>
            </a:r>
          </a:p>
        </p:txBody>
      </p:sp>
      <p:sp>
        <p:nvSpPr>
          <p:cNvPr id="30" name="Left Arrow 53">
            <a:extLst>
              <a:ext uri="{FF2B5EF4-FFF2-40B4-BE49-F238E27FC236}">
                <a16:creationId xmlns:a16="http://schemas.microsoft.com/office/drawing/2014/main" id="{83240488-4C20-7FFD-B0BC-1613226B59F3}"/>
              </a:ext>
            </a:extLst>
          </p:cNvPr>
          <p:cNvSpPr/>
          <p:nvPr/>
        </p:nvSpPr>
        <p:spPr>
          <a:xfrm>
            <a:off x="7826135" y="2811613"/>
            <a:ext cx="349469" cy="231243"/>
          </a:xfrm>
          <a:prstGeom prst="leftArrow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Left Arrow 54">
            <a:extLst>
              <a:ext uri="{FF2B5EF4-FFF2-40B4-BE49-F238E27FC236}">
                <a16:creationId xmlns:a16="http://schemas.microsoft.com/office/drawing/2014/main" id="{1785A383-145B-0051-35C5-A2C76D96B01F}"/>
              </a:ext>
            </a:extLst>
          </p:cNvPr>
          <p:cNvSpPr/>
          <p:nvPr/>
        </p:nvSpPr>
        <p:spPr>
          <a:xfrm>
            <a:off x="7826135" y="3284281"/>
            <a:ext cx="349469" cy="231243"/>
          </a:xfrm>
          <a:prstGeom prst="lef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638D0F-BFA5-F77A-D5F2-29D5A114AE78}"/>
              </a:ext>
            </a:extLst>
          </p:cNvPr>
          <p:cNvSpPr/>
          <p:nvPr/>
        </p:nvSpPr>
        <p:spPr>
          <a:xfrm>
            <a:off x="8161990" y="2692766"/>
            <a:ext cx="2016725" cy="47266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>
                <a:solidFill>
                  <a:prstClr val="white"/>
                </a:solidFill>
                <a:latin typeface="Calibri" panose="020F0502020204030204"/>
              </a:rPr>
              <a:t>Registered Apprenticeship Information System (RAIS)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DBE0C4-71C2-4C29-C9BF-3565AA45DB6B}"/>
              </a:ext>
            </a:extLst>
          </p:cNvPr>
          <p:cNvSpPr/>
          <p:nvPr/>
        </p:nvSpPr>
        <p:spPr>
          <a:xfrm>
            <a:off x="8157577" y="3165433"/>
            <a:ext cx="2016724" cy="472667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>
                <a:solidFill>
                  <a:prstClr val="white"/>
                </a:solidFill>
                <a:latin typeface="Calibri" panose="020F0502020204030204"/>
              </a:rPr>
              <a:t>Post-Secondary Information System (PSIS)</a:t>
            </a:r>
          </a:p>
        </p:txBody>
      </p:sp>
      <p:sp>
        <p:nvSpPr>
          <p:cNvPr id="35" name="Left Arrow 59">
            <a:extLst>
              <a:ext uri="{FF2B5EF4-FFF2-40B4-BE49-F238E27FC236}">
                <a16:creationId xmlns:a16="http://schemas.microsoft.com/office/drawing/2014/main" id="{0F2074A3-DEDB-3E7A-FD93-C939F4820B01}"/>
              </a:ext>
            </a:extLst>
          </p:cNvPr>
          <p:cNvSpPr/>
          <p:nvPr/>
        </p:nvSpPr>
        <p:spPr>
          <a:xfrm>
            <a:off x="6672344" y="2845105"/>
            <a:ext cx="349469" cy="231243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Left Arrow 60">
            <a:extLst>
              <a:ext uri="{FF2B5EF4-FFF2-40B4-BE49-F238E27FC236}">
                <a16:creationId xmlns:a16="http://schemas.microsoft.com/office/drawing/2014/main" id="{AD0A4724-C6F5-AD64-1D71-FE180DCDE203}"/>
              </a:ext>
            </a:extLst>
          </p:cNvPr>
          <p:cNvSpPr/>
          <p:nvPr/>
        </p:nvSpPr>
        <p:spPr>
          <a:xfrm>
            <a:off x="6672344" y="3317772"/>
            <a:ext cx="349469" cy="231243"/>
          </a:xfrm>
          <a:prstGeom prst="lef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Left Arrow 62">
            <a:extLst>
              <a:ext uri="{FF2B5EF4-FFF2-40B4-BE49-F238E27FC236}">
                <a16:creationId xmlns:a16="http://schemas.microsoft.com/office/drawing/2014/main" id="{BDCD4965-7152-F92A-489A-CA7E774BFA91}"/>
              </a:ext>
            </a:extLst>
          </p:cNvPr>
          <p:cNvSpPr/>
          <p:nvPr/>
        </p:nvSpPr>
        <p:spPr>
          <a:xfrm>
            <a:off x="6448936" y="2849186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Left Arrow 63">
            <a:extLst>
              <a:ext uri="{FF2B5EF4-FFF2-40B4-BE49-F238E27FC236}">
                <a16:creationId xmlns:a16="http://schemas.microsoft.com/office/drawing/2014/main" id="{683619F3-7BA8-8C5F-8C89-485087305150}"/>
              </a:ext>
            </a:extLst>
          </p:cNvPr>
          <p:cNvSpPr/>
          <p:nvPr/>
        </p:nvSpPr>
        <p:spPr>
          <a:xfrm>
            <a:off x="6448936" y="3321853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C7B826-6364-79FD-461E-8B153D5614AB}"/>
              </a:ext>
            </a:extLst>
          </p:cNvPr>
          <p:cNvSpPr/>
          <p:nvPr/>
        </p:nvSpPr>
        <p:spPr>
          <a:xfrm>
            <a:off x="7026227" y="3732381"/>
            <a:ext cx="912359" cy="18906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prstClr val="white"/>
                </a:solidFill>
                <a:latin typeface="Calibri" panose="020F0502020204030204"/>
              </a:rPr>
              <a:t>2016 Census</a:t>
            </a:r>
          </a:p>
        </p:txBody>
      </p:sp>
      <p:sp>
        <p:nvSpPr>
          <p:cNvPr id="43" name="Left Arrow 70">
            <a:extLst>
              <a:ext uri="{FF2B5EF4-FFF2-40B4-BE49-F238E27FC236}">
                <a16:creationId xmlns:a16="http://schemas.microsoft.com/office/drawing/2014/main" id="{6BC6D8B9-766A-876B-48BC-5D32C234E45D}"/>
              </a:ext>
            </a:extLst>
          </p:cNvPr>
          <p:cNvSpPr/>
          <p:nvPr/>
        </p:nvSpPr>
        <p:spPr>
          <a:xfrm>
            <a:off x="6672344" y="3884721"/>
            <a:ext cx="349469" cy="231243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Left Arrow 77">
            <a:extLst>
              <a:ext uri="{FF2B5EF4-FFF2-40B4-BE49-F238E27FC236}">
                <a16:creationId xmlns:a16="http://schemas.microsoft.com/office/drawing/2014/main" id="{F04B0987-60D6-7524-15AF-D4C9B6100272}"/>
              </a:ext>
            </a:extLst>
          </p:cNvPr>
          <p:cNvSpPr/>
          <p:nvPr/>
        </p:nvSpPr>
        <p:spPr>
          <a:xfrm>
            <a:off x="6672344" y="4357388"/>
            <a:ext cx="349469" cy="231243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Left Arrow 78">
            <a:extLst>
              <a:ext uri="{FF2B5EF4-FFF2-40B4-BE49-F238E27FC236}">
                <a16:creationId xmlns:a16="http://schemas.microsoft.com/office/drawing/2014/main" id="{1CBF99D5-078E-285E-2D02-3D3160C2DEB5}"/>
              </a:ext>
            </a:extLst>
          </p:cNvPr>
          <p:cNvSpPr/>
          <p:nvPr/>
        </p:nvSpPr>
        <p:spPr>
          <a:xfrm>
            <a:off x="6448936" y="3888802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Left Arrow 79">
            <a:extLst>
              <a:ext uri="{FF2B5EF4-FFF2-40B4-BE49-F238E27FC236}">
                <a16:creationId xmlns:a16="http://schemas.microsoft.com/office/drawing/2014/main" id="{060807B5-B196-0A81-35B9-DF58646C544E}"/>
              </a:ext>
            </a:extLst>
          </p:cNvPr>
          <p:cNvSpPr/>
          <p:nvPr/>
        </p:nvSpPr>
        <p:spPr>
          <a:xfrm>
            <a:off x="6448936" y="4361470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Left Arrow 95">
            <a:extLst>
              <a:ext uri="{FF2B5EF4-FFF2-40B4-BE49-F238E27FC236}">
                <a16:creationId xmlns:a16="http://schemas.microsoft.com/office/drawing/2014/main" id="{0E475B5B-B521-1312-47ED-9677DAD458B2}"/>
              </a:ext>
            </a:extLst>
          </p:cNvPr>
          <p:cNvSpPr/>
          <p:nvPr/>
        </p:nvSpPr>
        <p:spPr>
          <a:xfrm>
            <a:off x="6667929" y="4830055"/>
            <a:ext cx="349469" cy="231243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Left Arrow 101">
            <a:extLst>
              <a:ext uri="{FF2B5EF4-FFF2-40B4-BE49-F238E27FC236}">
                <a16:creationId xmlns:a16="http://schemas.microsoft.com/office/drawing/2014/main" id="{8640A179-7D6A-5F67-FA28-114D31EC5030}"/>
              </a:ext>
            </a:extLst>
          </p:cNvPr>
          <p:cNvSpPr/>
          <p:nvPr/>
        </p:nvSpPr>
        <p:spPr>
          <a:xfrm>
            <a:off x="6667929" y="5302722"/>
            <a:ext cx="349469" cy="231243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Left Arrow 102">
            <a:extLst>
              <a:ext uri="{FF2B5EF4-FFF2-40B4-BE49-F238E27FC236}">
                <a16:creationId xmlns:a16="http://schemas.microsoft.com/office/drawing/2014/main" id="{1327FDC2-34D4-FB2D-C2ED-9A558DDAB0A2}"/>
              </a:ext>
            </a:extLst>
          </p:cNvPr>
          <p:cNvSpPr/>
          <p:nvPr/>
        </p:nvSpPr>
        <p:spPr>
          <a:xfrm>
            <a:off x="6444522" y="4834136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Left Arrow 103">
            <a:extLst>
              <a:ext uri="{FF2B5EF4-FFF2-40B4-BE49-F238E27FC236}">
                <a16:creationId xmlns:a16="http://schemas.microsoft.com/office/drawing/2014/main" id="{4C7DEC41-33FF-F428-694E-1CF0B077F97D}"/>
              </a:ext>
            </a:extLst>
          </p:cNvPr>
          <p:cNvSpPr/>
          <p:nvPr/>
        </p:nvSpPr>
        <p:spPr>
          <a:xfrm>
            <a:off x="6444522" y="5306803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7768E9F-F1E8-4029-A97A-23BD2FD588AE}"/>
              </a:ext>
            </a:extLst>
          </p:cNvPr>
          <p:cNvGrpSpPr/>
          <p:nvPr/>
        </p:nvGrpSpPr>
        <p:grpSpPr>
          <a:xfrm>
            <a:off x="2326264" y="1516341"/>
            <a:ext cx="1008872" cy="3428637"/>
            <a:chOff x="619125" y="934066"/>
            <a:chExt cx="1915360" cy="502428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556E4C2-838E-C6FB-D364-D1FA6EE42E29}"/>
                </a:ext>
              </a:extLst>
            </p:cNvPr>
            <p:cNvSpPr/>
            <p:nvPr/>
          </p:nvSpPr>
          <p:spPr>
            <a:xfrm>
              <a:off x="629485" y="1633442"/>
              <a:ext cx="1905000" cy="525035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prstClr val="black"/>
                  </a:solidFill>
                  <a:latin typeface="Calibri" panose="020F0502020204030204"/>
                </a:rPr>
                <a:t>Annual personal tax data 1982-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B952504-74EF-0D0D-814E-A79B2A439211}"/>
                </a:ext>
              </a:extLst>
            </p:cNvPr>
            <p:cNvSpPr/>
            <p:nvPr/>
          </p:nvSpPr>
          <p:spPr>
            <a:xfrm>
              <a:off x="619125" y="934066"/>
              <a:ext cx="1905000" cy="5024282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</a:endParaRPr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C2C14F7A-10D5-99B8-A74B-33059706AF2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37207" y="2398484"/>
            <a:ext cx="992501" cy="741750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T1FF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65558D3-2D48-7BD7-D170-B865EEEB69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37207" y="2963387"/>
            <a:ext cx="992501" cy="741750"/>
          </a:xfrm>
          <a:prstGeom prst="ellipse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" rIns="2025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Tax files (e.g. T4)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4060ED2-2197-BAA2-ED16-43B209571E7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7207" y="3500087"/>
            <a:ext cx="992501" cy="741750"/>
          </a:xfrm>
          <a:prstGeom prst="ellipse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500" rIns="40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Records for children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D744A7C-8FA9-D163-71E3-41B6ACE6D17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37207" y="4076192"/>
            <a:ext cx="992501" cy="741750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Mortality records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401E919-CFEE-49CF-A2D4-785A7F25A44F}"/>
              </a:ext>
            </a:extLst>
          </p:cNvPr>
          <p:cNvCxnSpPr>
            <a:cxnSpLocks/>
          </p:cNvCxnSpPr>
          <p:nvPr/>
        </p:nvCxnSpPr>
        <p:spPr>
          <a:xfrm flipV="1">
            <a:off x="3314097" y="3534631"/>
            <a:ext cx="237628" cy="81"/>
          </a:xfrm>
          <a:prstGeom prst="line">
            <a:avLst/>
          </a:prstGeom>
          <a:ln>
            <a:solidFill>
              <a:srgbClr val="9999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AC78565-DD84-BC8E-8170-25ECC88AF86A}"/>
              </a:ext>
            </a:extLst>
          </p:cNvPr>
          <p:cNvGrpSpPr/>
          <p:nvPr/>
        </p:nvGrpSpPr>
        <p:grpSpPr>
          <a:xfrm>
            <a:off x="3560443" y="1516341"/>
            <a:ext cx="1010078" cy="3428637"/>
            <a:chOff x="619125" y="934066"/>
            <a:chExt cx="1905000" cy="502428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FB7D1B8-9C2A-3B97-E4FF-E4B6FC6B7728}"/>
                </a:ext>
              </a:extLst>
            </p:cNvPr>
            <p:cNvSpPr/>
            <p:nvPr/>
          </p:nvSpPr>
          <p:spPr>
            <a:xfrm>
              <a:off x="619125" y="1642707"/>
              <a:ext cx="1905000" cy="525036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900" dirty="0">
                  <a:solidFill>
                    <a:prstClr val="black"/>
                  </a:solidFill>
                  <a:latin typeface="Calibri" panose="020F0502020204030204"/>
                </a:rPr>
                <a:t>Longitudinal immigration admin. file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BE5CA9E-AACD-EE2A-8C33-A59337FABA3A}"/>
                </a:ext>
              </a:extLst>
            </p:cNvPr>
            <p:cNvSpPr/>
            <p:nvPr/>
          </p:nvSpPr>
          <p:spPr>
            <a:xfrm>
              <a:off x="619125" y="934066"/>
              <a:ext cx="1905000" cy="5024282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</a:endParaRP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30609E66-0608-2D7D-CD97-7F0B8FF2506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60911" y="2385440"/>
            <a:ext cx="1002516" cy="741750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Immigration  data 1952-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D91DBCE-84C3-CDD3-B099-07156F731C5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57095" y="2936393"/>
            <a:ext cx="1002516" cy="741750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Temporary resident permits 1980-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0AF2DC9-EEBF-8C56-C342-A755D492780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560911" y="3487523"/>
            <a:ext cx="1002516" cy="741750"/>
          </a:xfrm>
          <a:prstGeom prst="ellipse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Citizenship records 2005-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A622AA7-9941-3CEA-914F-2BD86C2D88C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560246" y="4063148"/>
            <a:ext cx="1002516" cy="741750"/>
          </a:xfrm>
          <a:prstGeom prst="ellipse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Settlement Services Data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C1075A9-E42E-1BB0-BD38-0EA572197B4E}"/>
              </a:ext>
            </a:extLst>
          </p:cNvPr>
          <p:cNvSpPr/>
          <p:nvPr/>
        </p:nvSpPr>
        <p:spPr>
          <a:xfrm>
            <a:off x="2319403" y="1521687"/>
            <a:ext cx="2251120" cy="4779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Longitudinal Immigration Database (IMDB)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97435B6-2AC1-4C60-888D-D3C6D9C1CF86}"/>
              </a:ext>
            </a:extLst>
          </p:cNvPr>
          <p:cNvSpPr/>
          <p:nvPr/>
        </p:nvSpPr>
        <p:spPr>
          <a:xfrm>
            <a:off x="2326263" y="5053412"/>
            <a:ext cx="2252503" cy="9116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Longitudinal Administrative Databank (LAD)</a:t>
            </a:r>
          </a:p>
        </p:txBody>
      </p:sp>
      <p:sp>
        <p:nvSpPr>
          <p:cNvPr id="68" name="Left Arrow 163">
            <a:extLst>
              <a:ext uri="{FF2B5EF4-FFF2-40B4-BE49-F238E27FC236}">
                <a16:creationId xmlns:a16="http://schemas.microsoft.com/office/drawing/2014/main" id="{8CD53D1E-B3EC-F8AE-B9C8-C41E915B6171}"/>
              </a:ext>
            </a:extLst>
          </p:cNvPr>
          <p:cNvSpPr/>
          <p:nvPr/>
        </p:nvSpPr>
        <p:spPr>
          <a:xfrm rot="10800000">
            <a:off x="4882636" y="1653796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9" name="Left Arrow 164">
            <a:extLst>
              <a:ext uri="{FF2B5EF4-FFF2-40B4-BE49-F238E27FC236}">
                <a16:creationId xmlns:a16="http://schemas.microsoft.com/office/drawing/2014/main" id="{AE68E6B9-8438-7068-9AF6-EAEF64A99953}"/>
              </a:ext>
            </a:extLst>
          </p:cNvPr>
          <p:cNvSpPr/>
          <p:nvPr/>
        </p:nvSpPr>
        <p:spPr>
          <a:xfrm rot="10800000">
            <a:off x="4883865" y="5383486"/>
            <a:ext cx="218083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Left Arrow 165">
            <a:extLst>
              <a:ext uri="{FF2B5EF4-FFF2-40B4-BE49-F238E27FC236}">
                <a16:creationId xmlns:a16="http://schemas.microsoft.com/office/drawing/2014/main" id="{E50ECCF8-EAAF-8158-D6A3-9EB6B4DA3A70}"/>
              </a:ext>
            </a:extLst>
          </p:cNvPr>
          <p:cNvSpPr/>
          <p:nvPr/>
        </p:nvSpPr>
        <p:spPr>
          <a:xfrm rot="10800000">
            <a:off x="4570352" y="5383486"/>
            <a:ext cx="308725" cy="231243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Left Arrow 166">
            <a:extLst>
              <a:ext uri="{FF2B5EF4-FFF2-40B4-BE49-F238E27FC236}">
                <a16:creationId xmlns:a16="http://schemas.microsoft.com/office/drawing/2014/main" id="{C7AA2935-0DA3-CBB3-286B-5062DCAD35F7}"/>
              </a:ext>
            </a:extLst>
          </p:cNvPr>
          <p:cNvSpPr/>
          <p:nvPr/>
        </p:nvSpPr>
        <p:spPr>
          <a:xfrm rot="10800000">
            <a:off x="4578239" y="1650219"/>
            <a:ext cx="300836" cy="231243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2" name="Left Arrow 167">
            <a:extLst>
              <a:ext uri="{FF2B5EF4-FFF2-40B4-BE49-F238E27FC236}">
                <a16:creationId xmlns:a16="http://schemas.microsoft.com/office/drawing/2014/main" id="{F0AB9C7C-3D0C-F226-15BB-43A77187D9F7}"/>
              </a:ext>
            </a:extLst>
          </p:cNvPr>
          <p:cNvSpPr/>
          <p:nvPr/>
        </p:nvSpPr>
        <p:spPr>
          <a:xfrm rot="2284016">
            <a:off x="6590903" y="5928011"/>
            <a:ext cx="349469" cy="23124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D3829FF-F4FC-40D9-ECDA-DEE14BBAEB81}"/>
              </a:ext>
            </a:extLst>
          </p:cNvPr>
          <p:cNvSpPr/>
          <p:nvPr/>
        </p:nvSpPr>
        <p:spPr>
          <a:xfrm>
            <a:off x="6842663" y="5822862"/>
            <a:ext cx="1463448" cy="4726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900" dirty="0">
                <a:solidFill>
                  <a:prstClr val="black"/>
                </a:solidFill>
                <a:latin typeface="Calibri" panose="020F0502020204030204"/>
              </a:rPr>
              <a:t>Future Linkages</a:t>
            </a:r>
          </a:p>
        </p:txBody>
      </p:sp>
      <p:sp>
        <p:nvSpPr>
          <p:cNvPr id="74" name="Left Arrow 169">
            <a:extLst>
              <a:ext uri="{FF2B5EF4-FFF2-40B4-BE49-F238E27FC236}">
                <a16:creationId xmlns:a16="http://schemas.microsoft.com/office/drawing/2014/main" id="{766A8B78-95D4-A7CA-8AD7-19F05C85ECD0}"/>
              </a:ext>
            </a:extLst>
          </p:cNvPr>
          <p:cNvSpPr/>
          <p:nvPr/>
        </p:nvSpPr>
        <p:spPr>
          <a:xfrm rot="2707333">
            <a:off x="6449240" y="5728686"/>
            <a:ext cx="215689" cy="23124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5" name="Title 1">
            <a:extLst>
              <a:ext uri="{FF2B5EF4-FFF2-40B4-BE49-F238E27FC236}">
                <a16:creationId xmlns:a16="http://schemas.microsoft.com/office/drawing/2014/main" id="{4A84EC2E-1983-277E-F85D-30BC21B01822}"/>
              </a:ext>
            </a:extLst>
          </p:cNvPr>
          <p:cNvSpPr txBox="1">
            <a:spLocks/>
          </p:cNvSpPr>
          <p:nvPr/>
        </p:nvSpPr>
        <p:spPr>
          <a:xfrm>
            <a:off x="1968968" y="433228"/>
            <a:ext cx="7886700" cy="895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>
                <a:solidFill>
                  <a:prstClr val="black"/>
                </a:solidFill>
                <a:latin typeface="Arial MT Std" panose="020B0402020200020204"/>
              </a:rPr>
              <a:t>Overview of the LISE</a:t>
            </a:r>
          </a:p>
        </p:txBody>
      </p:sp>
    </p:spTree>
    <p:extLst>
      <p:ext uri="{BB962C8B-B14F-4D97-AF65-F5344CB8AC3E}">
        <p14:creationId xmlns:p14="http://schemas.microsoft.com/office/powerpoint/2010/main" val="50655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E435-3486-24C8-4870-2463A12E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Bad: Data are ‘half-developed’ with several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7FA84-0491-BF94-AD00-FD3C01D7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Documentation is scarce </a:t>
            </a:r>
          </a:p>
          <a:p>
            <a:r>
              <a:rPr lang="en-US" dirty="0"/>
              <a:t>It is difficult to know if these data are being adequately used</a:t>
            </a:r>
          </a:p>
          <a:p>
            <a:pPr lvl="1"/>
            <a:r>
              <a:rPr lang="en-US" dirty="0"/>
              <a:t>There were 5 teams using </a:t>
            </a:r>
            <a:r>
              <a:rPr lang="en-US" dirty="0" err="1"/>
              <a:t>iCARE</a:t>
            </a:r>
            <a:r>
              <a:rPr lang="en-US" dirty="0"/>
              <a:t>-IMDB in July 2024. </a:t>
            </a:r>
          </a:p>
          <a:p>
            <a:r>
              <a:rPr lang="en-US" dirty="0"/>
              <a:t>All of the files are several years old.   </a:t>
            </a:r>
          </a:p>
          <a:p>
            <a:pPr lvl="1"/>
            <a:r>
              <a:rPr lang="en-US" dirty="0"/>
              <a:t>For IMDB, T4s run to 2023; T1FF is 2022. </a:t>
            </a:r>
          </a:p>
          <a:p>
            <a:pPr lvl="1"/>
            <a:r>
              <a:rPr lang="en-US" dirty="0"/>
              <a:t>Our most recent population count is from 2021 (!).  </a:t>
            </a:r>
          </a:p>
          <a:p>
            <a:r>
              <a:rPr lang="en-US" dirty="0"/>
              <a:t>Many new files contain incomplete and missing data. </a:t>
            </a:r>
          </a:p>
          <a:p>
            <a:r>
              <a:rPr lang="en-US" dirty="0"/>
              <a:t>Gaps remain around vacancies, appropriate employment,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7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3ADA-2E42-45FA-8D92-CB449E10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 err="1"/>
              <a:t>CanCHEC</a:t>
            </a:r>
            <a:r>
              <a:rPr lang="en-US" dirty="0"/>
              <a:t> 2021</a:t>
            </a:r>
          </a:p>
        </p:txBody>
      </p:sp>
      <p:pic>
        <p:nvPicPr>
          <p:cNvPr id="5" name="Content Placeholder 4" descr="A diagram of a data flow&#10;&#10;AI-generated content may be incorrect.">
            <a:extLst>
              <a:ext uri="{FF2B5EF4-FFF2-40B4-BE49-F238E27FC236}">
                <a16:creationId xmlns:a16="http://schemas.microsoft.com/office/drawing/2014/main" id="{1722ED4E-49CD-4416-0AA9-D6592652A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645" y="1556657"/>
            <a:ext cx="10411155" cy="4938820"/>
          </a:xfrm>
        </p:spPr>
      </p:pic>
    </p:spTree>
    <p:extLst>
      <p:ext uri="{BB962C8B-B14F-4D97-AF65-F5344CB8AC3E}">
        <p14:creationId xmlns:p14="http://schemas.microsoft.com/office/powerpoint/2010/main" val="1071901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251B-E968-D7BE-1F18-FEFEC5A14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ELMLP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22CB1F-A997-80E0-97BC-BB5485C8F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965" y="1417895"/>
            <a:ext cx="6629400" cy="5087680"/>
          </a:xfrm>
        </p:spPr>
      </p:pic>
    </p:spTree>
    <p:extLst>
      <p:ext uri="{BB962C8B-B14F-4D97-AF65-F5344CB8AC3E}">
        <p14:creationId xmlns:p14="http://schemas.microsoft.com/office/powerpoint/2010/main" val="225221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3A99-2D8E-5DC8-034B-8BAA4537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Maybe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78327-BC9A-5257-24D5-2F4BDD9D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non-traditional data to fill gaps.</a:t>
            </a:r>
          </a:p>
          <a:p>
            <a:pPr lvl="1"/>
            <a:r>
              <a:rPr lang="en-US" dirty="0"/>
              <a:t>Our most current population count is from 2021 (!)</a:t>
            </a:r>
          </a:p>
          <a:p>
            <a:pPr lvl="1"/>
            <a:r>
              <a:rPr lang="en-US" dirty="0"/>
              <a:t>International researchers are using social media, mobile phone data to estimate where populations are. </a:t>
            </a:r>
          </a:p>
          <a:p>
            <a:r>
              <a:rPr lang="en-US" dirty="0"/>
              <a:t>More training and synthetic data to help researchers </a:t>
            </a:r>
            <a:r>
              <a:rPr lang="en-US" i="1" dirty="0"/>
              <a:t>before</a:t>
            </a:r>
            <a:r>
              <a:rPr lang="en-US" dirty="0"/>
              <a:t> they enter the RDC.</a:t>
            </a:r>
          </a:p>
          <a:p>
            <a:r>
              <a:rPr lang="en-US" dirty="0"/>
              <a:t>User support groups for complex linkages. </a:t>
            </a:r>
          </a:p>
          <a:p>
            <a:pPr lvl="1"/>
            <a:r>
              <a:rPr lang="en-US" dirty="0"/>
              <a:t>This helps data users and providers alike (</a:t>
            </a:r>
            <a:r>
              <a:rPr lang="en-US" dirty="0" err="1"/>
              <a:t>iCARE</a:t>
            </a:r>
            <a:r>
              <a:rPr lang="en-US" dirty="0"/>
              <a:t>-IMDB).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4437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596E6-8F89-481E-024D-17F4D752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Shifting Labour Market </a:t>
            </a:r>
          </a:p>
        </p:txBody>
      </p:sp>
      <p:pic>
        <p:nvPicPr>
          <p:cNvPr id="5" name="Content Placeholder 4" descr="A graph of employment and employment&#10;&#10;AI-generated content may be incorrect.">
            <a:extLst>
              <a:ext uri="{FF2B5EF4-FFF2-40B4-BE49-F238E27FC236}">
                <a16:creationId xmlns:a16="http://schemas.microsoft.com/office/drawing/2014/main" id="{ECC9D655-6ECB-CAB3-4ACA-D2D517B2C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8071" y="467208"/>
            <a:ext cx="667446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611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COLOR" val="{&quot;FillColor&quot;:{&quot;ColorIndex&quot;:1,&quot;ColorModifier&quot;:0,&quot;BrightnessModifier&quot;:0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5661</TotalTime>
  <Words>518</Words>
  <Application>Microsoft Macintosh PowerPoint</Application>
  <PresentationFormat>Widescreen</PresentationFormat>
  <Paragraphs>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MT Std</vt:lpstr>
      <vt:lpstr>Calibri</vt:lpstr>
      <vt:lpstr>Office Theme</vt:lpstr>
      <vt:lpstr>Labour Data in Canada: the good, the bad, and the maybe</vt:lpstr>
      <vt:lpstr>The Good: The Interest in Data Development Remains Strong (too strong?)</vt:lpstr>
      <vt:lpstr>PowerPoint Presentation</vt:lpstr>
      <vt:lpstr>The Bad: Data are ‘half-developed’ with several gaps</vt:lpstr>
      <vt:lpstr>Example 1: CanCHEC 2021</vt:lpstr>
      <vt:lpstr>Example 2: ELMLP</vt:lpstr>
      <vt:lpstr>The Maybe</vt:lpstr>
      <vt:lpstr>A Shifting Labour Market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Haan</dc:creator>
  <cp:lastModifiedBy>Michael Haan</cp:lastModifiedBy>
  <cp:revision>9</cp:revision>
  <dcterms:created xsi:type="dcterms:W3CDTF">2025-10-23T21:48:42Z</dcterms:created>
  <dcterms:modified xsi:type="dcterms:W3CDTF">2025-10-28T12:11:40Z</dcterms:modified>
</cp:coreProperties>
</file>