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48" r:id="rId5"/>
    <p:sldMasterId id="2147483677" r:id="rId6"/>
  </p:sldMasterIdLst>
  <p:notesMasterIdLst>
    <p:notesMasterId r:id="rId29"/>
  </p:notesMasterIdLst>
  <p:sldIdLst>
    <p:sldId id="266" r:id="rId7"/>
    <p:sldId id="300" r:id="rId8"/>
    <p:sldId id="319" r:id="rId9"/>
    <p:sldId id="325" r:id="rId10"/>
    <p:sldId id="273" r:id="rId11"/>
    <p:sldId id="318" r:id="rId12"/>
    <p:sldId id="316" r:id="rId13"/>
    <p:sldId id="299" r:id="rId14"/>
    <p:sldId id="258" r:id="rId15"/>
    <p:sldId id="298" r:id="rId16"/>
    <p:sldId id="324" r:id="rId17"/>
    <p:sldId id="315" r:id="rId18"/>
    <p:sldId id="314" r:id="rId19"/>
    <p:sldId id="301" r:id="rId20"/>
    <p:sldId id="321" r:id="rId21"/>
    <p:sldId id="424" r:id="rId22"/>
    <p:sldId id="450" r:id="rId23"/>
    <p:sldId id="478" r:id="rId24"/>
    <p:sldId id="469" r:id="rId25"/>
    <p:sldId id="322" r:id="rId26"/>
    <p:sldId id="312" r:id="rId27"/>
    <p:sldId id="4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guide id="3" pos="16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AAF205-0B38-88D4-F037-209D0C61A4E2}" name="Grant Gibson" initials="GG" userId="S::grant.gibson@crdcn.ca::986fbb49-9b20-40cb-b792-7e1154e60928" providerId="AD"/>
  <p188:author id="{CCF6A472-A9E1-553A-076F-34CE813467FC}" name="Aimée Dubeau" initials="" userId="S::aimee.dubeau@crdcn.ca::36507897-0e00-4821-a6ca-cde950bccb41" providerId="AD"/>
  <p188:author id="{7A321EAA-CB0E-4758-CC72-AB6E5F122C6E}" name="Johanne Provençal" initials="JP" userId="S::johanne.provencal@crdcn.ca::91505ee1-49e7-4482-8c3c-80c96976f4a1" providerId="AD"/>
  <p188:author id="{922003CF-7758-7713-707D-B0B6E8B2B9B4}" name="Tess Hudson" initials="TH" userId="S::tess.hudson@crdcn.ca::9c726d75-65b4-46a9-92d0-bb94f222346d" providerId="AD"/>
  <p188:author id="{E642F1FB-A5DA-54A3-468F-A3411A6804D3}" name="Natalie Harrower" initials="NH" userId="S::natalie.harrower@crdcn.ca::e53cfc70-a269-4ad5-8da5-0483a3863770" providerId="AD"/>
  <p188:author id="{712DD5FE-E96C-25D8-7D6A-BB1AF1C2106D}" name="Michèle Anderson" initials="MA" userId="S::michele.anderson@crdcn.ca::2fbc88df-71dd-498a-af0a-517750797be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rant Gibson" initials="GG" lastIdx="1" clrIdx="0">
    <p:extLst>
      <p:ext uri="{19B8F6BF-5375-455C-9EA6-DF929625EA0E}">
        <p15:presenceInfo xmlns:p15="http://schemas.microsoft.com/office/powerpoint/2012/main" userId="S::grant.gibson@crdcn.ca::986fbb49-9b20-40cb-b792-7e1154e60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16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01"/>
    <p:restoredTop sz="78505"/>
  </p:normalViewPr>
  <p:slideViewPr>
    <p:cSldViewPr snapToGrid="0">
      <p:cViewPr varScale="1">
        <p:scale>
          <a:sx n="64" d="100"/>
          <a:sy n="64" d="100"/>
        </p:scale>
        <p:origin x="1387" y="72"/>
      </p:cViewPr>
      <p:guideLst>
        <p:guide orient="horz" pos="2160"/>
        <p:guide pos="3817"/>
        <p:guide pos="166"/>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commentAuthors" Target="commentAuthor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2866AB-5879-457F-8F72-7A0AF9BD56BB}" type="datetimeFigureOut">
              <a:rPr lang="en-CA" smtClean="0"/>
              <a:t>2025-09-22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77251-9BD6-4CF8-A9D4-2BC73CE29A4C}" type="slidenum">
              <a:rPr lang="en-CA" smtClean="0"/>
              <a:t>‹N°›</a:t>
            </a:fld>
            <a:endParaRPr lang="en-CA"/>
          </a:p>
        </p:txBody>
      </p:sp>
    </p:spTree>
    <p:extLst>
      <p:ext uri="{BB962C8B-B14F-4D97-AF65-F5344CB8AC3E}">
        <p14:creationId xmlns:p14="http://schemas.microsoft.com/office/powerpoint/2010/main" val="3977797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1</a:t>
            </a:fld>
            <a:endParaRPr lang="en-CA"/>
          </a:p>
        </p:txBody>
      </p:sp>
    </p:spTree>
    <p:extLst>
      <p:ext uri="{BB962C8B-B14F-4D97-AF65-F5344CB8AC3E}">
        <p14:creationId xmlns:p14="http://schemas.microsoft.com/office/powerpoint/2010/main" val="1820130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4</a:t>
            </a:fld>
            <a:endParaRPr lang="en-CA"/>
          </a:p>
        </p:txBody>
      </p:sp>
    </p:spTree>
    <p:extLst>
      <p:ext uri="{BB962C8B-B14F-4D97-AF65-F5344CB8AC3E}">
        <p14:creationId xmlns:p14="http://schemas.microsoft.com/office/powerpoint/2010/main" val="645937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5</a:t>
            </a:fld>
            <a:endParaRPr lang="en-CA"/>
          </a:p>
        </p:txBody>
      </p:sp>
    </p:spTree>
    <p:extLst>
      <p:ext uri="{BB962C8B-B14F-4D97-AF65-F5344CB8AC3E}">
        <p14:creationId xmlns:p14="http://schemas.microsoft.com/office/powerpoint/2010/main" val="1440412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6</a:t>
            </a:fld>
            <a:endParaRPr lang="en-CA"/>
          </a:p>
        </p:txBody>
      </p:sp>
    </p:spTree>
    <p:extLst>
      <p:ext uri="{BB962C8B-B14F-4D97-AF65-F5344CB8AC3E}">
        <p14:creationId xmlns:p14="http://schemas.microsoft.com/office/powerpoint/2010/main" val="3690037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11</a:t>
            </a:fld>
            <a:endParaRPr lang="en-CA"/>
          </a:p>
        </p:txBody>
      </p:sp>
    </p:spTree>
    <p:extLst>
      <p:ext uri="{BB962C8B-B14F-4D97-AF65-F5344CB8AC3E}">
        <p14:creationId xmlns:p14="http://schemas.microsoft.com/office/powerpoint/2010/main" val="3246494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18</a:t>
            </a:fld>
            <a:endParaRPr lang="en-CA"/>
          </a:p>
        </p:txBody>
      </p:sp>
    </p:spTree>
    <p:extLst>
      <p:ext uri="{BB962C8B-B14F-4D97-AF65-F5344CB8AC3E}">
        <p14:creationId xmlns:p14="http://schemas.microsoft.com/office/powerpoint/2010/main" val="1962336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20</a:t>
            </a:fld>
            <a:endParaRPr lang="en-CA"/>
          </a:p>
        </p:txBody>
      </p:sp>
    </p:spTree>
    <p:extLst>
      <p:ext uri="{BB962C8B-B14F-4D97-AF65-F5344CB8AC3E}">
        <p14:creationId xmlns:p14="http://schemas.microsoft.com/office/powerpoint/2010/main" val="3316483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C377251-9BD6-4CF8-A9D4-2BC73CE29A4C}" type="slidenum">
              <a:rPr lang="en-CA" smtClean="0"/>
              <a:t>21</a:t>
            </a:fld>
            <a:endParaRPr lang="en-CA"/>
          </a:p>
        </p:txBody>
      </p:sp>
    </p:spTree>
    <p:extLst>
      <p:ext uri="{BB962C8B-B14F-4D97-AF65-F5344CB8AC3E}">
        <p14:creationId xmlns:p14="http://schemas.microsoft.com/office/powerpoint/2010/main" val="1163055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CE62-7654-4FA9-92DF-193222C40A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A653328-5636-4F0A-8441-7ACFB843D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0AEBD94-1EE2-4454-957A-4C36A36527A8}"/>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5" name="Footer Placeholder 4">
            <a:extLst>
              <a:ext uri="{FF2B5EF4-FFF2-40B4-BE49-F238E27FC236}">
                <a16:creationId xmlns:a16="http://schemas.microsoft.com/office/drawing/2014/main" id="{3E2D8289-6461-4BA0-9B1F-C5C1C58A7DC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1267679-386C-4B2E-897D-71838D3D1787}"/>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2493307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75077-EF1A-49E2-9D8D-86529E7C425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231155-B833-4369-AE8C-04474791C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08FDD54-2DE7-48A4-89DB-BBF4AF845F4E}"/>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5" name="Footer Placeholder 4">
            <a:extLst>
              <a:ext uri="{FF2B5EF4-FFF2-40B4-BE49-F238E27FC236}">
                <a16:creationId xmlns:a16="http://schemas.microsoft.com/office/drawing/2014/main" id="{009AC975-601F-48A4-8E84-CC3FF18E998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F33274B-892C-447F-A95E-C9791C126486}"/>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359192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44AC4-6C74-4717-B34A-621F71FD144D}"/>
              </a:ext>
            </a:extLst>
          </p:cNvPr>
          <p:cNvSpPr>
            <a:spLocks noGrp="1"/>
          </p:cNvSpPr>
          <p:nvPr>
            <p:ph type="title"/>
          </p:nvPr>
        </p:nvSpPr>
        <p:spPr>
          <a:xfrm>
            <a:off x="831850" y="1106905"/>
            <a:ext cx="10515600" cy="985086"/>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B65A3E0-C3F7-4562-8B7B-3510980E2890}"/>
              </a:ext>
            </a:extLst>
          </p:cNvPr>
          <p:cNvSpPr>
            <a:spLocks noGrp="1"/>
          </p:cNvSpPr>
          <p:nvPr>
            <p:ph type="body" idx="1"/>
          </p:nvPr>
        </p:nvSpPr>
        <p:spPr>
          <a:xfrm>
            <a:off x="831850" y="209199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A25E8C-E350-4E58-BF07-6B2DE54AA327}"/>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5" name="Footer Placeholder 4">
            <a:extLst>
              <a:ext uri="{FF2B5EF4-FFF2-40B4-BE49-F238E27FC236}">
                <a16:creationId xmlns:a16="http://schemas.microsoft.com/office/drawing/2014/main" id="{7AF44346-2CEC-4AB0-8EEA-91B09DBB5FB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584B917-B538-4C76-979B-12B6F9152466}"/>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235625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227F-4BFE-409A-AD58-9EA971BB141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F483B76-CF75-4B7F-B162-B091BAF8B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04AEA79-B6E2-4346-B1C8-79B27EF12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8C064EF-7CB3-4CF0-BCFE-CC3F5D94EAED}"/>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6" name="Footer Placeholder 5">
            <a:extLst>
              <a:ext uri="{FF2B5EF4-FFF2-40B4-BE49-F238E27FC236}">
                <a16:creationId xmlns:a16="http://schemas.microsoft.com/office/drawing/2014/main" id="{143CB702-8805-4EEC-991A-3DAFE562740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1E5F35-B22B-4EAF-915D-199E3FDE9992}"/>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186466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771B-8CE4-4051-B9EE-51F0A1C9D4E2}"/>
              </a:ext>
            </a:extLst>
          </p:cNvPr>
          <p:cNvSpPr>
            <a:spLocks noGrp="1"/>
          </p:cNvSpPr>
          <p:nvPr>
            <p:ph type="title"/>
          </p:nvPr>
        </p:nvSpPr>
        <p:spPr>
          <a:xfrm>
            <a:off x="839788" y="1018674"/>
            <a:ext cx="10515600" cy="672014"/>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5825E40-0F6C-43E5-AB88-5377579F27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D0C5F-FE79-4417-8F74-AD961B71E2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6D924E8-5ADE-43EB-8156-C4906FB729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4BD93-7C02-4848-9CF9-76B51EC4F5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E496F153-7944-47CF-A8CC-A8ACE97903C7}"/>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8" name="Footer Placeholder 7">
            <a:extLst>
              <a:ext uri="{FF2B5EF4-FFF2-40B4-BE49-F238E27FC236}">
                <a16:creationId xmlns:a16="http://schemas.microsoft.com/office/drawing/2014/main" id="{68066F71-C986-4DF9-84FA-77E8FBBCCAE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9D7844D-B867-49BC-868D-E4D396B5B5E4}"/>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171792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88D2-9270-41AF-A3CC-CD22109A86F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0EF6A8A-447D-4CB2-9157-9B119EF9174E}"/>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4" name="Footer Placeholder 3">
            <a:extLst>
              <a:ext uri="{FF2B5EF4-FFF2-40B4-BE49-F238E27FC236}">
                <a16:creationId xmlns:a16="http://schemas.microsoft.com/office/drawing/2014/main" id="{59408110-DADE-4212-819F-DF2091C388A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0E5D60B-0F02-4BB1-BD08-6D70238234FF}"/>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21458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DD11A7-7C73-4B21-83D1-BBC267EB71B7}"/>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3" name="Footer Placeholder 2">
            <a:extLst>
              <a:ext uri="{FF2B5EF4-FFF2-40B4-BE49-F238E27FC236}">
                <a16:creationId xmlns:a16="http://schemas.microsoft.com/office/drawing/2014/main" id="{91DE8E9C-8C3B-4080-81A2-D317123F0CC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A7CCE25-F2DE-4547-8CBA-8D164A657F29}"/>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95954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8366-A0F8-4C97-B9D0-BBBE29E85D41}"/>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24D7DD2-4C4D-492C-A21B-C3A4C1124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C7C0719-CE2B-4C39-AC4A-2E70FCF5C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4A76B-4C72-4894-8BD3-5DC5334297A4}"/>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6" name="Footer Placeholder 5">
            <a:extLst>
              <a:ext uri="{FF2B5EF4-FFF2-40B4-BE49-F238E27FC236}">
                <a16:creationId xmlns:a16="http://schemas.microsoft.com/office/drawing/2014/main" id="{453CBA1D-B5AE-45CE-8C62-708E18ED1D5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C936D7E-2629-48B6-B98A-4C610119FEFE}"/>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1940462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56DD-85F7-40BF-AD6A-8CC45FA3EAF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54A83E46-FDC5-4F10-B724-AADFABB78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0CC63C5-C2ED-4F9A-B51E-5952CAC8F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2DEEC-BCC4-41DD-BD90-3938B822B24C}"/>
              </a:ext>
            </a:extLst>
          </p:cNvPr>
          <p:cNvSpPr>
            <a:spLocks noGrp="1"/>
          </p:cNvSpPr>
          <p:nvPr>
            <p:ph type="dt" sz="half" idx="10"/>
          </p:nvPr>
        </p:nvSpPr>
        <p:spPr/>
        <p:txBody>
          <a:bodyPr/>
          <a:lstStyle/>
          <a:p>
            <a:fld id="{17F47CE0-5509-430C-BE72-EA262CB2E4BD}" type="datetimeFigureOut">
              <a:rPr lang="en-CA" smtClean="0"/>
              <a:t>2025-09-22</a:t>
            </a:fld>
            <a:endParaRPr lang="en-CA"/>
          </a:p>
        </p:txBody>
      </p:sp>
      <p:sp>
        <p:nvSpPr>
          <p:cNvPr id="6" name="Footer Placeholder 5">
            <a:extLst>
              <a:ext uri="{FF2B5EF4-FFF2-40B4-BE49-F238E27FC236}">
                <a16:creationId xmlns:a16="http://schemas.microsoft.com/office/drawing/2014/main" id="{C1563AB1-9A4A-40F3-AFB2-7E9BC01B98C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C396D1-9308-4BD5-B554-054D4C13EA45}"/>
              </a:ext>
            </a:extLst>
          </p:cNvPr>
          <p:cNvSpPr>
            <a:spLocks noGrp="1"/>
          </p:cNvSpPr>
          <p:nvPr>
            <p:ph type="sldNum" sz="quarter" idx="12"/>
          </p:nvPr>
        </p:nvSpPr>
        <p:spPr/>
        <p:txBody>
          <a:bodyPr/>
          <a:lstStyle/>
          <a:p>
            <a:fld id="{115E7A3B-5097-470E-BF33-71AA6A02D719}" type="slidenum">
              <a:rPr lang="en-CA" smtClean="0"/>
              <a:t>‹N°›</a:t>
            </a:fld>
            <a:endParaRPr lang="en-CA"/>
          </a:p>
        </p:txBody>
      </p:sp>
    </p:spTree>
    <p:extLst>
      <p:ext uri="{BB962C8B-B14F-4D97-AF65-F5344CB8AC3E}">
        <p14:creationId xmlns:p14="http://schemas.microsoft.com/office/powerpoint/2010/main" val="1528104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545237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506279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309657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700"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00">
                <a:solidFill>
                  <a:schemeClr val="tx1">
                    <a:tint val="75000"/>
                  </a:schemeClr>
                </a:solidFill>
              </a:defRPr>
            </a:lvl1pPr>
            <a:lvl2pPr marL="304815" indent="0">
              <a:buNone/>
              <a:defRPr sz="1200">
                <a:solidFill>
                  <a:schemeClr val="tx1">
                    <a:tint val="75000"/>
                  </a:schemeClr>
                </a:solidFill>
              </a:defRPr>
            </a:lvl2pPr>
            <a:lvl3pPr marL="609630" indent="0">
              <a:buNone/>
              <a:defRPr sz="1100">
                <a:solidFill>
                  <a:schemeClr val="tx1">
                    <a:tint val="75000"/>
                  </a:schemeClr>
                </a:solidFill>
              </a:defRPr>
            </a:lvl3pPr>
            <a:lvl4pPr marL="914446" indent="0">
              <a:buNone/>
              <a:defRPr sz="900">
                <a:solidFill>
                  <a:schemeClr val="tx1">
                    <a:tint val="75000"/>
                  </a:schemeClr>
                </a:solidFill>
              </a:defRPr>
            </a:lvl4pPr>
            <a:lvl5pPr marL="1219261" indent="0">
              <a:buNone/>
              <a:defRPr sz="900">
                <a:solidFill>
                  <a:schemeClr val="tx1">
                    <a:tint val="75000"/>
                  </a:schemeClr>
                </a:solidFill>
              </a:defRPr>
            </a:lvl5pPr>
            <a:lvl6pPr marL="1524076" indent="0">
              <a:buNone/>
              <a:defRPr sz="900">
                <a:solidFill>
                  <a:schemeClr val="tx1">
                    <a:tint val="75000"/>
                  </a:schemeClr>
                </a:solidFill>
              </a:defRPr>
            </a:lvl6pPr>
            <a:lvl7pPr marL="1828891" indent="0">
              <a:buNone/>
              <a:defRPr sz="900">
                <a:solidFill>
                  <a:schemeClr val="tx1">
                    <a:tint val="75000"/>
                  </a:schemeClr>
                </a:solidFill>
              </a:defRPr>
            </a:lvl7pPr>
            <a:lvl8pPr marL="2133707" indent="0">
              <a:buNone/>
              <a:defRPr sz="900">
                <a:solidFill>
                  <a:schemeClr val="tx1">
                    <a:tint val="75000"/>
                  </a:schemeClr>
                </a:solidFill>
              </a:defRPr>
            </a:lvl8pPr>
            <a:lvl9pPr marL="2438522" indent="0">
              <a:buNone/>
              <a:defRPr sz="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15323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89898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00"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00"/>
            </a:lvl1pPr>
            <a:lvl2pPr>
              <a:defRPr sz="1900"/>
            </a:lvl2pPr>
            <a:lvl3pPr>
              <a:defRPr sz="16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00"/>
            </a:lvl1pPr>
            <a:lvl2pPr marL="304815" indent="0">
              <a:buNone/>
              <a:defRPr sz="1900"/>
            </a:lvl2pPr>
            <a:lvl3pPr marL="609630" indent="0">
              <a:buNone/>
              <a:defRPr sz="1600"/>
            </a:lvl3pPr>
            <a:lvl4pPr marL="914446" indent="0">
              <a:buNone/>
              <a:defRPr sz="1300"/>
            </a:lvl4pPr>
            <a:lvl5pPr marL="1219261" indent="0">
              <a:buNone/>
              <a:defRPr sz="1300"/>
            </a:lvl5pPr>
            <a:lvl6pPr marL="1524076" indent="0">
              <a:buNone/>
              <a:defRPr sz="1300"/>
            </a:lvl6pPr>
            <a:lvl7pPr marL="1828891" indent="0">
              <a:buNone/>
              <a:defRPr sz="1300"/>
            </a:lvl7pPr>
            <a:lvl8pPr marL="2133707" indent="0">
              <a:buNone/>
              <a:defRPr sz="1300"/>
            </a:lvl8pPr>
            <a:lvl9pPr marL="2438522" indent="0">
              <a:buNone/>
              <a:defRPr sz="1300"/>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apositive de titre">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39E7B1-3B11-7F03-76F5-A5809037206B}"/>
              </a:ext>
            </a:extLst>
          </p:cNvPr>
          <p:cNvSpPr>
            <a:spLocks noGrp="1"/>
          </p:cNvSpPr>
          <p:nvPr>
            <p:ph type="ctrTitle"/>
          </p:nvPr>
        </p:nvSpPr>
        <p:spPr>
          <a:xfrm>
            <a:off x="5152570" y="1122363"/>
            <a:ext cx="5515429" cy="2387600"/>
          </a:xfrm>
        </p:spPr>
        <p:txBody>
          <a:bodyPr anchor="b"/>
          <a:lstStyle>
            <a:lvl1pPr algn="ctr">
              <a:defRPr sz="6000">
                <a:solidFill>
                  <a:schemeClr val="accent2"/>
                </a:solidFill>
                <a:latin typeface="+mn-lt"/>
              </a:defRPr>
            </a:lvl1pPr>
          </a:lstStyle>
          <a:p>
            <a:r>
              <a:rPr lang="fr-CA" dirty="0"/>
              <a:t>Modifier le style du titre</a:t>
            </a:r>
            <a:endParaRPr lang="fr-FR" dirty="0"/>
          </a:p>
        </p:txBody>
      </p:sp>
      <p:sp>
        <p:nvSpPr>
          <p:cNvPr id="3" name="Sous-titre 2">
            <a:extLst>
              <a:ext uri="{FF2B5EF4-FFF2-40B4-BE49-F238E27FC236}">
                <a16:creationId xmlns:a16="http://schemas.microsoft.com/office/drawing/2014/main" id="{AFB54929-DC2E-32B4-4405-3DEE8FB51ED1}"/>
              </a:ext>
            </a:extLst>
          </p:cNvPr>
          <p:cNvSpPr>
            <a:spLocks noGrp="1"/>
          </p:cNvSpPr>
          <p:nvPr>
            <p:ph type="subTitle" idx="1"/>
          </p:nvPr>
        </p:nvSpPr>
        <p:spPr>
          <a:xfrm>
            <a:off x="5152570" y="3602038"/>
            <a:ext cx="551542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CA" dirty="0"/>
              <a:t>Modifier le style des sous-titres du masque</a:t>
            </a:r>
            <a:endParaRPr lang="fr-FR" dirty="0"/>
          </a:p>
        </p:txBody>
      </p:sp>
      <p:sp>
        <p:nvSpPr>
          <p:cNvPr id="4" name="Espace réservé de la date 3">
            <a:extLst>
              <a:ext uri="{FF2B5EF4-FFF2-40B4-BE49-F238E27FC236}">
                <a16:creationId xmlns:a16="http://schemas.microsoft.com/office/drawing/2014/main" id="{1B7A2D55-A33F-0053-7B90-8243005D1785}"/>
              </a:ext>
            </a:extLst>
          </p:cNvPr>
          <p:cNvSpPr>
            <a:spLocks noGrp="1"/>
          </p:cNvSpPr>
          <p:nvPr>
            <p:ph type="dt" sz="half" idx="10"/>
          </p:nvPr>
        </p:nvSpPr>
        <p:spPr>
          <a:xfrm>
            <a:off x="4582884" y="6356350"/>
            <a:ext cx="2743200" cy="365125"/>
          </a:xfrm>
          <a:prstGeom prst="rect">
            <a:avLst/>
          </a:prstGeom>
        </p:spPr>
        <p:txBody>
          <a:bodyPr/>
          <a:lstStyle/>
          <a:p>
            <a:fld id="{3FB3015C-FAA4-D940-AF44-D90D279E8B79}" type="datetimeFigureOut">
              <a:rPr lang="fr-FR" smtClean="0"/>
              <a:t>22/09/2025</a:t>
            </a:fld>
            <a:endParaRPr lang="fr-FR"/>
          </a:p>
        </p:txBody>
      </p:sp>
      <p:sp>
        <p:nvSpPr>
          <p:cNvPr id="5" name="Espace réservé du pied de page 4">
            <a:extLst>
              <a:ext uri="{FF2B5EF4-FFF2-40B4-BE49-F238E27FC236}">
                <a16:creationId xmlns:a16="http://schemas.microsoft.com/office/drawing/2014/main" id="{8BBD794A-D161-A638-EF3B-F150F9028FDA}"/>
              </a:ext>
            </a:extLst>
          </p:cNvPr>
          <p:cNvSpPr>
            <a:spLocks noGrp="1"/>
          </p:cNvSpPr>
          <p:nvPr>
            <p:ph type="ftr" sz="quarter" idx="11"/>
          </p:nvPr>
        </p:nvSpPr>
        <p:spPr>
          <a:xfrm>
            <a:off x="6796312" y="6356350"/>
            <a:ext cx="4114800" cy="365125"/>
          </a:xfrm>
          <a:prstGeom prst="rect">
            <a:avLst/>
          </a:prstGeom>
        </p:spPr>
        <p:txBody>
          <a:bodyPr/>
          <a:lstStyle/>
          <a:p>
            <a:endParaRPr lang="fr-FR" dirty="0"/>
          </a:p>
        </p:txBody>
      </p:sp>
      <p:sp>
        <p:nvSpPr>
          <p:cNvPr id="6" name="Espace réservé du numéro de diapositive 5">
            <a:extLst>
              <a:ext uri="{FF2B5EF4-FFF2-40B4-BE49-F238E27FC236}">
                <a16:creationId xmlns:a16="http://schemas.microsoft.com/office/drawing/2014/main" id="{CF48D770-597C-E547-A7A5-E8AF6320D350}"/>
              </a:ext>
            </a:extLst>
          </p:cNvPr>
          <p:cNvSpPr>
            <a:spLocks noGrp="1"/>
          </p:cNvSpPr>
          <p:nvPr>
            <p:ph type="sldNum" sz="quarter" idx="12"/>
          </p:nvPr>
        </p:nvSpPr>
        <p:spPr>
          <a:xfrm>
            <a:off x="206829" y="5991225"/>
            <a:ext cx="2743200" cy="365125"/>
          </a:xfrm>
          <a:prstGeom prst="rect">
            <a:avLst/>
          </a:prstGeom>
        </p:spPr>
        <p:txBody>
          <a:bodyPr/>
          <a:lstStyle>
            <a:lvl1pPr algn="l">
              <a:defRPr sz="1800" b="1">
                <a:solidFill>
                  <a:schemeClr val="bg1"/>
                </a:solidFill>
              </a:defRPr>
            </a:lvl1pPr>
          </a:lstStyle>
          <a:p>
            <a:fld id="{4D289190-B8B6-D94D-AF3D-186DD56FC743}" type="slidenum">
              <a:rPr lang="fr-FR" smtClean="0"/>
              <a:pPr/>
              <a:t>‹N°›</a:t>
            </a:fld>
            <a:endParaRPr lang="fr-FR"/>
          </a:p>
        </p:txBody>
      </p:sp>
    </p:spTree>
    <p:extLst>
      <p:ext uri="{BB962C8B-B14F-4D97-AF65-F5344CB8AC3E}">
        <p14:creationId xmlns:p14="http://schemas.microsoft.com/office/powerpoint/2010/main" val="18834180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6B87ED-2815-A111-6DBA-5965DE9365C7}"/>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5DB9B880-9117-9336-8E49-AD606F4D2ED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3AFE27C5-1DE2-7DB5-0902-9425DB1E55C4}"/>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5" name="Espace réservé du pied de page 4">
            <a:extLst>
              <a:ext uri="{FF2B5EF4-FFF2-40B4-BE49-F238E27FC236}">
                <a16:creationId xmlns:a16="http://schemas.microsoft.com/office/drawing/2014/main" id="{0DF7E020-BFCB-91EF-2EB6-2677E28FD7E8}"/>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AD160386-4A90-0AF0-AC16-D8927DF65258}"/>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831358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8DE01-793C-4CFA-9EF2-2AD70641E121}"/>
              </a:ext>
            </a:extLst>
          </p:cNvPr>
          <p:cNvSpPr>
            <a:spLocks noGrp="1"/>
          </p:cNvSpPr>
          <p:nvPr>
            <p:ph type="title"/>
          </p:nvPr>
        </p:nvSpPr>
        <p:spPr>
          <a:xfrm>
            <a:off x="831850" y="1709738"/>
            <a:ext cx="10515600" cy="2852737"/>
          </a:xfrm>
        </p:spPr>
        <p:txBody>
          <a:bodyPr anchor="b"/>
          <a:lstStyle>
            <a:lvl1pPr>
              <a:defRPr sz="6000"/>
            </a:lvl1pPr>
          </a:lstStyle>
          <a:p>
            <a:r>
              <a:rPr lang="fr-CA"/>
              <a:t>Modifier le style du titre</a:t>
            </a:r>
            <a:endParaRPr lang="fr-FR"/>
          </a:p>
        </p:txBody>
      </p:sp>
      <p:sp>
        <p:nvSpPr>
          <p:cNvPr id="3" name="Espace réservé du texte 2">
            <a:extLst>
              <a:ext uri="{FF2B5EF4-FFF2-40B4-BE49-F238E27FC236}">
                <a16:creationId xmlns:a16="http://schemas.microsoft.com/office/drawing/2014/main" id="{30D58A29-8C3A-5312-8164-F9D3A83B78D0}"/>
              </a:ext>
            </a:extLst>
          </p:cNvPr>
          <p:cNvSpPr>
            <a:spLocks noGrp="1"/>
          </p:cNvSpPr>
          <p:nvPr>
            <p:ph type="body" idx="1"/>
          </p:nvPr>
        </p:nvSpPr>
        <p:spPr>
          <a:xfrm>
            <a:off x="831850" y="4589463"/>
            <a:ext cx="10515600" cy="1500187"/>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CA" dirty="0"/>
              <a:t>Cliquez pour modifier les styles du texte du masque</a:t>
            </a:r>
          </a:p>
        </p:txBody>
      </p:sp>
      <p:sp>
        <p:nvSpPr>
          <p:cNvPr id="4" name="Espace réservé de la date 3">
            <a:extLst>
              <a:ext uri="{FF2B5EF4-FFF2-40B4-BE49-F238E27FC236}">
                <a16:creationId xmlns:a16="http://schemas.microsoft.com/office/drawing/2014/main" id="{1273D9D8-C589-99F3-AF88-CA826F38E563}"/>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5" name="Espace réservé du pied de page 4">
            <a:extLst>
              <a:ext uri="{FF2B5EF4-FFF2-40B4-BE49-F238E27FC236}">
                <a16:creationId xmlns:a16="http://schemas.microsoft.com/office/drawing/2014/main" id="{6A360004-98AC-D612-1060-FB5EBC873D43}"/>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253D5F96-FDA2-7D6F-4360-A3B17241F537}"/>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126924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77C258-D886-C129-2DB1-668EFF891E39}"/>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AC6C4A83-C461-63BA-B770-38828ACCC105}"/>
              </a:ext>
            </a:extLst>
          </p:cNvPr>
          <p:cNvSpPr>
            <a:spLocks noGrp="1"/>
          </p:cNvSpPr>
          <p:nvPr>
            <p:ph sz="half" idx="1"/>
          </p:nvPr>
        </p:nvSpPr>
        <p:spPr>
          <a:xfrm>
            <a:off x="838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contenu 3">
            <a:extLst>
              <a:ext uri="{FF2B5EF4-FFF2-40B4-BE49-F238E27FC236}">
                <a16:creationId xmlns:a16="http://schemas.microsoft.com/office/drawing/2014/main" id="{5AE7E599-C424-D311-BB16-057A870F40BB}"/>
              </a:ext>
            </a:extLst>
          </p:cNvPr>
          <p:cNvSpPr>
            <a:spLocks noGrp="1"/>
          </p:cNvSpPr>
          <p:nvPr>
            <p:ph sz="half" idx="2"/>
          </p:nvPr>
        </p:nvSpPr>
        <p:spPr>
          <a:xfrm>
            <a:off x="6172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e la date 4">
            <a:extLst>
              <a:ext uri="{FF2B5EF4-FFF2-40B4-BE49-F238E27FC236}">
                <a16:creationId xmlns:a16="http://schemas.microsoft.com/office/drawing/2014/main" id="{5F65A1C4-EF7F-90C7-8A81-180A66D5811C}"/>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6" name="Espace réservé du pied de page 5">
            <a:extLst>
              <a:ext uri="{FF2B5EF4-FFF2-40B4-BE49-F238E27FC236}">
                <a16:creationId xmlns:a16="http://schemas.microsoft.com/office/drawing/2014/main" id="{4FFD3A5D-B418-2220-FA0A-C16301699420}"/>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5CD9410A-CD3B-CEC1-74D4-6277D0489025}"/>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1825528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549770-1B53-D831-5739-D55D342715D5}"/>
              </a:ext>
            </a:extLst>
          </p:cNvPr>
          <p:cNvSpPr>
            <a:spLocks noGrp="1"/>
          </p:cNvSpPr>
          <p:nvPr>
            <p:ph type="title"/>
          </p:nvPr>
        </p:nvSpPr>
        <p:spPr>
          <a:xfrm>
            <a:off x="839788" y="365125"/>
            <a:ext cx="10515600" cy="1325563"/>
          </a:xfrm>
        </p:spPr>
        <p:txBody>
          <a:bodyPr/>
          <a:lstStyle>
            <a:lvl1pPr>
              <a:defRPr>
                <a:latin typeface="+mn-lt"/>
              </a:defRPr>
            </a:lvl1pPr>
          </a:lstStyle>
          <a:p>
            <a:r>
              <a:rPr lang="fr-CA" dirty="0"/>
              <a:t>Modifier le style du titre</a:t>
            </a:r>
            <a:endParaRPr lang="fr-FR" dirty="0"/>
          </a:p>
        </p:txBody>
      </p:sp>
      <p:sp>
        <p:nvSpPr>
          <p:cNvPr id="3" name="Espace réservé du texte 2">
            <a:extLst>
              <a:ext uri="{FF2B5EF4-FFF2-40B4-BE49-F238E27FC236}">
                <a16:creationId xmlns:a16="http://schemas.microsoft.com/office/drawing/2014/main" id="{8F28EDDF-D55F-AAD9-425A-F3F85881908D}"/>
              </a:ext>
            </a:extLst>
          </p:cNvPr>
          <p:cNvSpPr>
            <a:spLocks noGrp="1"/>
          </p:cNvSpPr>
          <p:nvPr>
            <p:ph type="body" idx="1"/>
          </p:nvPr>
        </p:nvSpPr>
        <p:spPr>
          <a:xfrm>
            <a:off x="839788" y="1681163"/>
            <a:ext cx="5157787" cy="823912"/>
          </a:xfrm>
        </p:spPr>
        <p:txBody>
          <a:bodyPr anchor="b"/>
          <a:lstStyle>
            <a:lvl1pPr marL="0" indent="0">
              <a:buNone/>
              <a:defRPr sz="2400" b="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dirty="0"/>
              <a:t>Cliquez pour modifier les styles du texte du masque</a:t>
            </a:r>
          </a:p>
        </p:txBody>
      </p:sp>
      <p:sp>
        <p:nvSpPr>
          <p:cNvPr id="4" name="Espace réservé du contenu 3">
            <a:extLst>
              <a:ext uri="{FF2B5EF4-FFF2-40B4-BE49-F238E27FC236}">
                <a16:creationId xmlns:a16="http://schemas.microsoft.com/office/drawing/2014/main" id="{CF26D271-BFA8-F4DE-3555-E679361F6940}"/>
              </a:ext>
            </a:extLst>
          </p:cNvPr>
          <p:cNvSpPr>
            <a:spLocks noGrp="1"/>
          </p:cNvSpPr>
          <p:nvPr>
            <p:ph sz="half" idx="2"/>
          </p:nvPr>
        </p:nvSpPr>
        <p:spPr>
          <a:xfrm>
            <a:off x="839788" y="2801257"/>
            <a:ext cx="5157787" cy="3388406"/>
          </a:xfrm>
        </p:spPr>
        <p:txBody>
          <a:bodyPr>
            <a:normAutofit/>
          </a:bodyPr>
          <a:lstStyle>
            <a:lvl1pPr>
              <a:defRPr sz="2400"/>
            </a:lvl1pPr>
            <a:lvl2pPr>
              <a:defRPr sz="2000"/>
            </a:lvl2pPr>
            <a:lvl3pPr>
              <a:defRPr sz="1800"/>
            </a:lvl3pPr>
            <a:lvl4pPr>
              <a:defRPr sz="1600"/>
            </a:lvl4pPr>
            <a:lvl5pPr>
              <a:defRPr sz="1600"/>
            </a:lvl5pPr>
          </a:lstStyle>
          <a:p>
            <a:pPr lvl="0"/>
            <a:r>
              <a:rPr lang="fr-CA" dirty="0"/>
              <a:t>Cliquez pour modifier les styles du texte du masque</a:t>
            </a:r>
          </a:p>
          <a:p>
            <a:pPr lvl="1"/>
            <a:r>
              <a:rPr lang="fr-CA" dirty="0"/>
              <a:t>Deuxième niveau</a:t>
            </a:r>
          </a:p>
          <a:p>
            <a:pPr lvl="2"/>
            <a:r>
              <a:rPr lang="fr-CA" dirty="0"/>
              <a:t>Troisième niveau</a:t>
            </a:r>
          </a:p>
          <a:p>
            <a:pPr lvl="3"/>
            <a:r>
              <a:rPr lang="fr-CA" dirty="0"/>
              <a:t>Quatrième niveau</a:t>
            </a:r>
          </a:p>
          <a:p>
            <a:pPr lvl="4"/>
            <a:r>
              <a:rPr lang="fr-CA" dirty="0"/>
              <a:t>Cinquième niveau</a:t>
            </a:r>
            <a:endParaRPr lang="fr-FR" dirty="0"/>
          </a:p>
        </p:txBody>
      </p:sp>
      <p:sp>
        <p:nvSpPr>
          <p:cNvPr id="5" name="Espace réservé du texte 4">
            <a:extLst>
              <a:ext uri="{FF2B5EF4-FFF2-40B4-BE49-F238E27FC236}">
                <a16:creationId xmlns:a16="http://schemas.microsoft.com/office/drawing/2014/main" id="{366615E9-3F0D-9321-BA1D-4F92D9E0E265}"/>
              </a:ext>
            </a:extLst>
          </p:cNvPr>
          <p:cNvSpPr>
            <a:spLocks noGrp="1"/>
          </p:cNvSpPr>
          <p:nvPr>
            <p:ph type="body" sz="quarter" idx="3"/>
          </p:nvPr>
        </p:nvSpPr>
        <p:spPr>
          <a:xfrm>
            <a:off x="6172200" y="1681163"/>
            <a:ext cx="5183188" cy="823912"/>
          </a:xfrm>
        </p:spPr>
        <p:txBody>
          <a:bodyPr anchor="b"/>
          <a:lstStyle>
            <a:lvl1pPr marL="0" indent="0">
              <a:buNone/>
              <a:defRPr sz="2400" b="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Espace réservé du contenu 5">
            <a:extLst>
              <a:ext uri="{FF2B5EF4-FFF2-40B4-BE49-F238E27FC236}">
                <a16:creationId xmlns:a16="http://schemas.microsoft.com/office/drawing/2014/main" id="{2CBAF0DB-C964-EB78-653F-C4FE466B7C55}"/>
              </a:ext>
            </a:extLst>
          </p:cNvPr>
          <p:cNvSpPr>
            <a:spLocks noGrp="1"/>
          </p:cNvSpPr>
          <p:nvPr>
            <p:ph sz="quarter" idx="4"/>
          </p:nvPr>
        </p:nvSpPr>
        <p:spPr>
          <a:xfrm>
            <a:off x="6172200" y="2801257"/>
            <a:ext cx="5183188" cy="3388406"/>
          </a:xfrm>
        </p:spPr>
        <p:txBody>
          <a:bodyPr>
            <a:normAutofit/>
          </a:bodyPr>
          <a:lstStyle>
            <a:lvl1pPr>
              <a:defRPr sz="2400"/>
            </a:lvl1pPr>
            <a:lvl2pPr>
              <a:defRPr sz="2000"/>
            </a:lvl2pPr>
            <a:lvl3pPr>
              <a:defRPr sz="1800"/>
            </a:lvl3pPr>
            <a:lvl4pPr>
              <a:defRPr sz="1600"/>
            </a:lvl4pPr>
            <a:lvl5pPr>
              <a:defRPr sz="1600"/>
            </a:lvl5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7" name="Espace réservé de la date 6">
            <a:extLst>
              <a:ext uri="{FF2B5EF4-FFF2-40B4-BE49-F238E27FC236}">
                <a16:creationId xmlns:a16="http://schemas.microsoft.com/office/drawing/2014/main" id="{CA3B99A1-550E-AA66-ADCF-AFE64E9B6A61}"/>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8" name="Espace réservé du pied de page 7">
            <a:extLst>
              <a:ext uri="{FF2B5EF4-FFF2-40B4-BE49-F238E27FC236}">
                <a16:creationId xmlns:a16="http://schemas.microsoft.com/office/drawing/2014/main" id="{E6914A62-44E4-812F-76C6-B4402EDA461E}"/>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AA5A7D3C-FE51-9DEA-576F-265574676674}"/>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34997721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16CF10-B441-EF21-81C7-16173F2E716C}"/>
              </a:ext>
            </a:extLst>
          </p:cNvPr>
          <p:cNvSpPr>
            <a:spLocks noGrp="1"/>
          </p:cNvSpPr>
          <p:nvPr>
            <p:ph type="title"/>
          </p:nvPr>
        </p:nvSpPr>
        <p:spPr/>
        <p:txBody>
          <a:bodyPr/>
          <a:lstStyle/>
          <a:p>
            <a:r>
              <a:rPr lang="fr-CA"/>
              <a:t>Modifier le style du titre</a:t>
            </a:r>
            <a:endParaRPr lang="fr-FR"/>
          </a:p>
        </p:txBody>
      </p:sp>
      <p:sp>
        <p:nvSpPr>
          <p:cNvPr id="3" name="Espace réservé de la date 2">
            <a:extLst>
              <a:ext uri="{FF2B5EF4-FFF2-40B4-BE49-F238E27FC236}">
                <a16:creationId xmlns:a16="http://schemas.microsoft.com/office/drawing/2014/main" id="{C39990E6-948F-A836-68A4-D860615B7718}"/>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4" name="Espace réservé du pied de page 3">
            <a:extLst>
              <a:ext uri="{FF2B5EF4-FFF2-40B4-BE49-F238E27FC236}">
                <a16:creationId xmlns:a16="http://schemas.microsoft.com/office/drawing/2014/main" id="{65DE8732-21E6-4541-2CE5-1CCB9CE80354}"/>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099E6178-DC9C-0A5F-F6C1-D889FB2F3D8F}"/>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31203117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D827A0B-D92A-8CB5-AAB1-62F20BAA2F10}"/>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3" name="Espace réservé du pied de page 2">
            <a:extLst>
              <a:ext uri="{FF2B5EF4-FFF2-40B4-BE49-F238E27FC236}">
                <a16:creationId xmlns:a16="http://schemas.microsoft.com/office/drawing/2014/main" id="{4E2E64F1-F187-D904-F76E-AB744A5744F6}"/>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71874BEF-1AE5-6FEB-A117-CB7E105AFD89}"/>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10907899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600159-5DCD-7763-EE8F-2C31630835E4}"/>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du contenu 2">
            <a:extLst>
              <a:ext uri="{FF2B5EF4-FFF2-40B4-BE49-F238E27FC236}">
                <a16:creationId xmlns:a16="http://schemas.microsoft.com/office/drawing/2014/main" id="{7016FFE9-8D21-B455-E68A-773067DBE3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texte 3">
            <a:extLst>
              <a:ext uri="{FF2B5EF4-FFF2-40B4-BE49-F238E27FC236}">
                <a16:creationId xmlns:a16="http://schemas.microsoft.com/office/drawing/2014/main" id="{07E4F6AE-26BE-659F-A4F1-DC3B9BA70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DF502D2E-0C24-F393-656C-A61F1584D3D4}"/>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6" name="Espace réservé du pied de page 5">
            <a:extLst>
              <a:ext uri="{FF2B5EF4-FFF2-40B4-BE49-F238E27FC236}">
                <a16:creationId xmlns:a16="http://schemas.microsoft.com/office/drawing/2014/main" id="{94D2B8B7-494A-1DA0-0B2B-B1B16C3DC6EE}"/>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95BFA0BF-E9FC-144B-C7AB-A3DD7256D558}"/>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684525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0F542A-3825-D264-4F6C-A0E89A9C475C}"/>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pour une image  2">
            <a:extLst>
              <a:ext uri="{FF2B5EF4-FFF2-40B4-BE49-F238E27FC236}">
                <a16:creationId xmlns:a16="http://schemas.microsoft.com/office/drawing/2014/main" id="{43114167-BE35-EBB9-D6B1-EC28AAF4AD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D78BC21-09CE-3694-5B22-37015F3F9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4F6CB732-DFB5-5E97-3CAD-EAA3D910B7FE}"/>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6" name="Espace réservé du pied de page 5">
            <a:extLst>
              <a:ext uri="{FF2B5EF4-FFF2-40B4-BE49-F238E27FC236}">
                <a16:creationId xmlns:a16="http://schemas.microsoft.com/office/drawing/2014/main" id="{DB0A9552-7631-339C-6C41-74B4C0FC03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C37A3466-1EB5-5923-3B1E-2FF375E3C6E0}"/>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1177529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AED68C-1EF8-6491-1111-751253D984D4}"/>
              </a:ext>
            </a:extLst>
          </p:cNvPr>
          <p:cNvSpPr>
            <a:spLocks noGrp="1"/>
          </p:cNvSpPr>
          <p:nvPr>
            <p:ph type="title"/>
          </p:nvPr>
        </p:nvSpPr>
        <p:spPr/>
        <p:txBody>
          <a:bodyPr/>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FE79BCEB-10B6-041D-62F2-BB7F8D8C1DE5}"/>
              </a:ext>
            </a:extLst>
          </p:cNvPr>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3B93480F-A88B-80CD-2150-145C0052B5AB}"/>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5" name="Espace réservé du pied de page 4">
            <a:extLst>
              <a:ext uri="{FF2B5EF4-FFF2-40B4-BE49-F238E27FC236}">
                <a16:creationId xmlns:a16="http://schemas.microsoft.com/office/drawing/2014/main" id="{3241BB21-5C43-91FB-9EFC-7A299D2C5F83}"/>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74C7DBC-3D24-DD8A-E1CA-A001E4FDE406}"/>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26559827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9B79825-FD69-534A-0793-C588794E9CF3}"/>
              </a:ext>
            </a:extLst>
          </p:cNvPr>
          <p:cNvSpPr>
            <a:spLocks noGrp="1"/>
          </p:cNvSpPr>
          <p:nvPr>
            <p:ph type="title" orient="vert"/>
          </p:nvPr>
        </p:nvSpPr>
        <p:spPr>
          <a:xfrm>
            <a:off x="8724900" y="365125"/>
            <a:ext cx="2628900" cy="5811838"/>
          </a:xfrm>
        </p:spPr>
        <p:txBody>
          <a:bodyPr vert="eaVert"/>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4BB0D51F-B4A8-5E81-33B2-DBBD18EA1A02}"/>
              </a:ext>
            </a:extLst>
          </p:cNvPr>
          <p:cNvSpPr>
            <a:spLocks noGrp="1"/>
          </p:cNvSpPr>
          <p:nvPr>
            <p:ph type="body" orient="vert" idx="1"/>
          </p:nvPr>
        </p:nvSpPr>
        <p:spPr>
          <a:xfrm>
            <a:off x="838200" y="365125"/>
            <a:ext cx="7734300" cy="5811838"/>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4A6CBD4E-0ABD-3D8D-4234-5F68F6250997}"/>
              </a:ext>
            </a:extLst>
          </p:cNvPr>
          <p:cNvSpPr>
            <a:spLocks noGrp="1"/>
          </p:cNvSpPr>
          <p:nvPr>
            <p:ph type="dt" sz="half" idx="10"/>
          </p:nvPr>
        </p:nvSpPr>
        <p:spPr>
          <a:xfrm>
            <a:off x="838200" y="6356350"/>
            <a:ext cx="2743200" cy="365125"/>
          </a:xfrm>
          <a:prstGeom prst="rect">
            <a:avLst/>
          </a:prstGeom>
        </p:spPr>
        <p:txBody>
          <a:bodyPr/>
          <a:lstStyle/>
          <a:p>
            <a:fld id="{3FB3015C-FAA4-D940-AF44-D90D279E8B79}" type="datetimeFigureOut">
              <a:rPr lang="fr-FR" smtClean="0"/>
              <a:t>22/09/2025</a:t>
            </a:fld>
            <a:endParaRPr lang="fr-FR"/>
          </a:p>
        </p:txBody>
      </p:sp>
      <p:sp>
        <p:nvSpPr>
          <p:cNvPr id="5" name="Espace réservé du pied de page 4">
            <a:extLst>
              <a:ext uri="{FF2B5EF4-FFF2-40B4-BE49-F238E27FC236}">
                <a16:creationId xmlns:a16="http://schemas.microsoft.com/office/drawing/2014/main" id="{11C72E70-E1DB-1DE6-41AC-CDE46218DCD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07FB90B4-2BE7-850E-46FE-AFEE59933D10}"/>
              </a:ext>
            </a:extLst>
          </p:cNvPr>
          <p:cNvSpPr>
            <a:spLocks noGrp="1"/>
          </p:cNvSpPr>
          <p:nvPr>
            <p:ph type="sldNum" sz="quarter" idx="12"/>
          </p:nvPr>
        </p:nvSpPr>
        <p:spPr>
          <a:xfrm>
            <a:off x="8610600" y="6356350"/>
            <a:ext cx="2743200" cy="365125"/>
          </a:xfrm>
          <a:prstGeom prst="rect">
            <a:avLst/>
          </a:prstGeom>
        </p:spPr>
        <p:txBody>
          <a:bodyPr/>
          <a:lstStyle/>
          <a:p>
            <a:fld id="{4D289190-B8B6-D94D-AF3D-186DD56FC743}" type="slidenum">
              <a:rPr lang="fr-FR" smtClean="0"/>
              <a:t>‹N°›</a:t>
            </a:fld>
            <a:endParaRPr lang="fr-FR"/>
          </a:p>
        </p:txBody>
      </p:sp>
    </p:spTree>
    <p:extLst>
      <p:ext uri="{BB962C8B-B14F-4D97-AF65-F5344CB8AC3E}">
        <p14:creationId xmlns:p14="http://schemas.microsoft.com/office/powerpoint/2010/main" val="168357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heme" Target="../theme/theme2.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3.jp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11916A9D-04F5-4BCC-BF3D-E7302456F46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514286"/>
          </a:xfrm>
          <a:prstGeom prst="rect">
            <a:avLst/>
          </a:prstGeom>
        </p:spPr>
      </p:pic>
      <p:sp>
        <p:nvSpPr>
          <p:cNvPr id="2" name="Title Placeholder 1">
            <a:extLst>
              <a:ext uri="{FF2B5EF4-FFF2-40B4-BE49-F238E27FC236}">
                <a16:creationId xmlns:a16="http://schemas.microsoft.com/office/drawing/2014/main" id="{1084DCFD-5C2F-4F08-B2DD-3B3B6505989A}"/>
              </a:ext>
            </a:extLst>
          </p:cNvPr>
          <p:cNvSpPr>
            <a:spLocks noGrp="1"/>
          </p:cNvSpPr>
          <p:nvPr>
            <p:ph type="title"/>
          </p:nvPr>
        </p:nvSpPr>
        <p:spPr>
          <a:xfrm>
            <a:off x="838200" y="994611"/>
            <a:ext cx="10515600" cy="696077"/>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837F56A-5D87-4344-803A-18CC69A07903}"/>
              </a:ext>
            </a:extLst>
          </p:cNvPr>
          <p:cNvSpPr>
            <a:spLocks noGrp="1"/>
          </p:cNvSpPr>
          <p:nvPr>
            <p:ph type="body" idx="1"/>
          </p:nvPr>
        </p:nvSpPr>
        <p:spPr>
          <a:xfrm>
            <a:off x="838200" y="1825625"/>
            <a:ext cx="10515600" cy="36768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67A36DD-87F0-42B7-A4E7-17D9C1A2ED4E}"/>
              </a:ext>
            </a:extLst>
          </p:cNvPr>
          <p:cNvSpPr>
            <a:spLocks noGrp="1"/>
          </p:cNvSpPr>
          <p:nvPr>
            <p:ph type="dt" sz="half" idx="2"/>
          </p:nvPr>
        </p:nvSpPr>
        <p:spPr>
          <a:xfrm>
            <a:off x="838200" y="6514286"/>
            <a:ext cx="2743200" cy="3355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47CE0-5509-430C-BE72-EA262CB2E4BD}" type="datetimeFigureOut">
              <a:rPr lang="en-CA" smtClean="0"/>
              <a:t>2025-09-22</a:t>
            </a:fld>
            <a:endParaRPr lang="en-CA"/>
          </a:p>
        </p:txBody>
      </p:sp>
      <p:sp>
        <p:nvSpPr>
          <p:cNvPr id="5" name="Footer Placeholder 4">
            <a:extLst>
              <a:ext uri="{FF2B5EF4-FFF2-40B4-BE49-F238E27FC236}">
                <a16:creationId xmlns:a16="http://schemas.microsoft.com/office/drawing/2014/main" id="{A4806491-829D-4094-B9C9-6CF0B4826546}"/>
              </a:ext>
            </a:extLst>
          </p:cNvPr>
          <p:cNvSpPr>
            <a:spLocks noGrp="1"/>
          </p:cNvSpPr>
          <p:nvPr>
            <p:ph type="ftr" sz="quarter" idx="3"/>
          </p:nvPr>
        </p:nvSpPr>
        <p:spPr>
          <a:xfrm>
            <a:off x="4038600" y="6514286"/>
            <a:ext cx="4114800" cy="3355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EF33234-01A5-4AAB-8D58-8214239C7494}"/>
              </a:ext>
            </a:extLst>
          </p:cNvPr>
          <p:cNvSpPr>
            <a:spLocks noGrp="1"/>
          </p:cNvSpPr>
          <p:nvPr>
            <p:ph type="sldNum" sz="quarter" idx="4"/>
          </p:nvPr>
        </p:nvSpPr>
        <p:spPr>
          <a:xfrm>
            <a:off x="8610600" y="6514286"/>
            <a:ext cx="2743200" cy="335525"/>
          </a:xfrm>
          <a:prstGeom prst="rect">
            <a:avLst/>
          </a:prstGeom>
        </p:spPr>
        <p:txBody>
          <a:bodyPr vert="horz" lIns="91440" tIns="45720" rIns="91440" bIns="45720" rtlCol="0" anchor="ctr"/>
          <a:lstStyle>
            <a:lvl1pPr algn="r">
              <a:defRPr sz="1200">
                <a:solidFill>
                  <a:schemeClr val="tx1">
                    <a:tint val="75000"/>
                  </a:schemeClr>
                </a:solidFill>
              </a:defRPr>
            </a:lvl1pPr>
          </a:lstStyle>
          <a:p>
            <a:fld id="{115E7A3B-5097-470E-BF33-71AA6A02D719}" type="slidenum">
              <a:rPr lang="en-CA" smtClean="0"/>
              <a:t>‹N°›</a:t>
            </a:fld>
            <a:endParaRPr lang="en-CA"/>
          </a:p>
        </p:txBody>
      </p:sp>
      <p:sp>
        <p:nvSpPr>
          <p:cNvPr id="7" name="Rectangle 6">
            <a:extLst>
              <a:ext uri="{FF2B5EF4-FFF2-40B4-BE49-F238E27FC236}">
                <a16:creationId xmlns:a16="http://schemas.microsoft.com/office/drawing/2014/main" id="{7972F009-A608-F0EF-F2CE-88A6CFFF2A74}"/>
              </a:ext>
            </a:extLst>
          </p:cNvPr>
          <p:cNvSpPr/>
          <p:nvPr userDrawn="1"/>
        </p:nvSpPr>
        <p:spPr>
          <a:xfrm>
            <a:off x="9343293" y="5443721"/>
            <a:ext cx="2743200" cy="12383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a:extLst>
              <a:ext uri="{FF2B5EF4-FFF2-40B4-BE49-F238E27FC236}">
                <a16:creationId xmlns:a16="http://schemas.microsoft.com/office/drawing/2014/main" id="{9AACF993-1899-F13E-A2B8-614555DE724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677023" y="5613933"/>
            <a:ext cx="2245347" cy="878254"/>
          </a:xfrm>
          <a:prstGeom prst="rect">
            <a:avLst/>
          </a:prstGeom>
        </p:spPr>
      </p:pic>
    </p:spTree>
    <p:extLst>
      <p:ext uri="{BB962C8B-B14F-4D97-AF65-F5344CB8AC3E}">
        <p14:creationId xmlns:p14="http://schemas.microsoft.com/office/powerpoint/2010/main" val="3680167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66" r:id="rId6"/>
    <p:sldLayoutId id="2147483667" r:id="rId7"/>
    <p:sldLayoutId id="2147483675" r:id="rId8"/>
    <p:sldLayoutId id="214748367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9/22/2025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4" r:id="rId4"/>
    <p:sldLayoutId id="2147483665" r:id="rId5"/>
    <p:sldLayoutId id="2147483651" r:id="rId6"/>
    <p:sldLayoutId id="2147483652" r:id="rId7"/>
    <p:sldLayoutId id="2147483653" r:id="rId8"/>
    <p:sldLayoutId id="2147483654" r:id="rId9"/>
    <p:sldLayoutId id="2147483655" r:id="rId10"/>
    <p:sldLayoutId id="2147483668" r:id="rId11"/>
    <p:sldLayoutId id="2147483669" r:id="rId12"/>
    <p:sldLayoutId id="2147483656" r:id="rId13"/>
    <p:sldLayoutId id="2147483657" r:id="rId14"/>
    <p:sldLayoutId id="2147483658" r:id="rId15"/>
    <p:sldLayoutId id="2147483659" r:id="rId16"/>
  </p:sldLayoutIdLst>
  <p:txStyles>
    <p:titleStyle>
      <a:lvl1pPr algn="ctr" defTabSz="609630" rtl="0" eaLnBrk="1" latinLnBrk="0" hangingPunct="1">
        <a:spcBef>
          <a:spcPct val="0"/>
        </a:spcBef>
        <a:buNone/>
        <a:defRPr sz="2900"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00"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900"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2000" r="-2000"/>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0FAC26D-9A2C-C2F0-0205-EF3D67BD57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801804AB-126F-CAC8-2D86-2F722ECE41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CA" dirty="0"/>
              <a:t>Cliquez pour modifier les styles du texte du masque</a:t>
            </a:r>
          </a:p>
          <a:p>
            <a:pPr lvl="1"/>
            <a:r>
              <a:rPr lang="fr-CA" dirty="0"/>
              <a:t>Deuxième niveau</a:t>
            </a:r>
          </a:p>
          <a:p>
            <a:pPr lvl="2"/>
            <a:r>
              <a:rPr lang="fr-CA" dirty="0"/>
              <a:t>Troisième niveau</a:t>
            </a:r>
          </a:p>
          <a:p>
            <a:pPr lvl="3"/>
            <a:r>
              <a:rPr lang="fr-CA" dirty="0"/>
              <a:t>Quatrième niveau</a:t>
            </a:r>
          </a:p>
          <a:p>
            <a:pPr lvl="4"/>
            <a:r>
              <a:rPr lang="fr-CA" dirty="0"/>
              <a:t>Cinquième niveau</a:t>
            </a:r>
            <a:endParaRPr lang="fr-FR" dirty="0"/>
          </a:p>
        </p:txBody>
      </p:sp>
      <p:sp>
        <p:nvSpPr>
          <p:cNvPr id="6" name="Espace réservé du numéro de diapositive 5">
            <a:extLst>
              <a:ext uri="{FF2B5EF4-FFF2-40B4-BE49-F238E27FC236}">
                <a16:creationId xmlns:a16="http://schemas.microsoft.com/office/drawing/2014/main" id="{B716B89F-B2DC-C238-60DB-2D2270FB0663}"/>
              </a:ext>
            </a:extLst>
          </p:cNvPr>
          <p:cNvSpPr>
            <a:spLocks noGrp="1"/>
          </p:cNvSpPr>
          <p:nvPr>
            <p:ph type="sldNum" sz="quarter" idx="4"/>
          </p:nvPr>
        </p:nvSpPr>
        <p:spPr>
          <a:xfrm>
            <a:off x="0" y="6356350"/>
            <a:ext cx="12192000" cy="365125"/>
          </a:xfrm>
          <a:prstGeom prst="rect">
            <a:avLst/>
          </a:prstGeom>
        </p:spPr>
        <p:txBody>
          <a:bodyPr vert="horz" lIns="91440" tIns="45720" rIns="91440" bIns="45720" rtlCol="0" anchor="ctr"/>
          <a:lstStyle>
            <a:lvl1pPr algn="ctr">
              <a:defRPr sz="2800">
                <a:solidFill>
                  <a:schemeClr val="tx1">
                    <a:tint val="75000"/>
                  </a:schemeClr>
                </a:solidFill>
              </a:defRPr>
            </a:lvl1pPr>
          </a:lstStyle>
          <a:p>
            <a:fld id="{4D289190-B8B6-D94D-AF3D-186DD56FC743}" type="slidenum">
              <a:rPr lang="fr-FR" smtClean="0"/>
              <a:pPr/>
              <a:t>‹N°›</a:t>
            </a:fld>
            <a:endParaRPr lang="fr-FR" dirty="0"/>
          </a:p>
        </p:txBody>
      </p:sp>
    </p:spTree>
    <p:extLst>
      <p:ext uri="{BB962C8B-B14F-4D97-AF65-F5344CB8AC3E}">
        <p14:creationId xmlns:p14="http://schemas.microsoft.com/office/powerpoint/2010/main" val="359953990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accent2"/>
          </a:solidFill>
          <a:latin typeface="+mn-lt"/>
          <a:ea typeface="+mj-ea"/>
          <a:cs typeface="+mj-cs"/>
        </a:defRPr>
      </a:lvl1pPr>
    </p:titleStyle>
    <p:bodyStyle>
      <a:lvl1pPr marL="228600" indent="-228600" algn="l" defTabSz="914400" rtl="0" eaLnBrk="1" latinLnBrk="0" hangingPunct="1">
        <a:lnSpc>
          <a:spcPct val="95000"/>
        </a:lnSpc>
        <a:spcBef>
          <a:spcPts val="0"/>
        </a:spcBef>
        <a:spcAft>
          <a:spcPts val="1200"/>
        </a:spcAft>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5000"/>
        </a:lnSpc>
        <a:spcBef>
          <a:spcPts val="0"/>
        </a:spcBef>
        <a:spcAft>
          <a:spcPts val="1000"/>
        </a:spcAft>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5000"/>
        </a:lnSpc>
        <a:spcBef>
          <a:spcPts val="0"/>
        </a:spcBef>
        <a:spcAft>
          <a:spcPts val="800"/>
        </a:spcAft>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5000"/>
        </a:lnSpc>
        <a:spcBef>
          <a:spcPts val="0"/>
        </a:spcBef>
        <a:spcAft>
          <a:spcPts val="500"/>
        </a:spcAft>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5000"/>
        </a:lnSpc>
        <a:spcBef>
          <a:spcPts val="0"/>
        </a:spcBef>
        <a:spcAft>
          <a:spcPts val="300"/>
        </a:spcAft>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hyperlink" Target="https://native-land.c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mailto:johanne.provencal@crdcn.ca"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crdcn.us4.list-manage.com/subscribe?u=c3b811df1cf083f6ae6fb612b&amp;id=499c54b27e" TargetMode="External"/><Relationship Id="rId4" Type="http://schemas.openxmlformats.org/officeDocument/2006/relationships/hyperlink" Target="https://crdcn.ca/?lang=fr"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fi.wikipedia.org/wiki/Bluesky" TargetMode="External"/><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slideLayout" Target="../slideLayouts/slideLayout27.xml"/><Relationship Id="rId1" Type="http://schemas.openxmlformats.org/officeDocument/2006/relationships/tags" Target="../tags/tag1.xml"/><Relationship Id="rId6" Type="http://schemas.openxmlformats.org/officeDocument/2006/relationships/hyperlink" Target="https://www.katewinterevaluation.com/linkedin-logo/" TargetMode="External"/><Relationship Id="rId11" Type="http://schemas.openxmlformats.org/officeDocument/2006/relationships/image" Target="../media/image23.png"/><Relationship Id="rId5" Type="http://schemas.openxmlformats.org/officeDocument/2006/relationships/image" Target="../media/image20.png"/><Relationship Id="rId10" Type="http://schemas.openxmlformats.org/officeDocument/2006/relationships/image" Target="../media/image22.png"/><Relationship Id="rId4" Type="http://schemas.openxmlformats.org/officeDocument/2006/relationships/hyperlink" Target="https://fr.m.wikipedia.org/wiki/Fichier:YouTube_full-color_icon_(2017).svg" TargetMode="External"/><Relationship Id="rId9" Type="http://schemas.openxmlformats.org/officeDocument/2006/relationships/hyperlink" Target="mailto:acces@ciqss.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3E4"/>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10800000">
            <a:off x="1" y="1"/>
            <a:ext cx="1134475" cy="1134475"/>
          </a:xfrm>
          <a:prstGeom prst="rect">
            <a:avLst/>
          </a:prstGeom>
        </p:spPr>
      </p:pic>
      <p:pic>
        <p:nvPicPr>
          <p:cNvPr id="3" name="Picture 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5400000">
            <a:off x="8852787" y="1270903"/>
            <a:ext cx="4452285" cy="2226142"/>
          </a:xfrm>
          <a:prstGeom prst="rect">
            <a:avLst/>
          </a:prstGeom>
        </p:spPr>
      </p:pic>
      <p:sp>
        <p:nvSpPr>
          <p:cNvPr id="4" name="AutoShape 4"/>
          <p:cNvSpPr/>
          <p:nvPr/>
        </p:nvSpPr>
        <p:spPr>
          <a:xfrm>
            <a:off x="0" y="4767948"/>
            <a:ext cx="12192000" cy="2090053"/>
          </a:xfrm>
          <a:prstGeom prst="rect">
            <a:avLst/>
          </a:prstGeom>
          <a:solidFill>
            <a:srgbClr val="1F516E"/>
          </a:solidFill>
        </p:spPr>
        <p:txBody>
          <a:bodyPr/>
          <a:lstStyle/>
          <a:p>
            <a:endParaRPr lang="en-CA"/>
          </a:p>
        </p:txBody>
      </p:sp>
      <p:pic>
        <p:nvPicPr>
          <p:cNvPr id="5" name="Picture 5"/>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5400000">
            <a:off x="0" y="3718024"/>
            <a:ext cx="1049923" cy="1049923"/>
          </a:xfrm>
          <a:prstGeom prst="rect">
            <a:avLst/>
          </a:prstGeom>
        </p:spPr>
      </p:pic>
      <p:pic>
        <p:nvPicPr>
          <p:cNvPr id="11" name="Image 10">
            <a:extLst>
              <a:ext uri="{FF2B5EF4-FFF2-40B4-BE49-F238E27FC236}">
                <a16:creationId xmlns:a16="http://schemas.microsoft.com/office/drawing/2014/main" id="{C98C306D-703E-7495-7C38-AF2862C5D54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65057" y="5160445"/>
            <a:ext cx="3328510" cy="1301926"/>
          </a:xfrm>
          <a:prstGeom prst="rect">
            <a:avLst/>
          </a:prstGeom>
        </p:spPr>
      </p:pic>
      <p:sp>
        <p:nvSpPr>
          <p:cNvPr id="7" name="TextBox 7"/>
          <p:cNvSpPr txBox="1"/>
          <p:nvPr/>
        </p:nvSpPr>
        <p:spPr>
          <a:xfrm>
            <a:off x="724115" y="4938968"/>
            <a:ext cx="8137252" cy="655564"/>
          </a:xfrm>
          <a:prstGeom prst="rect">
            <a:avLst/>
          </a:prstGeom>
        </p:spPr>
        <p:txBody>
          <a:bodyPr wrap="square" lIns="0" tIns="0" rIns="0" bIns="0" rtlCol="0" anchor="t">
            <a:spAutoFit/>
          </a:bodyPr>
          <a:lstStyle/>
          <a:p>
            <a:pPr>
              <a:lnSpc>
                <a:spcPts val="2651"/>
              </a:lnSpc>
            </a:pPr>
            <a:r>
              <a:rPr lang="en-US" sz="2000" b="1" spc="19" dirty="0">
                <a:solidFill>
                  <a:schemeClr val="bg1"/>
                </a:solidFill>
                <a:latin typeface="Arial"/>
                <a:cs typeface="Arial"/>
              </a:rPr>
              <a:t>Magali Girard, Ph.D.</a:t>
            </a:r>
          </a:p>
          <a:p>
            <a:pPr>
              <a:lnSpc>
                <a:spcPts val="2651"/>
              </a:lnSpc>
            </a:pPr>
            <a:r>
              <a:rPr lang="en-US" sz="1700" spc="19" dirty="0" err="1">
                <a:solidFill>
                  <a:schemeClr val="bg1"/>
                </a:solidFill>
                <a:latin typeface="Arial"/>
                <a:cs typeface="Arial"/>
              </a:rPr>
              <a:t>Directrice</a:t>
            </a:r>
            <a:r>
              <a:rPr lang="en-US" sz="1700" spc="19" dirty="0">
                <a:solidFill>
                  <a:schemeClr val="bg1"/>
                </a:solidFill>
                <a:latin typeface="Arial"/>
                <a:cs typeface="Arial"/>
              </a:rPr>
              <a:t> </a:t>
            </a:r>
            <a:r>
              <a:rPr lang="en-US" sz="1700" spc="19" dirty="0" err="1">
                <a:solidFill>
                  <a:schemeClr val="bg1"/>
                </a:solidFill>
                <a:latin typeface="Arial"/>
                <a:cs typeface="Arial"/>
              </a:rPr>
              <a:t>générale</a:t>
            </a:r>
            <a:r>
              <a:rPr lang="en-US" sz="1700" spc="19" dirty="0">
                <a:solidFill>
                  <a:schemeClr val="bg1"/>
                </a:solidFill>
                <a:latin typeface="Arial"/>
                <a:cs typeface="Arial"/>
              </a:rPr>
              <a:t> (CIQSS)</a:t>
            </a:r>
          </a:p>
        </p:txBody>
      </p:sp>
      <p:sp>
        <p:nvSpPr>
          <p:cNvPr id="8" name="TextBox 8"/>
          <p:cNvSpPr txBox="1"/>
          <p:nvPr/>
        </p:nvSpPr>
        <p:spPr>
          <a:xfrm>
            <a:off x="724246" y="1473705"/>
            <a:ext cx="10007254" cy="2472472"/>
          </a:xfrm>
          <a:prstGeom prst="rect">
            <a:avLst/>
          </a:prstGeom>
        </p:spPr>
        <p:txBody>
          <a:bodyPr wrap="square" lIns="0" tIns="0" rIns="0" bIns="0" rtlCol="0" anchor="t">
            <a:spAutoFit/>
          </a:bodyPr>
          <a:lstStyle/>
          <a:p>
            <a:r>
              <a:rPr lang="en-US" sz="3600" b="1" spc="-33" dirty="0">
                <a:solidFill>
                  <a:srgbClr val="527CA6"/>
                </a:solidFill>
                <a:latin typeface="Arial"/>
                <a:cs typeface="Arial"/>
              </a:rPr>
              <a:t>Réseau </a:t>
            </a:r>
            <a:r>
              <a:rPr lang="en-US" sz="3600" b="1" spc="-33" dirty="0" err="1">
                <a:solidFill>
                  <a:srgbClr val="527CA6"/>
                </a:solidFill>
                <a:latin typeface="Arial"/>
                <a:cs typeface="Arial"/>
              </a:rPr>
              <a:t>canadien</a:t>
            </a:r>
            <a:r>
              <a:rPr lang="en-US" sz="3600" b="1" spc="-33" dirty="0">
                <a:solidFill>
                  <a:srgbClr val="527CA6"/>
                </a:solidFill>
                <a:latin typeface="Arial"/>
                <a:cs typeface="Arial"/>
              </a:rPr>
              <a:t> des </a:t>
            </a:r>
            <a:r>
              <a:rPr lang="en-US" sz="3600" b="1" spc="-33" dirty="0" err="1">
                <a:solidFill>
                  <a:srgbClr val="527CA6"/>
                </a:solidFill>
                <a:latin typeface="Arial"/>
                <a:cs typeface="Arial"/>
              </a:rPr>
              <a:t>Centres</a:t>
            </a:r>
            <a:r>
              <a:rPr lang="en-US" sz="3600" b="1" spc="-33" dirty="0">
                <a:solidFill>
                  <a:srgbClr val="527CA6"/>
                </a:solidFill>
                <a:latin typeface="Arial"/>
                <a:cs typeface="Arial"/>
              </a:rPr>
              <a:t> de données </a:t>
            </a:r>
            <a:br>
              <a:rPr lang="en-US" sz="3600" b="1" spc="-33" dirty="0">
                <a:solidFill>
                  <a:srgbClr val="527CA6"/>
                </a:solidFill>
                <a:latin typeface="Arial"/>
                <a:cs typeface="Arial"/>
              </a:rPr>
            </a:br>
            <a:r>
              <a:rPr lang="en-US" sz="3600" b="1" spc="-33" dirty="0">
                <a:solidFill>
                  <a:srgbClr val="527CA6"/>
                </a:solidFill>
                <a:latin typeface="Arial"/>
                <a:cs typeface="Arial"/>
              </a:rPr>
              <a:t>de recherche (RCCDR)</a:t>
            </a:r>
          </a:p>
          <a:p>
            <a:endParaRPr lang="en-US" sz="2400" b="1" spc="-33" dirty="0">
              <a:solidFill>
                <a:srgbClr val="527CA6"/>
              </a:solidFill>
              <a:latin typeface="Arial"/>
              <a:cs typeface="Arial"/>
            </a:endParaRPr>
          </a:p>
          <a:p>
            <a:pPr marL="496888" indent="-496888">
              <a:spcAft>
                <a:spcPts val="1500"/>
              </a:spcAft>
            </a:pPr>
            <a:r>
              <a:rPr lang="en-US" sz="2400" spc="-33" dirty="0">
                <a:solidFill>
                  <a:srgbClr val="527CA6"/>
                </a:solidFill>
                <a:latin typeface="Arial"/>
                <a:cs typeface="Arial"/>
              </a:rPr>
              <a:t>	</a:t>
            </a:r>
            <a:r>
              <a:rPr lang="en-US" sz="2400" spc="-33" dirty="0" err="1">
                <a:solidFill>
                  <a:srgbClr val="527CA6"/>
                </a:solidFill>
                <a:latin typeface="Arial"/>
                <a:cs typeface="Arial"/>
              </a:rPr>
              <a:t>Mettre</a:t>
            </a:r>
            <a:r>
              <a:rPr lang="en-US" sz="2400" spc="-33" dirty="0">
                <a:solidFill>
                  <a:srgbClr val="527CA6"/>
                </a:solidFill>
                <a:latin typeface="Arial"/>
                <a:cs typeface="Arial"/>
              </a:rPr>
              <a:t> </a:t>
            </a:r>
            <a:r>
              <a:rPr lang="en-US" sz="2400" spc="-33" dirty="0" err="1">
                <a:solidFill>
                  <a:srgbClr val="527CA6"/>
                </a:solidFill>
                <a:latin typeface="Arial"/>
                <a:cs typeface="Arial"/>
              </a:rPr>
              <a:t>en</a:t>
            </a:r>
            <a:r>
              <a:rPr lang="en-US" sz="2400" spc="-33" dirty="0">
                <a:solidFill>
                  <a:srgbClr val="527CA6"/>
                </a:solidFill>
                <a:latin typeface="Arial"/>
                <a:cs typeface="Arial"/>
              </a:rPr>
              <a:t> relation recherche et </a:t>
            </a:r>
            <a:r>
              <a:rPr lang="en-US" sz="2400" spc="-33" dirty="0" err="1">
                <a:solidFill>
                  <a:srgbClr val="527CA6"/>
                </a:solidFill>
                <a:latin typeface="Arial"/>
                <a:cs typeface="Arial"/>
              </a:rPr>
              <a:t>secteur</a:t>
            </a:r>
            <a:r>
              <a:rPr lang="en-US" sz="2400" spc="-33" dirty="0">
                <a:solidFill>
                  <a:srgbClr val="527CA6"/>
                </a:solidFill>
                <a:latin typeface="Arial"/>
                <a:cs typeface="Arial"/>
              </a:rPr>
              <a:t> public</a:t>
            </a:r>
          </a:p>
          <a:p>
            <a:pPr marL="496888" indent="-496888">
              <a:spcAft>
                <a:spcPts val="2000"/>
              </a:spcAft>
            </a:pPr>
            <a:r>
              <a:rPr lang="en-US" sz="2400" spc="-33" dirty="0">
                <a:solidFill>
                  <a:srgbClr val="527CA6"/>
                </a:solidFill>
                <a:latin typeface="Arial"/>
                <a:cs typeface="Arial"/>
              </a:rPr>
              <a:t>	</a:t>
            </a:r>
            <a:r>
              <a:rPr lang="en-US" sz="2400" spc="-33" dirty="0" err="1">
                <a:solidFill>
                  <a:srgbClr val="527CA6"/>
                </a:solidFill>
                <a:latin typeface="Arial"/>
                <a:cs typeface="Arial"/>
              </a:rPr>
              <a:t>Éclairer</a:t>
            </a:r>
            <a:r>
              <a:rPr lang="en-US" sz="2400" spc="-33" dirty="0">
                <a:solidFill>
                  <a:srgbClr val="527CA6"/>
                </a:solidFill>
                <a:latin typeface="Arial"/>
                <a:cs typeface="Arial"/>
              </a:rPr>
              <a:t> la </a:t>
            </a:r>
            <a:r>
              <a:rPr lang="en-US" sz="2400" spc="-33" dirty="0" err="1">
                <a:solidFill>
                  <a:srgbClr val="527CA6"/>
                </a:solidFill>
                <a:latin typeface="Arial"/>
                <a:cs typeface="Arial"/>
              </a:rPr>
              <a:t>prise</a:t>
            </a:r>
            <a:r>
              <a:rPr lang="en-US" sz="2400" spc="-33" dirty="0">
                <a:solidFill>
                  <a:srgbClr val="527CA6"/>
                </a:solidFill>
                <a:latin typeface="Arial"/>
                <a:cs typeface="Arial"/>
              </a:rPr>
              <a:t> de </a:t>
            </a:r>
            <a:r>
              <a:rPr lang="en-US" sz="2400" spc="-33" dirty="0" err="1">
                <a:solidFill>
                  <a:srgbClr val="527CA6"/>
                </a:solidFill>
                <a:latin typeface="Arial"/>
                <a:cs typeface="Arial"/>
              </a:rPr>
              <a:t>décisions</a:t>
            </a:r>
            <a:r>
              <a:rPr lang="en-US" sz="2400" spc="-33" dirty="0">
                <a:solidFill>
                  <a:srgbClr val="527CA6"/>
                </a:solidFill>
                <a:latin typeface="Arial"/>
                <a:cs typeface="Arial"/>
              </a:rPr>
              <a:t> à </a:t>
            </a:r>
            <a:r>
              <a:rPr lang="en-US" sz="2400" spc="-33" dirty="0" err="1">
                <a:solidFill>
                  <a:srgbClr val="527CA6"/>
                </a:solidFill>
                <a:latin typeface="Arial"/>
                <a:cs typeface="Arial"/>
              </a:rPr>
              <a:t>l’aide</a:t>
            </a:r>
            <a:r>
              <a:rPr lang="en-US" sz="2400" spc="-33" dirty="0">
                <a:solidFill>
                  <a:srgbClr val="527CA6"/>
                </a:solidFill>
                <a:latin typeface="Arial"/>
                <a:cs typeface="Arial"/>
              </a:rPr>
              <a:t> de données </a:t>
            </a:r>
            <a:r>
              <a:rPr lang="en-US" sz="2400" spc="-33" dirty="0" err="1">
                <a:solidFill>
                  <a:srgbClr val="527CA6"/>
                </a:solidFill>
                <a:latin typeface="Arial"/>
                <a:cs typeface="Arial"/>
              </a:rPr>
              <a:t>probantes</a:t>
            </a:r>
            <a:endParaRPr lang="en-US" sz="2400" spc="-33" dirty="0">
              <a:solidFill>
                <a:srgbClr val="527CA6"/>
              </a:solidFill>
              <a:latin typeface="Arial"/>
              <a:ea typeface="Calibri"/>
              <a:cs typeface="Arial"/>
            </a:endParaRPr>
          </a:p>
        </p:txBody>
      </p:sp>
    </p:spTree>
    <p:extLst>
      <p:ext uri="{BB962C8B-B14F-4D97-AF65-F5344CB8AC3E}">
        <p14:creationId xmlns:p14="http://schemas.microsoft.com/office/powerpoint/2010/main" val="72368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525780" y="1361662"/>
            <a:ext cx="11531098" cy="4185761"/>
          </a:xfrm>
          <a:prstGeom prst="rect">
            <a:avLst/>
          </a:prstGeom>
          <a:noFill/>
        </p:spPr>
        <p:txBody>
          <a:bodyPr wrap="square" lIns="91440" tIns="45720" rIns="91440" bIns="45720" anchor="t">
            <a:spAutoFit/>
          </a:bodyPr>
          <a:lstStyle/>
          <a:p>
            <a:pPr fontAlgn="base">
              <a:spcAft>
                <a:spcPts val="1800"/>
              </a:spcAft>
            </a:pPr>
            <a:r>
              <a:rPr lang="en-US" sz="3200" b="1" dirty="0">
                <a:solidFill>
                  <a:schemeClr val="accent1"/>
                </a:solidFill>
                <a:latin typeface="Arial"/>
                <a:cs typeface="Arial"/>
              </a:rPr>
              <a:t>Reconnaissance </a:t>
            </a:r>
            <a:r>
              <a:rPr lang="en-US" sz="3200" b="1" dirty="0" err="1">
                <a:solidFill>
                  <a:schemeClr val="accent1"/>
                </a:solidFill>
                <a:latin typeface="Arial"/>
                <a:cs typeface="Arial"/>
              </a:rPr>
              <a:t>territoriale</a:t>
            </a:r>
            <a:r>
              <a:rPr lang="en-US" sz="3200" b="1" dirty="0">
                <a:solidFill>
                  <a:schemeClr val="accent1"/>
                </a:solidFill>
                <a:latin typeface="Arial"/>
                <a:cs typeface="Arial"/>
              </a:rPr>
              <a:t> </a:t>
            </a:r>
          </a:p>
          <a:p>
            <a:pPr fontAlgn="base">
              <a:spcAft>
                <a:spcPts val="1400"/>
              </a:spcAft>
            </a:pPr>
            <a:r>
              <a:rPr lang="fr-CA" sz="2000" dirty="0"/>
              <a:t>L’Université McMaster est l’établissement hôte du Réseau canadien des Centres de données de recherche. Son campus est situé sur les territoires traditionnels des nations Mississauga et </a:t>
            </a:r>
            <a:r>
              <a:rPr lang="fr-CA" sz="2000" dirty="0" err="1"/>
              <a:t>Haudenosaunee</a:t>
            </a:r>
            <a:r>
              <a:rPr lang="fr-CA" sz="2000" dirty="0"/>
              <a:t>, et sur les terres protégées par le traité, ou </a:t>
            </a:r>
            <a:r>
              <a:rPr lang="fr-CA" sz="2000" i="1" dirty="0"/>
              <a:t>wampum</a:t>
            </a:r>
            <a:r>
              <a:rPr lang="fr-CA" sz="2000" dirty="0"/>
              <a:t>, dit du « Bol à une seule cuillère ». </a:t>
            </a:r>
          </a:p>
          <a:p>
            <a:pPr>
              <a:spcAft>
                <a:spcPts val="1400"/>
              </a:spcAft>
            </a:pPr>
            <a:r>
              <a:rPr lang="fr-CA" sz="2000" dirty="0"/>
              <a:t>L’Université Laval est situé à la croisée des territoires ancestraux du peuple Huron-Wendat, du peuple Wabanaki, du peuple Innu, du peuple Atikamekw et du peuple </a:t>
            </a:r>
            <a:r>
              <a:rPr lang="fr-CA" sz="2000" dirty="0" err="1"/>
              <a:t>Wolastoqey</a:t>
            </a:r>
            <a:r>
              <a:rPr lang="fr-CA" sz="2000" dirty="0"/>
              <a:t>, nous honorons nos relations les uns avec les autres.</a:t>
            </a:r>
          </a:p>
          <a:p>
            <a:pPr>
              <a:spcAft>
                <a:spcPts val="1400"/>
              </a:spcAft>
            </a:pPr>
            <a:r>
              <a:rPr lang="fr-CA" sz="2000" dirty="0"/>
              <a:t>Ressource en ligne où les allochtones peuvent en apprendre davantage sur les territoires et leur histoire: </a:t>
            </a:r>
            <a:r>
              <a:rPr lang="fr-CA" sz="2000" dirty="0">
                <a:hlinkClick r:id="rId2" tooltip="https://native-land.ca/"/>
              </a:rPr>
              <a:t>https://native-land.ca/</a:t>
            </a:r>
            <a:endParaRPr lang="fr-CA" sz="2000" dirty="0"/>
          </a:p>
          <a:p>
            <a:pPr>
              <a:spcAft>
                <a:spcPts val="1400"/>
              </a:spcAft>
            </a:pPr>
            <a:endParaRPr lang="fr-CA" sz="2400" dirty="0">
              <a:highlight>
                <a:srgbClr val="FFFF00"/>
              </a:highlight>
            </a:endParaRPr>
          </a:p>
        </p:txBody>
      </p:sp>
    </p:spTree>
    <p:extLst>
      <p:ext uri="{BB962C8B-B14F-4D97-AF65-F5344CB8AC3E}">
        <p14:creationId xmlns:p14="http://schemas.microsoft.com/office/powerpoint/2010/main" val="2974737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9241-AD5E-CE01-40CD-9FBA726F041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9636EA13-002A-BF1B-CCF1-95264E5A4E74}"/>
              </a:ext>
            </a:extLst>
          </p:cNvPr>
          <p:cNvSpPr txBox="1"/>
          <p:nvPr/>
        </p:nvSpPr>
        <p:spPr>
          <a:xfrm>
            <a:off x="525780" y="1361662"/>
            <a:ext cx="11531098" cy="4447371"/>
          </a:xfrm>
          <a:prstGeom prst="rect">
            <a:avLst/>
          </a:prstGeom>
          <a:noFill/>
        </p:spPr>
        <p:txBody>
          <a:bodyPr wrap="square" lIns="91440" tIns="45720" rIns="91440" bIns="45720" anchor="t">
            <a:spAutoFit/>
          </a:bodyPr>
          <a:lstStyle/>
          <a:p>
            <a:pPr fontAlgn="base">
              <a:spcAft>
                <a:spcPts val="1800"/>
              </a:spcAft>
            </a:pPr>
            <a:r>
              <a:rPr lang="en-US" sz="3200" b="1" dirty="0">
                <a:solidFill>
                  <a:schemeClr val="accent1"/>
                </a:solidFill>
                <a:latin typeface="Arial"/>
                <a:cs typeface="Arial"/>
              </a:rPr>
              <a:t>Notre séance </a:t>
            </a:r>
            <a:r>
              <a:rPr lang="en-US" sz="3200" b="1" dirty="0" err="1">
                <a:solidFill>
                  <a:schemeClr val="accent1"/>
                </a:solidFill>
                <a:latin typeface="Arial"/>
                <a:cs typeface="Arial"/>
              </a:rPr>
              <a:t>d’aujourd’hui</a:t>
            </a:r>
            <a:r>
              <a:rPr lang="en-US" sz="3200" b="1" dirty="0">
                <a:solidFill>
                  <a:schemeClr val="accent1"/>
                </a:solidFill>
                <a:latin typeface="Arial"/>
                <a:cs typeface="Arial"/>
              </a:rPr>
              <a:t>  </a:t>
            </a:r>
            <a:endParaRPr lang="en-US" sz="3200" b="1" dirty="0">
              <a:solidFill>
                <a:schemeClr val="accent1"/>
              </a:solidFill>
              <a:latin typeface="Arial" panose="020B0604020202020204" pitchFamily="34" charset="0"/>
              <a:cs typeface="Arial" panose="020B0604020202020204" pitchFamily="34" charset="0"/>
            </a:endParaRPr>
          </a:p>
          <a:p>
            <a:pPr marL="457200" indent="-457200">
              <a:spcAft>
                <a:spcPts val="1000"/>
              </a:spcAft>
              <a:buFont typeface="+mj-lt"/>
              <a:buAutoNum type="arabicPeriod"/>
            </a:pPr>
            <a:r>
              <a:rPr lang="fr-CA" sz="2400" dirty="0"/>
              <a:t>Qui est avec nous aujourd’hui</a:t>
            </a:r>
          </a:p>
          <a:p>
            <a:pPr marL="457200" indent="-457200">
              <a:spcAft>
                <a:spcPts val="1000"/>
              </a:spcAft>
              <a:buFont typeface="+mj-lt"/>
              <a:buAutoNum type="arabicPeriod"/>
            </a:pPr>
            <a:r>
              <a:rPr lang="fr-CA" sz="2400" dirty="0"/>
              <a:t>RCCDR – qui nous sommes en tant que réseau et ce que nous faisons</a:t>
            </a:r>
          </a:p>
          <a:p>
            <a:pPr marL="457200" indent="-457200">
              <a:spcAft>
                <a:spcPts val="1000"/>
              </a:spcAft>
              <a:buFont typeface="+mj-lt"/>
              <a:buAutoNum type="arabicPeriod"/>
            </a:pPr>
            <a:r>
              <a:rPr lang="fr-CA" sz="2400" dirty="0"/>
              <a:t>CIQSS – partenaire régional du RCCDR</a:t>
            </a:r>
          </a:p>
          <a:p>
            <a:pPr marL="457200" indent="-457200">
              <a:spcAft>
                <a:spcPts val="1000"/>
              </a:spcAft>
              <a:buFont typeface="+mj-lt"/>
              <a:buAutoNum type="arabicPeriod"/>
            </a:pPr>
            <a:r>
              <a:rPr lang="fr-CA" sz="2400" dirty="0"/>
              <a:t>RCCDR – La recherche au service des politiques - exemples</a:t>
            </a:r>
          </a:p>
          <a:p>
            <a:pPr marL="457200" indent="-457200">
              <a:spcAft>
                <a:spcPts val="1000"/>
              </a:spcAft>
              <a:buFont typeface="+mj-lt"/>
              <a:buAutoNum type="arabicPeriod"/>
            </a:pPr>
            <a:r>
              <a:rPr lang="fr-CA" sz="2400" dirty="0"/>
              <a:t>RCCDR – Les mécanismes pour mettre en relation recherche et politiques publiques</a:t>
            </a:r>
          </a:p>
          <a:p>
            <a:pPr marL="457200" indent="-457200">
              <a:spcAft>
                <a:spcPts val="1000"/>
              </a:spcAft>
              <a:buFont typeface="+mj-lt"/>
              <a:buAutoNum type="arabicPeriod"/>
            </a:pPr>
            <a:r>
              <a:rPr lang="fr-CA" sz="2400" dirty="0"/>
              <a:t>En savoir plus sur vous – événement à venir le 28 octobre 2025</a:t>
            </a:r>
            <a:endParaRPr lang="en-US" dirty="0"/>
          </a:p>
          <a:p>
            <a:pPr marL="342900" indent="-342900">
              <a:spcAft>
                <a:spcPts val="1200"/>
              </a:spcAft>
              <a:buAutoNum type="arabicPeriod"/>
            </a:pPr>
            <a:endParaRPr lang="en-US" dirty="0"/>
          </a:p>
        </p:txBody>
      </p:sp>
    </p:spTree>
    <p:extLst>
      <p:ext uri="{BB962C8B-B14F-4D97-AF65-F5344CB8AC3E}">
        <p14:creationId xmlns:p14="http://schemas.microsoft.com/office/powerpoint/2010/main" val="32775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0284-597F-3032-D26F-23ECCD10EC5A}"/>
            </a:ext>
          </a:extLst>
        </p:cNvPr>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14D7AEA5-38F3-4598-B85F-6FFB797DE9E2}"/>
              </a:ext>
            </a:extLst>
          </p:cNvPr>
          <p:cNvSpPr>
            <a:spLocks noGrp="1"/>
          </p:cNvSpPr>
          <p:nvPr>
            <p:ph idx="1"/>
          </p:nvPr>
        </p:nvSpPr>
        <p:spPr>
          <a:xfrm>
            <a:off x="597568" y="1428583"/>
            <a:ext cx="10626213" cy="4351338"/>
          </a:xfrm>
        </p:spPr>
        <p:txBody>
          <a:bodyPr>
            <a:normAutofit/>
          </a:bodyPr>
          <a:lstStyle/>
          <a:p>
            <a:pPr marL="0" indent="0">
              <a:spcAft>
                <a:spcPts val="1400"/>
              </a:spcAft>
              <a:buNone/>
            </a:pPr>
            <a:r>
              <a:rPr lang="fr-CA" b="1" dirty="0">
                <a:solidFill>
                  <a:schemeClr val="accent1"/>
                </a:solidFill>
              </a:rPr>
              <a:t>Quelques mots sur moi</a:t>
            </a:r>
            <a:r>
              <a:rPr lang="fr-CA" dirty="0">
                <a:solidFill>
                  <a:schemeClr val="accent1"/>
                </a:solidFill>
              </a:rPr>
              <a:t> : </a:t>
            </a:r>
            <a:r>
              <a:rPr lang="fr-CA" dirty="0"/>
              <a:t>Directrice générale du CIQSS. Sociologue de formation (doctorat McGill/UC Berkeley) et diplôme en gestion (ÉNAP).</a:t>
            </a:r>
          </a:p>
          <a:p>
            <a:pPr marL="0" indent="0">
              <a:spcAft>
                <a:spcPts val="800"/>
              </a:spcAft>
              <a:buNone/>
            </a:pPr>
            <a:r>
              <a:rPr lang="fr-CA" b="1" dirty="0">
                <a:solidFill>
                  <a:schemeClr val="accent1"/>
                </a:solidFill>
              </a:rPr>
              <a:t>Note</a:t>
            </a:r>
            <a:r>
              <a:rPr lang="fr-CA" dirty="0"/>
              <a:t> : </a:t>
            </a:r>
          </a:p>
          <a:p>
            <a:pPr lvl="1">
              <a:spcAft>
                <a:spcPts val="800"/>
              </a:spcAft>
            </a:pPr>
            <a:r>
              <a:rPr lang="fr-CA" dirty="0"/>
              <a:t>Le CIQSS est partenaire régional du RCCDR </a:t>
            </a:r>
          </a:p>
          <a:p>
            <a:pPr lvl="1">
              <a:spcAft>
                <a:spcPts val="800"/>
              </a:spcAft>
            </a:pPr>
            <a:r>
              <a:rPr lang="fr-CA" dirty="0"/>
              <a:t>5 laboratoires sécurisés au Québec: UdeM, McGill, UQAM, Sherbrooke et Laval.</a:t>
            </a:r>
          </a:p>
          <a:p>
            <a:pPr marL="0" lvl="1" indent="0">
              <a:spcBef>
                <a:spcPts val="1000"/>
              </a:spcBef>
              <a:spcAft>
                <a:spcPts val="800"/>
              </a:spcAft>
              <a:buNone/>
            </a:pPr>
            <a:r>
              <a:rPr lang="fr-CA" sz="2800" b="1" dirty="0">
                <a:solidFill>
                  <a:schemeClr val="accent1"/>
                </a:solidFill>
              </a:rPr>
              <a:t>Quelques mots sur vous!</a:t>
            </a:r>
          </a:p>
        </p:txBody>
      </p:sp>
    </p:spTree>
    <p:extLst>
      <p:ext uri="{BB962C8B-B14F-4D97-AF65-F5344CB8AC3E}">
        <p14:creationId xmlns:p14="http://schemas.microsoft.com/office/powerpoint/2010/main" val="1195406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rcRect l="19587" r="19587"/>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flipH="1">
            <a:off x="0" y="5885184"/>
            <a:ext cx="972817" cy="972817"/>
          </a:xfrm>
          <a:prstGeom prst="rect">
            <a:avLst/>
          </a:prstGeom>
        </p:spPr>
      </p:pic>
      <p:pic>
        <p:nvPicPr>
          <p:cNvPr id="3" name="Picture 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10982417" y="5710038"/>
            <a:ext cx="363277" cy="363277"/>
          </a:xfrm>
          <a:prstGeom prst="rect">
            <a:avLst/>
          </a:prstGeom>
        </p:spPr>
      </p:pic>
      <p:grpSp>
        <p:nvGrpSpPr>
          <p:cNvPr id="4" name="Group 4"/>
          <p:cNvGrpSpPr/>
          <p:nvPr/>
        </p:nvGrpSpPr>
        <p:grpSpPr>
          <a:xfrm>
            <a:off x="1522604" y="984842"/>
            <a:ext cx="3962856" cy="5059267"/>
            <a:chOff x="0" y="-161925"/>
            <a:chExt cx="6921833" cy="10118533"/>
          </a:xfrm>
        </p:grpSpPr>
        <p:sp>
          <p:nvSpPr>
            <p:cNvPr id="5" name="TextBox 5"/>
            <p:cNvSpPr txBox="1"/>
            <p:nvPr/>
          </p:nvSpPr>
          <p:spPr>
            <a:xfrm>
              <a:off x="0" y="-161925"/>
              <a:ext cx="6921833" cy="6057941"/>
            </a:xfrm>
            <a:prstGeom prst="rect">
              <a:avLst/>
            </a:prstGeom>
          </p:spPr>
          <p:txBody>
            <a:bodyPr lIns="0" tIns="0" rIns="0" bIns="0" rtlCol="0" anchor="t">
              <a:spAutoFit/>
            </a:bodyPr>
            <a:lstStyle/>
            <a:p>
              <a:pPr defTabSz="609630">
                <a:lnSpc>
                  <a:spcPts val="4767"/>
                </a:lnSpc>
              </a:pPr>
              <a:r>
                <a:rPr lang="en-US" sz="3600" b="1" spc="-36" dirty="0">
                  <a:solidFill>
                    <a:srgbClr val="527CA6"/>
                  </a:solidFill>
                  <a:latin typeface="Arial"/>
                  <a:cs typeface="Arial"/>
                </a:rPr>
                <a:t>Réseau</a:t>
              </a:r>
            </a:p>
            <a:p>
              <a:pPr defTabSz="609630">
                <a:lnSpc>
                  <a:spcPts val="4767"/>
                </a:lnSpc>
              </a:pPr>
              <a:r>
                <a:rPr lang="en-US" sz="3600" b="1" spc="-36" dirty="0" err="1">
                  <a:solidFill>
                    <a:srgbClr val="527CA6"/>
                  </a:solidFill>
                  <a:latin typeface="Arial"/>
                  <a:cs typeface="Arial"/>
                </a:rPr>
                <a:t>canadien</a:t>
              </a:r>
              <a:r>
                <a:rPr lang="en-US" sz="3600" b="1" spc="-36" dirty="0">
                  <a:solidFill>
                    <a:srgbClr val="527CA6"/>
                  </a:solidFill>
                  <a:latin typeface="Arial"/>
                  <a:cs typeface="Arial"/>
                </a:rPr>
                <a:t> </a:t>
              </a:r>
              <a:br>
                <a:rPr lang="en-US" sz="3600" b="1" spc="-36" dirty="0">
                  <a:solidFill>
                    <a:srgbClr val="527CA6"/>
                  </a:solidFill>
                  <a:latin typeface="Arial"/>
                  <a:cs typeface="Arial"/>
                </a:rPr>
              </a:br>
              <a:r>
                <a:rPr lang="en-US" sz="3600" b="1" spc="-36" dirty="0">
                  <a:solidFill>
                    <a:srgbClr val="527CA6"/>
                  </a:solidFill>
                  <a:latin typeface="Arial"/>
                  <a:cs typeface="Arial"/>
                </a:rPr>
                <a:t>des </a:t>
              </a:r>
              <a:r>
                <a:rPr lang="en-US" sz="3600" b="1" spc="-36" dirty="0" err="1">
                  <a:solidFill>
                    <a:srgbClr val="527CA6"/>
                  </a:solidFill>
                  <a:latin typeface="Arial"/>
                  <a:cs typeface="Arial"/>
                </a:rPr>
                <a:t>Centres</a:t>
              </a:r>
              <a:r>
                <a:rPr lang="en-US" sz="3600" b="1" spc="-36" dirty="0">
                  <a:solidFill>
                    <a:srgbClr val="527CA6"/>
                  </a:solidFill>
                  <a:latin typeface="Arial"/>
                  <a:cs typeface="Arial"/>
                </a:rPr>
                <a:t> </a:t>
              </a:r>
              <a:br>
                <a:rPr lang="en-US" sz="3600" b="1" spc="-36" dirty="0">
                  <a:solidFill>
                    <a:srgbClr val="527CA6"/>
                  </a:solidFill>
                  <a:latin typeface="Arial"/>
                  <a:cs typeface="Arial"/>
                </a:rPr>
              </a:br>
              <a:r>
                <a:rPr lang="en-US" sz="3600" b="1" spc="-36" dirty="0">
                  <a:solidFill>
                    <a:srgbClr val="527CA6"/>
                  </a:solidFill>
                  <a:latin typeface="Arial"/>
                  <a:cs typeface="Arial"/>
                </a:rPr>
                <a:t>de données </a:t>
              </a:r>
              <a:br>
                <a:rPr lang="en-US" sz="3600" b="1" spc="-36" dirty="0">
                  <a:solidFill>
                    <a:srgbClr val="527CA6"/>
                  </a:solidFill>
                  <a:latin typeface="Arial"/>
                  <a:cs typeface="Arial"/>
                </a:rPr>
              </a:br>
              <a:r>
                <a:rPr lang="en-US" sz="3600" b="1" spc="-36" dirty="0">
                  <a:solidFill>
                    <a:srgbClr val="527CA6"/>
                  </a:solidFill>
                  <a:latin typeface="Arial"/>
                  <a:cs typeface="Arial"/>
                </a:rPr>
                <a:t>de recherche </a:t>
              </a:r>
            </a:p>
          </p:txBody>
        </p:sp>
        <p:sp>
          <p:nvSpPr>
            <p:cNvPr id="6" name="TextBox 6"/>
            <p:cNvSpPr txBox="1"/>
            <p:nvPr/>
          </p:nvSpPr>
          <p:spPr>
            <a:xfrm>
              <a:off x="0" y="6428720"/>
              <a:ext cx="6315032" cy="3527888"/>
            </a:xfrm>
            <a:prstGeom prst="rect">
              <a:avLst/>
            </a:prstGeom>
          </p:spPr>
          <p:txBody>
            <a:bodyPr wrap="square" lIns="0" tIns="0" rIns="0" bIns="0" rtlCol="0" anchor="t">
              <a:spAutoFit/>
            </a:bodyPr>
            <a:lstStyle/>
            <a:p>
              <a:pPr defTabSz="609630">
                <a:lnSpc>
                  <a:spcPts val="2839"/>
                </a:lnSpc>
              </a:pPr>
              <a:r>
                <a:rPr lang="en-US" sz="2000" dirty="0">
                  <a:solidFill>
                    <a:srgbClr val="527CA6"/>
                  </a:solidFill>
                  <a:latin typeface="Arial"/>
                  <a:cs typeface="Arial"/>
                </a:rPr>
                <a:t>Un réseau national </a:t>
              </a:r>
              <a:r>
                <a:rPr lang="en-US" sz="2000" dirty="0" err="1">
                  <a:solidFill>
                    <a:srgbClr val="527CA6"/>
                  </a:solidFill>
                  <a:latin typeface="Arial"/>
                  <a:cs typeface="Arial"/>
                </a:rPr>
                <a:t>d’infrastructures</a:t>
              </a:r>
              <a:r>
                <a:rPr lang="en-US" sz="2000" dirty="0">
                  <a:solidFill>
                    <a:srgbClr val="527CA6"/>
                  </a:solidFill>
                  <a:latin typeface="Arial"/>
                  <a:cs typeface="Arial"/>
                </a:rPr>
                <a:t> de recherche pour les sciences </a:t>
              </a:r>
              <a:r>
                <a:rPr lang="en-US" sz="2000" dirty="0" err="1">
                  <a:solidFill>
                    <a:srgbClr val="527CA6"/>
                  </a:solidFill>
                  <a:latin typeface="Arial"/>
                  <a:cs typeface="Arial"/>
                </a:rPr>
                <a:t>sociales</a:t>
              </a:r>
              <a:r>
                <a:rPr lang="en-US" sz="2000" dirty="0">
                  <a:solidFill>
                    <a:srgbClr val="527CA6"/>
                  </a:solidFill>
                  <a:latin typeface="Arial"/>
                  <a:cs typeface="Arial"/>
                </a:rPr>
                <a:t> </a:t>
              </a:r>
              <a:r>
                <a:rPr lang="en-US" sz="2000" dirty="0" err="1">
                  <a:solidFill>
                    <a:srgbClr val="527CA6"/>
                  </a:solidFill>
                  <a:latin typeface="Arial"/>
                  <a:cs typeface="Arial"/>
                </a:rPr>
                <a:t>quantitatives</a:t>
              </a:r>
              <a:r>
                <a:rPr lang="en-US" sz="2000" dirty="0">
                  <a:solidFill>
                    <a:srgbClr val="527CA6"/>
                  </a:solidFill>
                  <a:latin typeface="Arial"/>
                  <a:cs typeface="Arial"/>
                </a:rPr>
                <a:t> et les sciences </a:t>
              </a:r>
              <a:br>
                <a:rPr lang="en-US" sz="2000" dirty="0">
                  <a:solidFill>
                    <a:srgbClr val="527CA6"/>
                  </a:solidFill>
                  <a:latin typeface="Arial"/>
                  <a:cs typeface="Arial"/>
                </a:rPr>
              </a:br>
              <a:r>
                <a:rPr lang="en-US" sz="2000" dirty="0">
                  <a:solidFill>
                    <a:srgbClr val="527CA6"/>
                  </a:solidFill>
                  <a:latin typeface="Arial"/>
                  <a:cs typeface="Arial"/>
                </a:rPr>
                <a:t>de la santé des populations.</a:t>
              </a:r>
            </a:p>
          </p:txBody>
        </p:sp>
      </p:grpSp>
      <p:grpSp>
        <p:nvGrpSpPr>
          <p:cNvPr id="7" name="Group 7"/>
          <p:cNvGrpSpPr/>
          <p:nvPr/>
        </p:nvGrpSpPr>
        <p:grpSpPr>
          <a:xfrm>
            <a:off x="6459119" y="1482280"/>
            <a:ext cx="5128617" cy="926743"/>
            <a:chOff x="0" y="0"/>
            <a:chExt cx="8892673" cy="1853485"/>
          </a:xfrm>
        </p:grpSpPr>
        <p:grpSp>
          <p:nvGrpSpPr>
            <p:cNvPr id="8" name="Group 8"/>
            <p:cNvGrpSpPr/>
            <p:nvPr/>
          </p:nvGrpSpPr>
          <p:grpSpPr>
            <a:xfrm rot="-5400000">
              <a:off x="3519594" y="-3519594"/>
              <a:ext cx="1853485" cy="8892673"/>
              <a:chOff x="0" y="0"/>
              <a:chExt cx="660400" cy="3168475"/>
            </a:xfrm>
          </p:grpSpPr>
          <p:sp>
            <p:nvSpPr>
              <p:cNvPr id="9" name="Freeform 9"/>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0" name="Group 10"/>
            <p:cNvGrpSpPr/>
            <p:nvPr/>
          </p:nvGrpSpPr>
          <p:grpSpPr>
            <a:xfrm>
              <a:off x="0" y="0"/>
              <a:ext cx="2761436" cy="1853485"/>
              <a:chOff x="0" y="0"/>
              <a:chExt cx="983905" cy="660400"/>
            </a:xfrm>
          </p:grpSpPr>
          <p:sp>
            <p:nvSpPr>
              <p:cNvPr id="11" name="Freeform 11"/>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2" name="TextBox 12"/>
          <p:cNvSpPr txBox="1"/>
          <p:nvPr/>
        </p:nvSpPr>
        <p:spPr>
          <a:xfrm>
            <a:off x="8083484" y="1727837"/>
            <a:ext cx="3262210" cy="341119"/>
          </a:xfrm>
          <a:prstGeom prst="rect">
            <a:avLst/>
          </a:prstGeom>
        </p:spPr>
        <p:txBody>
          <a:bodyPr wrap="square" lIns="0" tIns="0" rIns="0" bIns="0" rtlCol="0" anchor="t">
            <a:spAutoFit/>
          </a:bodyPr>
          <a:lstStyle/>
          <a:p>
            <a:pPr algn="r" defTabSz="609630">
              <a:lnSpc>
                <a:spcPts val="3029"/>
              </a:lnSpc>
            </a:pPr>
            <a:r>
              <a:rPr lang="en-US" dirty="0" err="1">
                <a:solidFill>
                  <a:srgbClr val="527CA6"/>
                </a:solidFill>
                <a:latin typeface="Arial"/>
                <a:cs typeface="Arial"/>
              </a:rPr>
              <a:t>Chercheuses</a:t>
            </a:r>
            <a:r>
              <a:rPr lang="en-US" dirty="0">
                <a:solidFill>
                  <a:srgbClr val="527CA6"/>
                </a:solidFill>
                <a:latin typeface="Arial"/>
                <a:cs typeface="Arial"/>
              </a:rPr>
              <a:t> et </a:t>
            </a:r>
            <a:r>
              <a:rPr lang="en-US" dirty="0" err="1">
                <a:solidFill>
                  <a:srgbClr val="527CA6"/>
                </a:solidFill>
                <a:latin typeface="Arial"/>
                <a:cs typeface="Arial"/>
              </a:rPr>
              <a:t>chercheurs</a:t>
            </a:r>
            <a:endParaRPr lang="en-US" dirty="0">
              <a:solidFill>
                <a:srgbClr val="527CA6"/>
              </a:solidFill>
              <a:latin typeface="Arial"/>
              <a:cs typeface="Arial"/>
            </a:endParaRPr>
          </a:p>
        </p:txBody>
      </p:sp>
      <p:sp>
        <p:nvSpPr>
          <p:cNvPr id="13" name="TextBox 13"/>
          <p:cNvSpPr txBox="1"/>
          <p:nvPr/>
        </p:nvSpPr>
        <p:spPr>
          <a:xfrm>
            <a:off x="6457975" y="1760727"/>
            <a:ext cx="1524739" cy="302583"/>
          </a:xfrm>
          <a:prstGeom prst="rect">
            <a:avLst/>
          </a:prstGeom>
        </p:spPr>
        <p:txBody>
          <a:bodyPr wrap="square" lIns="0" tIns="0" rIns="0" bIns="0" rtlCol="0" anchor="t">
            <a:spAutoFit/>
          </a:bodyPr>
          <a:lstStyle/>
          <a:p>
            <a:pPr algn="ctr" defTabSz="609630">
              <a:lnSpc>
                <a:spcPts val="2600"/>
              </a:lnSpc>
              <a:spcBef>
                <a:spcPct val="0"/>
              </a:spcBef>
            </a:pPr>
            <a:r>
              <a:rPr lang="en-US" spc="-20" dirty="0">
                <a:solidFill>
                  <a:srgbClr val="527CA6"/>
                </a:solidFill>
                <a:latin typeface="Arial"/>
                <a:cs typeface="Arial"/>
              </a:rPr>
              <a:t>Plus de 2 500</a:t>
            </a:r>
          </a:p>
        </p:txBody>
      </p:sp>
      <p:grpSp>
        <p:nvGrpSpPr>
          <p:cNvPr id="14" name="Group 14"/>
          <p:cNvGrpSpPr/>
          <p:nvPr/>
        </p:nvGrpSpPr>
        <p:grpSpPr>
          <a:xfrm>
            <a:off x="6459119" y="2664269"/>
            <a:ext cx="5128617" cy="926743"/>
            <a:chOff x="0" y="0"/>
            <a:chExt cx="8892673" cy="1853485"/>
          </a:xfrm>
        </p:grpSpPr>
        <p:grpSp>
          <p:nvGrpSpPr>
            <p:cNvPr id="15" name="Group 15"/>
            <p:cNvGrpSpPr/>
            <p:nvPr/>
          </p:nvGrpSpPr>
          <p:grpSpPr>
            <a:xfrm rot="-5400000">
              <a:off x="3519594" y="-3519594"/>
              <a:ext cx="1853485" cy="8892673"/>
              <a:chOff x="0" y="0"/>
              <a:chExt cx="660400" cy="3168475"/>
            </a:xfrm>
          </p:grpSpPr>
          <p:sp>
            <p:nvSpPr>
              <p:cNvPr id="16" name="Freeform 16"/>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7" name="Group 17"/>
            <p:cNvGrpSpPr/>
            <p:nvPr/>
          </p:nvGrpSpPr>
          <p:grpSpPr>
            <a:xfrm>
              <a:off x="0" y="0"/>
              <a:ext cx="2761436" cy="1853485"/>
              <a:chOff x="0" y="0"/>
              <a:chExt cx="983905" cy="660400"/>
            </a:xfrm>
          </p:grpSpPr>
          <p:sp>
            <p:nvSpPr>
              <p:cNvPr id="18" name="Freeform 18"/>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9" name="TextBox 19"/>
          <p:cNvSpPr txBox="1"/>
          <p:nvPr/>
        </p:nvSpPr>
        <p:spPr>
          <a:xfrm>
            <a:off x="6797940" y="3004132"/>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33</a:t>
            </a:r>
          </a:p>
        </p:txBody>
      </p:sp>
      <p:grpSp>
        <p:nvGrpSpPr>
          <p:cNvPr id="20" name="Group 20"/>
          <p:cNvGrpSpPr/>
          <p:nvPr/>
        </p:nvGrpSpPr>
        <p:grpSpPr>
          <a:xfrm>
            <a:off x="6459119" y="3843083"/>
            <a:ext cx="5128617" cy="926743"/>
            <a:chOff x="0" y="0"/>
            <a:chExt cx="8892673" cy="1853485"/>
          </a:xfrm>
        </p:grpSpPr>
        <p:grpSp>
          <p:nvGrpSpPr>
            <p:cNvPr id="21" name="Group 21"/>
            <p:cNvGrpSpPr/>
            <p:nvPr/>
          </p:nvGrpSpPr>
          <p:grpSpPr>
            <a:xfrm rot="-5400000">
              <a:off x="3519594" y="-3519594"/>
              <a:ext cx="1853485" cy="8892673"/>
              <a:chOff x="0" y="0"/>
              <a:chExt cx="660400" cy="3168475"/>
            </a:xfrm>
          </p:grpSpPr>
          <p:sp>
            <p:nvSpPr>
              <p:cNvPr id="22" name="Freeform 22"/>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23" name="Group 23"/>
            <p:cNvGrpSpPr/>
            <p:nvPr/>
          </p:nvGrpSpPr>
          <p:grpSpPr>
            <a:xfrm>
              <a:off x="0" y="0"/>
              <a:ext cx="2761436" cy="1853485"/>
              <a:chOff x="0" y="0"/>
              <a:chExt cx="983905" cy="660400"/>
            </a:xfrm>
          </p:grpSpPr>
          <p:sp>
            <p:nvSpPr>
              <p:cNvPr id="24" name="Freeform 24"/>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25" name="TextBox 25"/>
          <p:cNvSpPr txBox="1"/>
          <p:nvPr/>
        </p:nvSpPr>
        <p:spPr>
          <a:xfrm>
            <a:off x="6478735" y="4144667"/>
            <a:ext cx="1524739" cy="309187"/>
          </a:xfrm>
          <a:prstGeom prst="rect">
            <a:avLst/>
          </a:prstGeom>
        </p:spPr>
        <p:txBody>
          <a:bodyPr wrap="square" lIns="0" tIns="0" rIns="0" bIns="0" rtlCol="0" anchor="t">
            <a:spAutoFit/>
          </a:bodyPr>
          <a:lstStyle/>
          <a:p>
            <a:pPr algn="ctr" defTabSz="609630">
              <a:lnSpc>
                <a:spcPts val="2600"/>
              </a:lnSpc>
              <a:spcBef>
                <a:spcPct val="0"/>
              </a:spcBef>
            </a:pPr>
            <a:r>
              <a:rPr lang="en-US" spc="-20" dirty="0">
                <a:solidFill>
                  <a:srgbClr val="527CA6"/>
                </a:solidFill>
                <a:latin typeface="Arial"/>
                <a:cs typeface="Arial"/>
              </a:rPr>
              <a:t>Plus de 300</a:t>
            </a:r>
            <a:endParaRPr lang="en-US" dirty="0"/>
          </a:p>
        </p:txBody>
      </p:sp>
      <p:sp>
        <p:nvSpPr>
          <p:cNvPr id="26" name="TextBox 26"/>
          <p:cNvSpPr txBox="1"/>
          <p:nvPr/>
        </p:nvSpPr>
        <p:spPr>
          <a:xfrm>
            <a:off x="8039862" y="2714400"/>
            <a:ext cx="3362982" cy="830997"/>
          </a:xfrm>
          <a:prstGeom prst="rect">
            <a:avLst/>
          </a:prstGeom>
        </p:spPr>
        <p:txBody>
          <a:bodyPr wrap="square" lIns="0" tIns="0" rIns="0" bIns="0" rtlCol="0" anchor="t">
            <a:spAutoFit/>
          </a:bodyPr>
          <a:lstStyle/>
          <a:p>
            <a:pPr algn="r" defTabSz="609630">
              <a:spcBef>
                <a:spcPct val="0"/>
              </a:spcBef>
            </a:pPr>
            <a:r>
              <a:rPr lang="en-US" dirty="0">
                <a:solidFill>
                  <a:srgbClr val="527CA6"/>
                </a:solidFill>
                <a:latin typeface="Arial"/>
                <a:cs typeface="Arial"/>
              </a:rPr>
              <a:t>Installations </a:t>
            </a:r>
            <a:r>
              <a:rPr lang="en-US" dirty="0" err="1">
                <a:solidFill>
                  <a:srgbClr val="527CA6"/>
                </a:solidFill>
                <a:latin typeface="Arial"/>
                <a:cs typeface="Arial"/>
              </a:rPr>
              <a:t>sécurisées</a:t>
            </a:r>
            <a:r>
              <a:rPr lang="en-US" dirty="0">
                <a:solidFill>
                  <a:srgbClr val="527CA6"/>
                </a:solidFill>
                <a:latin typeface="Arial"/>
                <a:cs typeface="Arial"/>
              </a:rPr>
              <a:t> de </a:t>
            </a:r>
            <a:r>
              <a:rPr lang="en-US" dirty="0" err="1">
                <a:solidFill>
                  <a:srgbClr val="527CA6"/>
                </a:solidFill>
                <a:latin typeface="Arial"/>
                <a:cs typeface="Arial"/>
              </a:rPr>
              <a:t>Statistique</a:t>
            </a:r>
            <a:r>
              <a:rPr lang="en-US" dirty="0">
                <a:solidFill>
                  <a:srgbClr val="527CA6"/>
                </a:solidFill>
                <a:latin typeface="Arial"/>
                <a:cs typeface="Arial"/>
              </a:rPr>
              <a:t> Canda </a:t>
            </a:r>
            <a:r>
              <a:rPr lang="en-US" dirty="0" err="1">
                <a:solidFill>
                  <a:srgbClr val="527CA6"/>
                </a:solidFill>
                <a:latin typeface="Arial"/>
                <a:cs typeface="Arial"/>
              </a:rPr>
              <a:t>situées</a:t>
            </a:r>
            <a:r>
              <a:rPr lang="en-US" dirty="0">
                <a:solidFill>
                  <a:srgbClr val="527CA6"/>
                </a:solidFill>
                <a:latin typeface="Arial"/>
                <a:cs typeface="Arial"/>
              </a:rPr>
              <a:t> sur </a:t>
            </a:r>
            <a:br>
              <a:rPr lang="en-US" dirty="0">
                <a:solidFill>
                  <a:srgbClr val="527CA6"/>
                </a:solidFill>
                <a:latin typeface="Arial"/>
                <a:cs typeface="Arial"/>
              </a:rPr>
            </a:br>
            <a:r>
              <a:rPr lang="en-US" dirty="0">
                <a:solidFill>
                  <a:srgbClr val="527CA6"/>
                </a:solidFill>
                <a:latin typeface="Arial"/>
                <a:cs typeface="Arial"/>
              </a:rPr>
              <a:t>des campus </a:t>
            </a:r>
            <a:r>
              <a:rPr lang="en-US" dirty="0" err="1">
                <a:solidFill>
                  <a:srgbClr val="527CA6"/>
                </a:solidFill>
                <a:latin typeface="Arial"/>
                <a:cs typeface="Arial"/>
              </a:rPr>
              <a:t>universitaires</a:t>
            </a:r>
            <a:r>
              <a:rPr lang="en-US" dirty="0">
                <a:solidFill>
                  <a:srgbClr val="527CA6"/>
                </a:solidFill>
                <a:latin typeface="Arial"/>
                <a:cs typeface="Arial"/>
              </a:rPr>
              <a:t>.</a:t>
            </a:r>
          </a:p>
        </p:txBody>
      </p:sp>
      <p:sp>
        <p:nvSpPr>
          <p:cNvPr id="27" name="TextBox 27"/>
          <p:cNvSpPr txBox="1"/>
          <p:nvPr/>
        </p:nvSpPr>
        <p:spPr>
          <a:xfrm>
            <a:off x="7683897" y="3897886"/>
            <a:ext cx="3768963" cy="830997"/>
          </a:xfrm>
          <a:prstGeom prst="rect">
            <a:avLst/>
          </a:prstGeom>
        </p:spPr>
        <p:txBody>
          <a:bodyPr wrap="square" lIns="0" tIns="0" rIns="0" bIns="0" rtlCol="0" anchor="t">
            <a:spAutoFit/>
          </a:bodyPr>
          <a:lstStyle/>
          <a:p>
            <a:pPr algn="r" defTabSz="609630">
              <a:spcBef>
                <a:spcPct val="0"/>
              </a:spcBef>
            </a:pPr>
            <a:r>
              <a:rPr lang="en-US" dirty="0">
                <a:solidFill>
                  <a:srgbClr val="527CA6"/>
                </a:solidFill>
                <a:latin typeface="Arial"/>
                <a:cs typeface="Arial"/>
              </a:rPr>
              <a:t>Ensembles de données* </a:t>
            </a:r>
            <a:r>
              <a:rPr lang="en-US" dirty="0" err="1">
                <a:solidFill>
                  <a:srgbClr val="527CA6"/>
                </a:solidFill>
                <a:latin typeface="Arial"/>
                <a:cs typeface="Arial"/>
              </a:rPr>
              <a:t>confidentielles</a:t>
            </a:r>
            <a:r>
              <a:rPr lang="en-US" dirty="0">
                <a:solidFill>
                  <a:srgbClr val="527CA6"/>
                </a:solidFill>
                <a:latin typeface="Arial"/>
                <a:cs typeface="Arial"/>
              </a:rPr>
              <a:t> </a:t>
            </a:r>
            <a:br>
              <a:rPr lang="en-US" dirty="0">
                <a:solidFill>
                  <a:srgbClr val="527CA6"/>
                </a:solidFill>
                <a:latin typeface="Arial"/>
                <a:cs typeface="Arial"/>
              </a:rPr>
            </a:br>
            <a:r>
              <a:rPr lang="en-US" dirty="0">
                <a:solidFill>
                  <a:srgbClr val="527CA6"/>
                </a:solidFill>
                <a:latin typeface="Arial"/>
                <a:cs typeface="Arial"/>
              </a:rPr>
              <a:t>de </a:t>
            </a:r>
            <a:r>
              <a:rPr lang="en-US" dirty="0" err="1">
                <a:solidFill>
                  <a:srgbClr val="527CA6"/>
                </a:solidFill>
                <a:latin typeface="Arial"/>
                <a:cs typeface="Arial"/>
              </a:rPr>
              <a:t>Statistique</a:t>
            </a:r>
            <a:r>
              <a:rPr lang="en-US" dirty="0">
                <a:solidFill>
                  <a:srgbClr val="527CA6"/>
                </a:solidFill>
                <a:latin typeface="Arial"/>
                <a:cs typeface="Arial"/>
              </a:rPr>
              <a:t> Canada</a:t>
            </a:r>
          </a:p>
        </p:txBody>
      </p:sp>
      <p:grpSp>
        <p:nvGrpSpPr>
          <p:cNvPr id="28" name="Group 28"/>
          <p:cNvGrpSpPr/>
          <p:nvPr/>
        </p:nvGrpSpPr>
        <p:grpSpPr>
          <a:xfrm>
            <a:off x="6457975" y="5135784"/>
            <a:ext cx="5129761" cy="926743"/>
            <a:chOff x="-3" y="0"/>
            <a:chExt cx="8892676" cy="1853485"/>
          </a:xfrm>
        </p:grpSpPr>
        <p:grpSp>
          <p:nvGrpSpPr>
            <p:cNvPr id="29" name="Group 29"/>
            <p:cNvGrpSpPr/>
            <p:nvPr/>
          </p:nvGrpSpPr>
          <p:grpSpPr>
            <a:xfrm rot="-5400000">
              <a:off x="3519594" y="-3519594"/>
              <a:ext cx="1853485" cy="8892673"/>
              <a:chOff x="0" y="0"/>
              <a:chExt cx="660400" cy="3168475"/>
            </a:xfrm>
          </p:grpSpPr>
          <p:sp>
            <p:nvSpPr>
              <p:cNvPr id="30" name="Freeform 30"/>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31" name="Group 31"/>
            <p:cNvGrpSpPr/>
            <p:nvPr/>
          </p:nvGrpSpPr>
          <p:grpSpPr>
            <a:xfrm>
              <a:off x="-3" y="0"/>
              <a:ext cx="3049473" cy="1853485"/>
              <a:chOff x="-1" y="0"/>
              <a:chExt cx="1086533" cy="660400"/>
            </a:xfrm>
          </p:grpSpPr>
          <p:sp>
            <p:nvSpPr>
              <p:cNvPr id="32" name="Freeform 32"/>
              <p:cNvSpPr/>
              <p:nvPr/>
            </p:nvSpPr>
            <p:spPr>
              <a:xfrm>
                <a:off x="-1" y="0"/>
                <a:ext cx="1086533"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33" name="TextBox 33"/>
          <p:cNvSpPr txBox="1"/>
          <p:nvPr/>
        </p:nvSpPr>
        <p:spPr>
          <a:xfrm>
            <a:off x="6601996" y="5408163"/>
            <a:ext cx="1481488" cy="301875"/>
          </a:xfrm>
          <a:prstGeom prst="rect">
            <a:avLst/>
          </a:prstGeom>
        </p:spPr>
        <p:txBody>
          <a:bodyPr wrap="square" lIns="0" tIns="0" rIns="0" bIns="0" rtlCol="0" anchor="t">
            <a:spAutoFit/>
          </a:bodyPr>
          <a:lstStyle/>
          <a:p>
            <a:pPr algn="ctr" defTabSz="609630">
              <a:lnSpc>
                <a:spcPts val="2600"/>
              </a:lnSpc>
              <a:spcBef>
                <a:spcPct val="0"/>
              </a:spcBef>
            </a:pPr>
            <a:r>
              <a:rPr lang="en-US" spc="-20" dirty="0">
                <a:solidFill>
                  <a:srgbClr val="527CA6"/>
                </a:solidFill>
                <a:latin typeface="Arial"/>
                <a:cs typeface="Arial"/>
              </a:rPr>
              <a:t>Plus de 6 000</a:t>
            </a:r>
          </a:p>
        </p:txBody>
      </p:sp>
      <p:sp>
        <p:nvSpPr>
          <p:cNvPr id="34" name="TextBox 34"/>
          <p:cNvSpPr txBox="1"/>
          <p:nvPr/>
        </p:nvSpPr>
        <p:spPr>
          <a:xfrm>
            <a:off x="7982714" y="5196389"/>
            <a:ext cx="3550156" cy="830997"/>
          </a:xfrm>
          <a:prstGeom prst="rect">
            <a:avLst/>
          </a:prstGeom>
        </p:spPr>
        <p:txBody>
          <a:bodyPr wrap="square" lIns="0" tIns="0" rIns="0" bIns="0" rtlCol="0" anchor="t">
            <a:spAutoFit/>
          </a:bodyPr>
          <a:lstStyle/>
          <a:p>
            <a:pPr algn="r" defTabSz="609630">
              <a:spcBef>
                <a:spcPct val="0"/>
              </a:spcBef>
            </a:pPr>
            <a:r>
              <a:rPr lang="en-US" dirty="0">
                <a:solidFill>
                  <a:srgbClr val="527CA6"/>
                </a:solidFill>
                <a:latin typeface="Arial"/>
                <a:cs typeface="Arial"/>
              </a:rPr>
              <a:t>Publications, articles, </a:t>
            </a:r>
            <a:br>
              <a:rPr lang="en-US" dirty="0">
                <a:solidFill>
                  <a:srgbClr val="527CA6"/>
                </a:solidFill>
                <a:latin typeface="Arial"/>
                <a:cs typeface="Arial"/>
              </a:rPr>
            </a:br>
            <a:r>
              <a:rPr lang="en-US" dirty="0">
                <a:solidFill>
                  <a:srgbClr val="527CA6"/>
                </a:solidFill>
                <a:latin typeface="Arial"/>
                <a:cs typeface="Arial"/>
              </a:rPr>
              <a:t>rapports sur les politiques </a:t>
            </a:r>
            <a:r>
              <a:rPr lang="en-US" dirty="0" err="1">
                <a:solidFill>
                  <a:srgbClr val="527CA6"/>
                </a:solidFill>
                <a:latin typeface="Arial"/>
                <a:cs typeface="Arial"/>
              </a:rPr>
              <a:t>publiques</a:t>
            </a:r>
            <a:r>
              <a:rPr lang="en-US" dirty="0">
                <a:solidFill>
                  <a:srgbClr val="527CA6"/>
                </a:solidFill>
                <a:latin typeface="Arial"/>
                <a:cs typeface="Arial"/>
              </a:rPr>
              <a:t>, etc.</a:t>
            </a:r>
            <a:r>
              <a:rPr lang="en-US" dirty="0">
                <a:solidFill>
                  <a:srgbClr val="527CA6"/>
                </a:solidFill>
                <a:latin typeface="Myriad Pro 3"/>
              </a:rPr>
              <a:t> </a:t>
            </a:r>
          </a:p>
        </p:txBody>
      </p:sp>
      <p:sp>
        <p:nvSpPr>
          <p:cNvPr id="36" name="Freeform 11">
            <a:extLst>
              <a:ext uri="{FF2B5EF4-FFF2-40B4-BE49-F238E27FC236}">
                <a16:creationId xmlns:a16="http://schemas.microsoft.com/office/drawing/2014/main" id="{3B0FD79D-09AF-4D5E-8801-4B08EF834E76}"/>
              </a:ext>
            </a:extLst>
          </p:cNvPr>
          <p:cNvSpPr/>
          <p:nvPr/>
        </p:nvSpPr>
        <p:spPr>
          <a:xfrm>
            <a:off x="6457977" y="269771"/>
            <a:ext cx="1575549" cy="926743"/>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sp>
        <p:nvSpPr>
          <p:cNvPr id="39" name="Freeform 9">
            <a:extLst>
              <a:ext uri="{FF2B5EF4-FFF2-40B4-BE49-F238E27FC236}">
                <a16:creationId xmlns:a16="http://schemas.microsoft.com/office/drawing/2014/main" id="{4A28F8C9-C35A-4DF9-9DA1-F1952244BFD4}"/>
              </a:ext>
            </a:extLst>
          </p:cNvPr>
          <p:cNvSpPr/>
          <p:nvPr/>
        </p:nvSpPr>
        <p:spPr>
          <a:xfrm rot="16200000">
            <a:off x="9347830" y="-1019463"/>
            <a:ext cx="926743" cy="3553068"/>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sp>
        <p:nvSpPr>
          <p:cNvPr id="37" name="TextBox 13">
            <a:extLst>
              <a:ext uri="{FF2B5EF4-FFF2-40B4-BE49-F238E27FC236}">
                <a16:creationId xmlns:a16="http://schemas.microsoft.com/office/drawing/2014/main" id="{BEA25135-32F8-4B38-BC96-21CA998F9AD5}"/>
              </a:ext>
            </a:extLst>
          </p:cNvPr>
          <p:cNvSpPr txBox="1"/>
          <p:nvPr/>
        </p:nvSpPr>
        <p:spPr>
          <a:xfrm>
            <a:off x="6763649" y="582110"/>
            <a:ext cx="885957" cy="302647"/>
          </a:xfrm>
          <a:prstGeom prst="rect">
            <a:avLst/>
          </a:prstGeom>
        </p:spPr>
        <p:txBody>
          <a:bodyPr lIns="0" tIns="0" rIns="0" bIns="0" rtlCol="0" anchor="t">
            <a:spAutoFit/>
          </a:bodyPr>
          <a:lstStyle/>
          <a:p>
            <a:pPr algn="ctr" defTabSz="609630">
              <a:lnSpc>
                <a:spcPts val="2600"/>
              </a:lnSpc>
              <a:spcBef>
                <a:spcPct val="0"/>
              </a:spcBef>
            </a:pPr>
            <a:r>
              <a:rPr lang="en-US" spc="-20" dirty="0">
                <a:solidFill>
                  <a:srgbClr val="527CA6"/>
                </a:solidFill>
                <a:latin typeface="Arial"/>
                <a:cs typeface="Arial"/>
              </a:rPr>
              <a:t>1 de 19</a:t>
            </a:r>
            <a:endParaRPr lang="en-US" dirty="0">
              <a:latin typeface="Arial"/>
              <a:cs typeface="Arial"/>
            </a:endParaRPr>
          </a:p>
        </p:txBody>
      </p:sp>
      <p:sp>
        <p:nvSpPr>
          <p:cNvPr id="40" name="TextBox 12">
            <a:extLst>
              <a:ext uri="{FF2B5EF4-FFF2-40B4-BE49-F238E27FC236}">
                <a16:creationId xmlns:a16="http://schemas.microsoft.com/office/drawing/2014/main" id="{BB388E88-1D9D-42E6-AF35-1209C6002EBF}"/>
              </a:ext>
            </a:extLst>
          </p:cNvPr>
          <p:cNvSpPr txBox="1"/>
          <p:nvPr/>
        </p:nvSpPr>
        <p:spPr>
          <a:xfrm>
            <a:off x="7838696" y="509322"/>
            <a:ext cx="3506999" cy="553998"/>
          </a:xfrm>
          <a:prstGeom prst="rect">
            <a:avLst/>
          </a:prstGeom>
        </p:spPr>
        <p:txBody>
          <a:bodyPr wrap="square" lIns="0" tIns="0" rIns="0" bIns="0" rtlCol="0" anchor="t">
            <a:spAutoFit/>
          </a:bodyPr>
          <a:lstStyle/>
          <a:p>
            <a:pPr algn="r" defTabSz="609630"/>
            <a:r>
              <a:rPr lang="en-US" dirty="0">
                <a:solidFill>
                  <a:srgbClr val="527CA6"/>
                </a:solidFill>
                <a:latin typeface="Arial"/>
                <a:cs typeface="Arial"/>
              </a:rPr>
              <a:t>Initiatives </a:t>
            </a:r>
            <a:r>
              <a:rPr lang="en-US" dirty="0" err="1">
                <a:solidFill>
                  <a:srgbClr val="527CA6"/>
                </a:solidFill>
                <a:latin typeface="Arial"/>
                <a:cs typeface="Arial"/>
              </a:rPr>
              <a:t>scientifiques</a:t>
            </a:r>
            <a:r>
              <a:rPr lang="en-US" dirty="0">
                <a:solidFill>
                  <a:srgbClr val="527CA6"/>
                </a:solidFill>
                <a:latin typeface="Arial"/>
                <a:cs typeface="Arial"/>
              </a:rPr>
              <a:t> </a:t>
            </a:r>
            <a:br>
              <a:rPr lang="en-US" dirty="0">
                <a:solidFill>
                  <a:srgbClr val="527CA6"/>
                </a:solidFill>
                <a:latin typeface="Arial"/>
                <a:cs typeface="Arial"/>
              </a:rPr>
            </a:br>
            <a:r>
              <a:rPr lang="en-US" dirty="0">
                <a:solidFill>
                  <a:srgbClr val="527CA6"/>
                </a:solidFill>
                <a:latin typeface="Arial"/>
                <a:cs typeface="Arial"/>
              </a:rPr>
              <a:t>majeures au Canada</a:t>
            </a:r>
            <a:endParaRPr lang="en-US" dirty="0">
              <a:solidFill>
                <a:srgbClr val="FF0000"/>
              </a:solidFill>
              <a:latin typeface="Arial"/>
              <a:cs typeface="Arial"/>
            </a:endParaRPr>
          </a:p>
        </p:txBody>
      </p:sp>
      <p:sp>
        <p:nvSpPr>
          <p:cNvPr id="35" name="TextBox 27">
            <a:extLst>
              <a:ext uri="{FF2B5EF4-FFF2-40B4-BE49-F238E27FC236}">
                <a16:creationId xmlns:a16="http://schemas.microsoft.com/office/drawing/2014/main" id="{34123E5D-9ACC-29AE-80DC-65B514A4E808}"/>
              </a:ext>
            </a:extLst>
          </p:cNvPr>
          <p:cNvSpPr txBox="1"/>
          <p:nvPr/>
        </p:nvSpPr>
        <p:spPr>
          <a:xfrm>
            <a:off x="5353396" y="6215884"/>
            <a:ext cx="6179474" cy="492443"/>
          </a:xfrm>
          <a:prstGeom prst="rect">
            <a:avLst/>
          </a:prstGeom>
        </p:spPr>
        <p:txBody>
          <a:bodyPr wrap="square" lIns="0" tIns="0" rIns="0" bIns="0" rtlCol="0" anchor="t">
            <a:spAutoFit/>
          </a:bodyPr>
          <a:lstStyle/>
          <a:p>
            <a:pPr algn="r" defTabSz="609630">
              <a:spcBef>
                <a:spcPct val="0"/>
              </a:spcBef>
            </a:pPr>
            <a:r>
              <a:rPr lang="en-US" sz="1600" i="1" dirty="0">
                <a:solidFill>
                  <a:srgbClr val="527CA6"/>
                </a:solidFill>
                <a:latin typeface="Arial"/>
                <a:cs typeface="Arial"/>
              </a:rPr>
              <a:t>*Les ensembles de données </a:t>
            </a:r>
            <a:r>
              <a:rPr lang="en-US" sz="1600" i="1" dirty="0" err="1">
                <a:solidFill>
                  <a:srgbClr val="527CA6"/>
                </a:solidFill>
                <a:latin typeface="Arial"/>
                <a:cs typeface="Arial"/>
              </a:rPr>
              <a:t>comprennent</a:t>
            </a:r>
            <a:r>
              <a:rPr lang="en-US" sz="1600" i="1" dirty="0">
                <a:solidFill>
                  <a:srgbClr val="527CA6"/>
                </a:solidFill>
                <a:latin typeface="Arial"/>
                <a:cs typeface="Arial"/>
              </a:rPr>
              <a:t> </a:t>
            </a:r>
            <a:r>
              <a:rPr lang="en-US" sz="1600" i="1" dirty="0" err="1">
                <a:solidFill>
                  <a:srgbClr val="527CA6"/>
                </a:solidFill>
                <a:latin typeface="Arial"/>
                <a:cs typeface="Arial"/>
              </a:rPr>
              <a:t>ceux</a:t>
            </a:r>
            <a:r>
              <a:rPr lang="en-US" sz="1600" i="1" dirty="0">
                <a:solidFill>
                  <a:srgbClr val="527CA6"/>
                </a:solidFill>
                <a:latin typeface="Arial"/>
                <a:cs typeface="Arial"/>
              </a:rPr>
              <a:t> </a:t>
            </a:r>
            <a:r>
              <a:rPr lang="en-US" sz="1600" i="1" dirty="0" err="1">
                <a:solidFill>
                  <a:srgbClr val="527CA6"/>
                </a:solidFill>
                <a:latin typeface="Arial"/>
                <a:cs typeface="Arial"/>
              </a:rPr>
              <a:t>recueillis</a:t>
            </a:r>
            <a:r>
              <a:rPr lang="en-US" sz="1600" i="1" dirty="0">
                <a:solidFill>
                  <a:srgbClr val="527CA6"/>
                </a:solidFill>
                <a:latin typeface="Arial"/>
                <a:cs typeface="Arial"/>
              </a:rPr>
              <a:t> </a:t>
            </a:r>
            <a:r>
              <a:rPr lang="en-US" sz="1600" i="1" dirty="0" err="1">
                <a:solidFill>
                  <a:srgbClr val="527CA6"/>
                </a:solidFill>
                <a:latin typeface="Arial"/>
                <a:cs typeface="Arial"/>
              </a:rPr>
              <a:t>auprès</a:t>
            </a:r>
            <a:r>
              <a:rPr lang="en-US" sz="1600" i="1" dirty="0">
                <a:solidFill>
                  <a:srgbClr val="527CA6"/>
                </a:solidFill>
                <a:latin typeface="Arial"/>
                <a:cs typeface="Arial"/>
              </a:rPr>
              <a:t> </a:t>
            </a:r>
            <a:br>
              <a:rPr lang="en-US" sz="1600" i="1" dirty="0">
                <a:solidFill>
                  <a:srgbClr val="527CA6"/>
                </a:solidFill>
                <a:latin typeface="Arial"/>
                <a:cs typeface="Arial"/>
              </a:rPr>
            </a:br>
            <a:r>
              <a:rPr lang="en-US" sz="1600" i="1" dirty="0">
                <a:solidFill>
                  <a:srgbClr val="527CA6"/>
                </a:solidFill>
                <a:latin typeface="Arial"/>
                <a:cs typeface="Arial"/>
              </a:rPr>
              <a:t>des </a:t>
            </a:r>
            <a:r>
              <a:rPr lang="en-US" sz="1600" i="1" dirty="0" err="1">
                <a:solidFill>
                  <a:srgbClr val="527CA6"/>
                </a:solidFill>
                <a:latin typeface="Arial"/>
                <a:cs typeface="Arial"/>
              </a:rPr>
              <a:t>ministères</a:t>
            </a:r>
            <a:r>
              <a:rPr lang="en-US" sz="1600" i="1" dirty="0">
                <a:solidFill>
                  <a:srgbClr val="527CA6"/>
                </a:solidFill>
                <a:latin typeface="Arial"/>
                <a:cs typeface="Arial"/>
              </a:rPr>
              <a:t> et </a:t>
            </a:r>
            <a:r>
              <a:rPr lang="en-US" sz="1600" i="1" dirty="0" err="1">
                <a:solidFill>
                  <a:srgbClr val="527CA6"/>
                </a:solidFill>
                <a:latin typeface="Arial"/>
                <a:cs typeface="Arial"/>
              </a:rPr>
              <a:t>d’autres</a:t>
            </a:r>
            <a:r>
              <a:rPr lang="en-US" sz="1600" i="1" dirty="0">
                <a:solidFill>
                  <a:srgbClr val="527CA6"/>
                </a:solidFill>
                <a:latin typeface="Arial"/>
                <a:cs typeface="Arial"/>
              </a:rPr>
              <a:t> </a:t>
            </a:r>
            <a:r>
              <a:rPr lang="en-US" sz="1600" i="1" dirty="0" err="1">
                <a:solidFill>
                  <a:srgbClr val="527CA6"/>
                </a:solidFill>
                <a:latin typeface="Arial"/>
                <a:cs typeface="Arial"/>
              </a:rPr>
              <a:t>organismes</a:t>
            </a:r>
            <a:r>
              <a:rPr lang="en-US" sz="1600" i="1" dirty="0">
                <a:solidFill>
                  <a:srgbClr val="527CA6"/>
                </a:solidFill>
                <a:latin typeface="Arial"/>
                <a:cs typeface="Arial"/>
              </a:rPr>
              <a:t> </a:t>
            </a:r>
            <a:r>
              <a:rPr lang="en-US" sz="1600" i="1" dirty="0" err="1">
                <a:solidFill>
                  <a:srgbClr val="527CA6"/>
                </a:solidFill>
                <a:latin typeface="Arial"/>
                <a:cs typeface="Arial"/>
              </a:rPr>
              <a:t>gouvernementaux</a:t>
            </a:r>
            <a:r>
              <a:rPr lang="en-US" sz="1600" i="1" dirty="0">
                <a:solidFill>
                  <a:srgbClr val="527CA6"/>
                </a:solidFill>
                <a:latin typeface="Arial"/>
                <a:cs typeface="Arial"/>
              </a:rPr>
              <a:t>.</a:t>
            </a:r>
          </a:p>
        </p:txBody>
      </p:sp>
    </p:spTree>
    <p:extLst>
      <p:ext uri="{BB962C8B-B14F-4D97-AF65-F5344CB8AC3E}">
        <p14:creationId xmlns:p14="http://schemas.microsoft.com/office/powerpoint/2010/main" val="3367948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B435-EC5A-E4CE-6FFD-4A2B8840E4CD}"/>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4D2D941-155E-7765-5DB2-3BFE270DF2BF}"/>
              </a:ext>
            </a:extLst>
          </p:cNvPr>
          <p:cNvSpPr txBox="1"/>
          <p:nvPr/>
        </p:nvSpPr>
        <p:spPr>
          <a:xfrm>
            <a:off x="247135" y="1167352"/>
            <a:ext cx="11257680" cy="4909036"/>
          </a:xfrm>
          <a:prstGeom prst="rect">
            <a:avLst/>
          </a:prstGeom>
          <a:noFill/>
        </p:spPr>
        <p:txBody>
          <a:bodyPr wrap="square" lIns="91440" tIns="45720" rIns="91440" bIns="45720" anchor="t">
            <a:spAutoFit/>
          </a:bodyPr>
          <a:lstStyle/>
          <a:p>
            <a:pPr algn="l" rtl="0" fontAlgn="base">
              <a:spcAft>
                <a:spcPts val="1800"/>
              </a:spcAft>
            </a:pPr>
            <a:r>
              <a:rPr lang="en-US" sz="3200" b="1" dirty="0">
                <a:solidFill>
                  <a:schemeClr val="accent1"/>
                </a:solidFill>
                <a:latin typeface="Arial" panose="020B0604020202020204" pitchFamily="34" charset="0"/>
                <a:cs typeface="Arial" panose="020B0604020202020204" pitchFamily="34" charset="0"/>
              </a:rPr>
              <a:t>Ce </a:t>
            </a:r>
            <a:r>
              <a:rPr lang="en-US" sz="3200" b="1" dirty="0" err="1">
                <a:solidFill>
                  <a:schemeClr val="accent1"/>
                </a:solidFill>
                <a:latin typeface="Arial" panose="020B0604020202020204" pitchFamily="34" charset="0"/>
                <a:cs typeface="Arial" panose="020B0604020202020204" pitchFamily="34" charset="0"/>
              </a:rPr>
              <a:t>qu’il</a:t>
            </a:r>
            <a:r>
              <a:rPr lang="en-US" sz="3200" b="1" dirty="0">
                <a:solidFill>
                  <a:schemeClr val="accent1"/>
                </a:solidFill>
                <a:latin typeface="Arial" panose="020B0604020202020204" pitchFamily="34" charset="0"/>
                <a:cs typeface="Arial" panose="020B0604020202020204" pitchFamily="34" charset="0"/>
              </a:rPr>
              <a:t> faut savoir sur le RCCDR </a:t>
            </a:r>
            <a:r>
              <a:rPr lang="en-US" sz="3200" b="1" dirty="0" err="1">
                <a:solidFill>
                  <a:schemeClr val="accent1"/>
                </a:solidFill>
                <a:latin typeface="Arial" panose="020B0604020202020204" pitchFamily="34" charset="0"/>
                <a:cs typeface="Arial" panose="020B0604020202020204" pitchFamily="34" charset="0"/>
              </a:rPr>
              <a:t>en</a:t>
            </a:r>
            <a:r>
              <a:rPr lang="en-US" sz="3200" b="1" dirty="0">
                <a:solidFill>
                  <a:schemeClr val="accent1"/>
                </a:solidFill>
                <a:latin typeface="Arial" panose="020B0604020202020204" pitchFamily="34" charset="0"/>
                <a:cs typeface="Arial" panose="020B0604020202020204" pitchFamily="34" charset="0"/>
              </a:rPr>
              <a:t> tant que </a:t>
            </a:r>
            <a:r>
              <a:rPr lang="en-US" sz="3200" b="1" i="1" dirty="0">
                <a:solidFill>
                  <a:schemeClr val="accent1"/>
                </a:solidFill>
                <a:latin typeface="Arial" panose="020B0604020202020204" pitchFamily="34" charset="0"/>
                <a:cs typeface="Arial" panose="020B0604020202020204" pitchFamily="34" charset="0"/>
              </a:rPr>
              <a:t>Réseau</a:t>
            </a:r>
            <a:r>
              <a:rPr lang="en-US" sz="3200" b="1" dirty="0">
                <a:solidFill>
                  <a:schemeClr val="accent1"/>
                </a:solidFill>
                <a:latin typeface="Arial" panose="020B0604020202020204" pitchFamily="34" charset="0"/>
                <a:cs typeface="Arial" panose="020B0604020202020204" pitchFamily="34" charset="0"/>
              </a:rPr>
              <a:t>  </a:t>
            </a:r>
            <a:endParaRPr lang="en-US" sz="3200" b="1" i="1" dirty="0">
              <a:solidFill>
                <a:schemeClr val="accent1"/>
              </a:solidFill>
              <a:latin typeface="Arial" panose="020B0604020202020204" pitchFamily="34" charset="0"/>
              <a:cs typeface="Arial" panose="020B0604020202020204" pitchFamily="34" charset="0"/>
            </a:endParaRPr>
          </a:p>
          <a:p>
            <a:pPr marL="342900" indent="-342900" fontAlgn="base">
              <a:spcAft>
                <a:spcPts val="1500"/>
              </a:spcAft>
              <a:buFont typeface="Wingdings" panose="05000000000000000000" pitchFamily="2" charset="2"/>
              <a:buChar char="§"/>
            </a:pPr>
            <a:r>
              <a:rPr lang="en-US" b="1" dirty="0">
                <a:solidFill>
                  <a:schemeClr val="accent1"/>
                </a:solidFill>
              </a:rPr>
              <a:t>Collaboration avec des </a:t>
            </a:r>
            <a:r>
              <a:rPr lang="en-US" b="1" dirty="0" err="1">
                <a:solidFill>
                  <a:schemeClr val="accent1"/>
                </a:solidFill>
              </a:rPr>
              <a:t>établissements</a:t>
            </a:r>
            <a:r>
              <a:rPr lang="en-US" b="1" dirty="0">
                <a:solidFill>
                  <a:schemeClr val="accent1"/>
                </a:solidFill>
              </a:rPr>
              <a:t> </a:t>
            </a:r>
            <a:r>
              <a:rPr lang="en-US" b="1" dirty="0" err="1">
                <a:solidFill>
                  <a:schemeClr val="accent1"/>
                </a:solidFill>
              </a:rPr>
              <a:t>universitaires</a:t>
            </a:r>
            <a:r>
              <a:rPr lang="en-US" b="1" dirty="0">
                <a:solidFill>
                  <a:schemeClr val="accent1"/>
                </a:solidFill>
              </a:rPr>
              <a:t> </a:t>
            </a:r>
            <a:r>
              <a:rPr lang="en-US" b="1" dirty="0" err="1">
                <a:solidFill>
                  <a:schemeClr val="accent1"/>
                </a:solidFill>
              </a:rPr>
              <a:t>partout</a:t>
            </a:r>
            <a:r>
              <a:rPr lang="en-US" b="1" dirty="0">
                <a:solidFill>
                  <a:schemeClr val="accent1"/>
                </a:solidFill>
              </a:rPr>
              <a:t> au Canada : </a:t>
            </a:r>
            <a:r>
              <a:rPr lang="en-US" dirty="0"/>
              <a:t>Avec </a:t>
            </a:r>
            <a:r>
              <a:rPr lang="en-US" dirty="0" err="1"/>
              <a:t>Statistique</a:t>
            </a:r>
            <a:r>
              <a:rPr lang="en-US" dirty="0"/>
              <a:t> Canada, nous </a:t>
            </a:r>
            <a:r>
              <a:rPr lang="en-US" dirty="0" err="1"/>
              <a:t>permettons</a:t>
            </a:r>
            <a:r>
              <a:rPr lang="en-US" dirty="0"/>
              <a:t> à des </a:t>
            </a:r>
            <a:r>
              <a:rPr lang="en-US" dirty="0" err="1"/>
              <a:t>chercheuses</a:t>
            </a:r>
            <a:r>
              <a:rPr lang="en-US" dirty="0"/>
              <a:t> et </a:t>
            </a:r>
            <a:r>
              <a:rPr lang="en-US" dirty="0" err="1"/>
              <a:t>chercheurs</a:t>
            </a:r>
            <a:r>
              <a:rPr lang="en-US" dirty="0"/>
              <a:t> de 45 </a:t>
            </a:r>
            <a:r>
              <a:rPr lang="en-US" dirty="0" err="1"/>
              <a:t>universités</a:t>
            </a:r>
            <a:r>
              <a:rPr lang="en-US" dirty="0"/>
              <a:t> </a:t>
            </a:r>
            <a:r>
              <a:rPr lang="en-US" dirty="0" err="1"/>
              <a:t>d’avoir</a:t>
            </a:r>
            <a:r>
              <a:rPr lang="en-US" dirty="0"/>
              <a:t> </a:t>
            </a:r>
            <a:r>
              <a:rPr lang="en-US" dirty="0" err="1"/>
              <a:t>accès</a:t>
            </a:r>
            <a:r>
              <a:rPr lang="en-US" dirty="0"/>
              <a:t> à des </a:t>
            </a:r>
            <a:r>
              <a:rPr lang="en-US" dirty="0" err="1"/>
              <a:t>microdonnées</a:t>
            </a:r>
            <a:r>
              <a:rPr lang="en-US" dirty="0"/>
              <a:t> de </a:t>
            </a:r>
            <a:r>
              <a:rPr lang="en-US" dirty="0" err="1"/>
              <a:t>grande</a:t>
            </a:r>
            <a:r>
              <a:rPr lang="en-US" dirty="0"/>
              <a:t> </a:t>
            </a:r>
            <a:r>
              <a:rPr lang="en-US" dirty="0" err="1"/>
              <a:t>valeur</a:t>
            </a:r>
            <a:r>
              <a:rPr lang="en-US" dirty="0"/>
              <a:t> </a:t>
            </a:r>
            <a:r>
              <a:rPr lang="en-US" dirty="0" err="1"/>
              <a:t>portant</a:t>
            </a:r>
            <a:r>
              <a:rPr lang="en-US" dirty="0"/>
              <a:t> sur les </a:t>
            </a:r>
            <a:r>
              <a:rPr lang="en-US" dirty="0" err="1"/>
              <a:t>individus</a:t>
            </a:r>
            <a:r>
              <a:rPr lang="en-US" dirty="0"/>
              <a:t>, les ménages et les </a:t>
            </a:r>
            <a:r>
              <a:rPr lang="en-US" dirty="0" err="1"/>
              <a:t>entreprises</a:t>
            </a:r>
            <a:r>
              <a:rPr lang="en-US" dirty="0"/>
              <a:t> </a:t>
            </a:r>
            <a:r>
              <a:rPr lang="en-US" dirty="0" err="1"/>
              <a:t>canadiennes</a:t>
            </a:r>
            <a:r>
              <a:rPr lang="en-US" dirty="0"/>
              <a:t>.</a:t>
            </a:r>
          </a:p>
          <a:p>
            <a:pPr marL="342900" indent="-342900" fontAlgn="base">
              <a:spcAft>
                <a:spcPts val="1500"/>
              </a:spcAft>
              <a:buFont typeface="Wingdings" panose="05000000000000000000" pitchFamily="2" charset="2"/>
              <a:buChar char="§"/>
            </a:pPr>
            <a:r>
              <a:rPr lang="en-US" b="1" dirty="0">
                <a:solidFill>
                  <a:schemeClr val="accent1"/>
                </a:solidFill>
              </a:rPr>
              <a:t>Plus de 2 500 </a:t>
            </a:r>
            <a:r>
              <a:rPr lang="en-US" b="1" dirty="0" err="1">
                <a:solidFill>
                  <a:schemeClr val="accent1"/>
                </a:solidFill>
              </a:rPr>
              <a:t>chercheuses</a:t>
            </a:r>
            <a:r>
              <a:rPr lang="en-US" b="1" dirty="0">
                <a:solidFill>
                  <a:schemeClr val="accent1"/>
                </a:solidFill>
              </a:rPr>
              <a:t> et </a:t>
            </a:r>
            <a:r>
              <a:rPr lang="en-US" b="1" dirty="0" err="1">
                <a:solidFill>
                  <a:schemeClr val="accent1"/>
                </a:solidFill>
              </a:rPr>
              <a:t>chercheurs</a:t>
            </a:r>
            <a:r>
              <a:rPr lang="en-US" b="1" dirty="0">
                <a:solidFill>
                  <a:schemeClr val="accent1"/>
                </a:solidFill>
              </a:rPr>
              <a:t> </a:t>
            </a:r>
            <a:r>
              <a:rPr lang="en-US" b="1" dirty="0" err="1">
                <a:solidFill>
                  <a:schemeClr val="accent1"/>
                </a:solidFill>
              </a:rPr>
              <a:t>affiliés</a:t>
            </a:r>
            <a:r>
              <a:rPr lang="en-US" b="1" dirty="0">
                <a:solidFill>
                  <a:schemeClr val="accent1"/>
                </a:solidFill>
              </a:rPr>
              <a:t> au RCCDR : </a:t>
            </a:r>
            <a:r>
              <a:rPr lang="en-US" dirty="0"/>
              <a:t>Nous </a:t>
            </a:r>
            <a:r>
              <a:rPr lang="en-US" dirty="0" err="1"/>
              <a:t>mettons</a:t>
            </a:r>
            <a:r>
              <a:rPr lang="en-US" dirty="0"/>
              <a:t> à profit </a:t>
            </a:r>
            <a:r>
              <a:rPr lang="en-US" dirty="0" err="1"/>
              <a:t>leurs</a:t>
            </a:r>
            <a:r>
              <a:rPr lang="en-US" dirty="0"/>
              <a:t> </a:t>
            </a:r>
            <a:r>
              <a:rPr lang="en-US" dirty="0" err="1"/>
              <a:t>connaissances</a:t>
            </a:r>
            <a:r>
              <a:rPr lang="en-US" dirty="0"/>
              <a:t> et </a:t>
            </a:r>
            <a:r>
              <a:rPr lang="en-US" dirty="0" err="1"/>
              <a:t>leur</a:t>
            </a:r>
            <a:r>
              <a:rPr lang="en-US" dirty="0"/>
              <a:t> expertise </a:t>
            </a:r>
            <a:r>
              <a:rPr lang="en-US" dirty="0" err="1"/>
              <a:t>partout</a:t>
            </a:r>
            <a:r>
              <a:rPr lang="en-US" dirty="0"/>
              <a:t> à travers le pays pour faire </a:t>
            </a:r>
            <a:r>
              <a:rPr lang="en-US" dirty="0" err="1"/>
              <a:t>progresser</a:t>
            </a:r>
            <a:r>
              <a:rPr lang="en-US" dirty="0"/>
              <a:t> la recherche et </a:t>
            </a:r>
            <a:r>
              <a:rPr lang="en-US" dirty="0" err="1"/>
              <a:t>contribuer</a:t>
            </a:r>
            <a:r>
              <a:rPr lang="en-US" dirty="0"/>
              <a:t> à </a:t>
            </a:r>
            <a:r>
              <a:rPr lang="en-US" dirty="0" err="1"/>
              <a:t>une</a:t>
            </a:r>
            <a:r>
              <a:rPr lang="en-US" dirty="0"/>
              <a:t> </a:t>
            </a:r>
            <a:r>
              <a:rPr lang="en-US" dirty="0" err="1"/>
              <a:t>prise</a:t>
            </a:r>
            <a:r>
              <a:rPr lang="en-US" dirty="0"/>
              <a:t> de </a:t>
            </a:r>
            <a:r>
              <a:rPr lang="en-US" dirty="0" err="1"/>
              <a:t>décision</a:t>
            </a:r>
            <a:r>
              <a:rPr lang="en-US" dirty="0"/>
              <a:t> </a:t>
            </a:r>
            <a:r>
              <a:rPr lang="en-US" dirty="0" err="1"/>
              <a:t>fondée</a:t>
            </a:r>
            <a:r>
              <a:rPr lang="en-US" dirty="0"/>
              <a:t> sur des données </a:t>
            </a:r>
            <a:r>
              <a:rPr lang="en-US" dirty="0" err="1"/>
              <a:t>probantes</a:t>
            </a:r>
            <a:r>
              <a:rPr lang="en-US" dirty="0"/>
              <a:t>.</a:t>
            </a:r>
          </a:p>
          <a:p>
            <a:pPr marL="342900" indent="-342900" fontAlgn="base">
              <a:spcAft>
                <a:spcPts val="1500"/>
              </a:spcAft>
              <a:buFont typeface="Wingdings" panose="05000000000000000000" pitchFamily="2" charset="2"/>
              <a:buChar char="§"/>
            </a:pPr>
            <a:r>
              <a:rPr lang="en-US" b="1" dirty="0" err="1">
                <a:solidFill>
                  <a:schemeClr val="accent1"/>
                </a:solidFill>
              </a:rPr>
              <a:t>Écosystème</a:t>
            </a:r>
            <a:r>
              <a:rPr lang="en-US" b="1" dirty="0">
                <a:solidFill>
                  <a:schemeClr val="accent1"/>
                </a:solidFill>
              </a:rPr>
              <a:t> des données de recherche : </a:t>
            </a:r>
            <a:r>
              <a:rPr lang="en-US" dirty="0"/>
              <a:t>Nous </a:t>
            </a:r>
            <a:r>
              <a:rPr lang="en-US" dirty="0" err="1"/>
              <a:t>collaborons</a:t>
            </a:r>
            <a:r>
              <a:rPr lang="en-US" dirty="0"/>
              <a:t> à </a:t>
            </a:r>
            <a:r>
              <a:rPr lang="en-US" dirty="0" err="1"/>
              <a:t>l’échelle</a:t>
            </a:r>
            <a:r>
              <a:rPr lang="en-US" dirty="0"/>
              <a:t> </a:t>
            </a:r>
            <a:r>
              <a:rPr lang="en-US" dirty="0" err="1"/>
              <a:t>nationale</a:t>
            </a:r>
            <a:r>
              <a:rPr lang="en-US" dirty="0"/>
              <a:t> et </a:t>
            </a:r>
            <a:r>
              <a:rPr lang="en-US" dirty="0" err="1"/>
              <a:t>internationale</a:t>
            </a:r>
            <a:r>
              <a:rPr lang="en-US" dirty="0"/>
              <a:t> </a:t>
            </a:r>
            <a:r>
              <a:rPr lang="en-US" dirty="0" err="1"/>
              <a:t>afin</a:t>
            </a:r>
            <a:r>
              <a:rPr lang="en-US" dirty="0"/>
              <a:t> </a:t>
            </a:r>
            <a:r>
              <a:rPr lang="en-US" dirty="0" err="1"/>
              <a:t>d’adopter</a:t>
            </a:r>
            <a:r>
              <a:rPr lang="en-US" dirty="0"/>
              <a:t> et de </a:t>
            </a:r>
            <a:r>
              <a:rPr lang="en-US" dirty="0" err="1"/>
              <a:t>développer</a:t>
            </a:r>
            <a:r>
              <a:rPr lang="en-US" dirty="0"/>
              <a:t> des </a:t>
            </a:r>
            <a:r>
              <a:rPr lang="en-US" dirty="0" err="1"/>
              <a:t>capacités</a:t>
            </a:r>
            <a:r>
              <a:rPr lang="en-US" dirty="0"/>
              <a:t> et des pratiques </a:t>
            </a:r>
            <a:r>
              <a:rPr lang="en-US" dirty="0" err="1"/>
              <a:t>exemplaires</a:t>
            </a:r>
            <a:r>
              <a:rPr lang="en-US" dirty="0"/>
              <a:t>.</a:t>
            </a:r>
          </a:p>
          <a:p>
            <a:pPr marL="342900" indent="-342900" fontAlgn="base">
              <a:spcAft>
                <a:spcPts val="1500"/>
              </a:spcAft>
              <a:buFont typeface="Wingdings" panose="05000000000000000000" pitchFamily="2" charset="2"/>
              <a:buChar char="§"/>
            </a:pPr>
            <a:r>
              <a:rPr lang="en-US" b="1" dirty="0">
                <a:solidFill>
                  <a:schemeClr val="accent1"/>
                </a:solidFill>
              </a:rPr>
              <a:t>Formation : </a:t>
            </a:r>
            <a:r>
              <a:rPr lang="en-US" dirty="0"/>
              <a:t>Nous </a:t>
            </a:r>
            <a:r>
              <a:rPr lang="en-US" dirty="0" err="1"/>
              <a:t>offrons</a:t>
            </a:r>
            <a:r>
              <a:rPr lang="en-US" dirty="0"/>
              <a:t> des formations </a:t>
            </a:r>
            <a:r>
              <a:rPr lang="en-US" dirty="0" err="1"/>
              <a:t>en</a:t>
            </a:r>
            <a:r>
              <a:rPr lang="en-US" dirty="0"/>
              <a:t> </a:t>
            </a:r>
            <a:r>
              <a:rPr lang="en-US" dirty="0" err="1"/>
              <a:t>ligne</a:t>
            </a:r>
            <a:r>
              <a:rPr lang="en-US" dirty="0"/>
              <a:t> </a:t>
            </a:r>
            <a:r>
              <a:rPr lang="en-US" dirty="0" err="1"/>
              <a:t>gratuites</a:t>
            </a:r>
            <a:r>
              <a:rPr lang="en-US" dirty="0"/>
              <a:t>, </a:t>
            </a:r>
            <a:r>
              <a:rPr lang="en-US" dirty="0" err="1"/>
              <a:t>portant</a:t>
            </a:r>
            <a:r>
              <a:rPr lang="en-US" dirty="0"/>
              <a:t> </a:t>
            </a:r>
            <a:r>
              <a:rPr lang="en-US" dirty="0" err="1"/>
              <a:t>notamment</a:t>
            </a:r>
            <a:r>
              <a:rPr lang="en-US" dirty="0"/>
              <a:t> sur les ensembles de données, la gestion des données de recherche, et le processus dans le but </a:t>
            </a:r>
            <a:r>
              <a:rPr lang="en-US" dirty="0" err="1"/>
              <a:t>d’utiliser</a:t>
            </a:r>
            <a:r>
              <a:rPr lang="en-US" dirty="0"/>
              <a:t> les données </a:t>
            </a:r>
            <a:r>
              <a:rPr lang="en-US" dirty="0" err="1"/>
              <a:t>disponibles</a:t>
            </a:r>
            <a:r>
              <a:rPr lang="en-US" dirty="0"/>
              <a:t> </a:t>
            </a:r>
            <a:r>
              <a:rPr lang="en-US" dirty="0" err="1"/>
              <a:t>en</a:t>
            </a:r>
            <a:r>
              <a:rPr lang="en-US" dirty="0"/>
              <a:t> CDR.</a:t>
            </a:r>
          </a:p>
          <a:p>
            <a:pPr marL="342900" indent="-342900" fontAlgn="base">
              <a:spcAft>
                <a:spcPts val="1800"/>
              </a:spcAft>
              <a:buFont typeface="Wingdings" panose="05000000000000000000" pitchFamily="2" charset="2"/>
              <a:buChar char="§"/>
            </a:pPr>
            <a:r>
              <a:rPr lang="en-US" b="1" dirty="0" err="1">
                <a:solidFill>
                  <a:schemeClr val="accent1"/>
                </a:solidFill>
              </a:rPr>
              <a:t>Mobilisation</a:t>
            </a:r>
            <a:r>
              <a:rPr lang="en-US" b="1" dirty="0">
                <a:solidFill>
                  <a:schemeClr val="accent1"/>
                </a:solidFill>
              </a:rPr>
              <a:t> des </a:t>
            </a:r>
            <a:r>
              <a:rPr lang="en-US" b="1" dirty="0" err="1">
                <a:solidFill>
                  <a:schemeClr val="accent1"/>
                </a:solidFill>
              </a:rPr>
              <a:t>connaissances</a:t>
            </a:r>
            <a:r>
              <a:rPr lang="en-US" b="1" dirty="0">
                <a:solidFill>
                  <a:schemeClr val="accent1"/>
                </a:solidFill>
              </a:rPr>
              <a:t> : </a:t>
            </a:r>
            <a:r>
              <a:rPr lang="en-US" dirty="0"/>
              <a:t>Nous </a:t>
            </a:r>
            <a:r>
              <a:rPr lang="en-US" dirty="0" err="1"/>
              <a:t>organisons</a:t>
            </a:r>
            <a:r>
              <a:rPr lang="en-US" dirty="0"/>
              <a:t> des </a:t>
            </a:r>
            <a:r>
              <a:rPr lang="en-US" dirty="0" err="1"/>
              <a:t>webinaires</a:t>
            </a:r>
            <a:r>
              <a:rPr lang="en-US" dirty="0"/>
              <a:t> </a:t>
            </a:r>
            <a:r>
              <a:rPr lang="en-US" dirty="0" err="1"/>
              <a:t>gratuits</a:t>
            </a:r>
            <a:r>
              <a:rPr lang="en-US" dirty="0"/>
              <a:t> et </a:t>
            </a:r>
            <a:r>
              <a:rPr lang="en-US" dirty="0" err="1"/>
              <a:t>produisons</a:t>
            </a:r>
            <a:r>
              <a:rPr lang="en-US" dirty="0"/>
              <a:t> </a:t>
            </a:r>
            <a:br>
              <a:rPr lang="en-US" dirty="0"/>
            </a:br>
            <a:r>
              <a:rPr lang="en-US" dirty="0"/>
              <a:t>des </a:t>
            </a:r>
            <a:r>
              <a:rPr lang="en-US" dirty="0" err="1"/>
              <a:t>synthèses</a:t>
            </a:r>
            <a:r>
              <a:rPr lang="en-US" dirty="0"/>
              <a:t> recherche-politiques.</a:t>
            </a:r>
          </a:p>
        </p:txBody>
      </p:sp>
    </p:spTree>
    <p:extLst>
      <p:ext uri="{BB962C8B-B14F-4D97-AF65-F5344CB8AC3E}">
        <p14:creationId xmlns:p14="http://schemas.microsoft.com/office/powerpoint/2010/main" val="873667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2E733-9B9F-32E0-25EE-E9C6128DAC0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07A597D-B1D3-E997-FDD3-58896A19DAED}"/>
              </a:ext>
            </a:extLst>
          </p:cNvPr>
          <p:cNvSpPr txBox="1"/>
          <p:nvPr/>
        </p:nvSpPr>
        <p:spPr>
          <a:xfrm>
            <a:off x="247135" y="1224502"/>
            <a:ext cx="11809743" cy="5088573"/>
          </a:xfrm>
          <a:prstGeom prst="rect">
            <a:avLst/>
          </a:prstGeom>
          <a:noFill/>
        </p:spPr>
        <p:txBody>
          <a:bodyPr wrap="square" lIns="91440" tIns="45720" rIns="91440" bIns="45720" anchor="t">
            <a:spAutoFit/>
          </a:bodyPr>
          <a:lstStyle/>
          <a:p>
            <a:pPr algn="l" rtl="0" fontAlgn="base">
              <a:spcBef>
                <a:spcPts val="1200"/>
              </a:spcBef>
              <a:spcAft>
                <a:spcPts val="1200"/>
              </a:spcAft>
            </a:pPr>
            <a:r>
              <a:rPr lang="en-US" sz="3200" b="1" dirty="0">
                <a:solidFill>
                  <a:schemeClr val="accent1"/>
                </a:solidFill>
                <a:latin typeface="Arial" panose="020B0604020202020204" pitchFamily="34" charset="0"/>
                <a:cs typeface="Arial" panose="020B0604020202020204" pitchFamily="34" charset="0"/>
              </a:rPr>
              <a:t>Formation et </a:t>
            </a:r>
            <a:r>
              <a:rPr lang="en-US" sz="3200" b="1" dirty="0" err="1">
                <a:solidFill>
                  <a:schemeClr val="accent1"/>
                </a:solidFill>
                <a:latin typeface="Arial" panose="020B0604020202020204" pitchFamily="34" charset="0"/>
                <a:cs typeface="Arial" panose="020B0604020202020204" pitchFamily="34" charset="0"/>
              </a:rPr>
              <a:t>mobilisation</a:t>
            </a:r>
            <a:r>
              <a:rPr lang="en-US" sz="3200" b="1" dirty="0">
                <a:solidFill>
                  <a:schemeClr val="accent1"/>
                </a:solidFill>
                <a:latin typeface="Arial" panose="020B0604020202020204" pitchFamily="34" charset="0"/>
                <a:cs typeface="Arial" panose="020B0604020202020204" pitchFamily="34" charset="0"/>
              </a:rPr>
              <a:t> des </a:t>
            </a:r>
            <a:r>
              <a:rPr lang="en-US" sz="3200" b="1" dirty="0" err="1">
                <a:solidFill>
                  <a:schemeClr val="accent1"/>
                </a:solidFill>
                <a:latin typeface="Arial" panose="020B0604020202020204" pitchFamily="34" charset="0"/>
                <a:cs typeface="Arial" panose="020B0604020202020204" pitchFamily="34" charset="0"/>
              </a:rPr>
              <a:t>connaissances</a:t>
            </a:r>
            <a:r>
              <a:rPr lang="en-US" sz="3200" b="1" dirty="0">
                <a:solidFill>
                  <a:schemeClr val="accent1"/>
                </a:solidFill>
                <a:latin typeface="Arial" panose="020B0604020202020204" pitchFamily="34" charset="0"/>
                <a:cs typeface="Arial" panose="020B0604020202020204" pitchFamily="34" charset="0"/>
              </a:rPr>
              <a:t> au RCCDR</a:t>
            </a:r>
          </a:p>
          <a:p>
            <a:pPr algn="l" rtl="0" fontAlgn="base">
              <a:spcAft>
                <a:spcPts val="800"/>
              </a:spcAft>
            </a:pPr>
            <a:r>
              <a:rPr lang="en-US" sz="2000" b="1" dirty="0"/>
              <a:t>Formation</a:t>
            </a:r>
            <a:endParaRPr lang="en-US" sz="2000" dirty="0"/>
          </a:p>
          <a:p>
            <a:pPr marL="342900" indent="-342900" fontAlgn="base">
              <a:spcAft>
                <a:spcPts val="600"/>
              </a:spcAft>
              <a:buFont typeface="Arial" panose="020B0604020202020204" pitchFamily="34" charset="0"/>
              <a:buChar char="•"/>
            </a:pPr>
            <a:r>
              <a:rPr lang="fr-CA" dirty="0"/>
              <a:t>Domaines prioritaires pour la formation selon notre plan 2024-2029 : ensembles de données dans les CDR et travail avec les données; utilisation des Centres de données de recherche; travail avec les données des Premières Nations, des Inuits et des Métis; mobilisation des connaissances et communication des politiques; développement professionnel dans l’écosystème des données de recherche.</a:t>
            </a:r>
            <a:endParaRPr lang="en-US" dirty="0"/>
          </a:p>
          <a:p>
            <a:pPr marL="342900" indent="-342900" fontAlgn="base">
              <a:spcAft>
                <a:spcPts val="600"/>
              </a:spcAft>
              <a:buFont typeface="Arial" panose="020B0604020202020204" pitchFamily="34" charset="0"/>
              <a:buChar char="•"/>
            </a:pPr>
            <a:r>
              <a:rPr lang="fr-CA" i="1" dirty="0">
                <a:solidFill>
                  <a:schemeClr val="accent1"/>
                </a:solidFill>
              </a:rPr>
              <a:t>Nouvelle initiative </a:t>
            </a:r>
            <a:r>
              <a:rPr lang="fr-CA" dirty="0"/>
              <a:t>: Partenariat avec des organisations gouvernementales et axées sur la recherche pour offrir un financement de contrepartie au programme des chercheurs émergents du RCCDR, destiné aux doctorantes et doctorants menant des projets à partir des données des CDR.</a:t>
            </a:r>
          </a:p>
          <a:p>
            <a:pPr fontAlgn="base">
              <a:spcBef>
                <a:spcPts val="600"/>
              </a:spcBef>
              <a:spcAft>
                <a:spcPts val="800"/>
              </a:spcAft>
            </a:pPr>
            <a:r>
              <a:rPr lang="fr-CA" sz="2000" b="1" dirty="0"/>
              <a:t>Mobilisation des connaissances</a:t>
            </a:r>
          </a:p>
          <a:p>
            <a:pPr marL="342900" indent="-342900" fontAlgn="base">
              <a:buFont typeface="Arial" panose="020B0604020202020204" pitchFamily="34" charset="0"/>
              <a:buChar char="•"/>
            </a:pPr>
            <a:r>
              <a:rPr lang="fr-CA" dirty="0"/>
              <a:t>Le RCCDR collabore avec deux revues — </a:t>
            </a:r>
            <a:r>
              <a:rPr lang="fr-CA" i="1" dirty="0"/>
              <a:t>Politiques canadiennes</a:t>
            </a:r>
            <a:r>
              <a:rPr lang="fr-CA" dirty="0"/>
              <a:t> et </a:t>
            </a:r>
            <a:r>
              <a:rPr lang="fr-CA" i="1" dirty="0"/>
              <a:t>Revue canadienne d’économique</a:t>
            </a:r>
            <a:r>
              <a:rPr lang="fr-CA" dirty="0"/>
              <a:t> — pour organiser des webinaires mettant en valeur des travaux à paraître ou récemment publiés par des chercheuses </a:t>
            </a:r>
            <a:br>
              <a:rPr lang="fr-CA" dirty="0"/>
            </a:br>
            <a:r>
              <a:rPr lang="fr-CA" dirty="0"/>
              <a:t>et chercheurs du Réseau.</a:t>
            </a:r>
            <a:endParaRPr lang="en-US" dirty="0"/>
          </a:p>
          <a:p>
            <a:pPr marL="342900" indent="-342900" fontAlgn="base">
              <a:buFont typeface="Arial" panose="020B0604020202020204" pitchFamily="34" charset="0"/>
              <a:buChar char="•"/>
            </a:pPr>
            <a:r>
              <a:rPr lang="fr-CA" dirty="0"/>
              <a:t>Le RCCDR publie également des fiches recherche-politiques résumant les résultats de </a:t>
            </a:r>
            <a:br>
              <a:rPr lang="fr-CA" dirty="0"/>
            </a:br>
            <a:r>
              <a:rPr lang="fr-CA" dirty="0"/>
              <a:t>publications scientifiques ou de rapports de politiques réalisés par ses membres.</a:t>
            </a:r>
            <a:endParaRPr lang="en-US" dirty="0"/>
          </a:p>
        </p:txBody>
      </p:sp>
    </p:spTree>
    <p:extLst>
      <p:ext uri="{BB962C8B-B14F-4D97-AF65-F5344CB8AC3E}">
        <p14:creationId xmlns:p14="http://schemas.microsoft.com/office/powerpoint/2010/main" val="137512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247135" y="1155922"/>
            <a:ext cx="11371124" cy="5078313"/>
          </a:xfrm>
          <a:prstGeom prst="rect">
            <a:avLst/>
          </a:prstGeom>
          <a:noFill/>
        </p:spPr>
        <p:txBody>
          <a:bodyPr wrap="square" lIns="91440" tIns="45720" rIns="91440" bIns="45720" anchor="t">
            <a:spAutoFit/>
          </a:bodyPr>
          <a:lstStyle/>
          <a:p>
            <a:pPr fontAlgn="base">
              <a:spcBef>
                <a:spcPts val="1200"/>
              </a:spcBef>
              <a:spcAft>
                <a:spcPts val="600"/>
              </a:spcAft>
            </a:pPr>
            <a:r>
              <a:rPr lang="en-US" sz="3200" b="1" dirty="0">
                <a:solidFill>
                  <a:schemeClr val="accent1"/>
                </a:solidFill>
                <a:latin typeface="Arial" panose="020B0604020202020204" pitchFamily="34" charset="0"/>
                <a:cs typeface="Arial" panose="020B0604020202020204" pitchFamily="34" charset="0"/>
              </a:rPr>
              <a:t>Ce </a:t>
            </a:r>
            <a:r>
              <a:rPr lang="en-US" sz="3200" b="1" dirty="0" err="1">
                <a:solidFill>
                  <a:schemeClr val="accent1"/>
                </a:solidFill>
                <a:latin typeface="Arial" panose="020B0604020202020204" pitchFamily="34" charset="0"/>
                <a:cs typeface="Arial" panose="020B0604020202020204" pitchFamily="34" charset="0"/>
              </a:rPr>
              <a:t>qu’il</a:t>
            </a:r>
            <a:r>
              <a:rPr lang="en-US" sz="3200" b="1" dirty="0">
                <a:solidFill>
                  <a:schemeClr val="accent1"/>
                </a:solidFill>
                <a:latin typeface="Arial" panose="020B0604020202020204" pitchFamily="34" charset="0"/>
                <a:cs typeface="Arial" panose="020B0604020202020204" pitchFamily="34" charset="0"/>
              </a:rPr>
              <a:t> faut savoir sur les </a:t>
            </a:r>
            <a:r>
              <a:rPr lang="en-US" sz="3200" b="1" dirty="0" err="1">
                <a:solidFill>
                  <a:schemeClr val="accent1"/>
                </a:solidFill>
                <a:latin typeface="Arial" panose="020B0604020202020204" pitchFamily="34" charset="0"/>
                <a:cs typeface="Arial" panose="020B0604020202020204" pitchFamily="34" charset="0"/>
              </a:rPr>
              <a:t>chercheuses</a:t>
            </a:r>
            <a:r>
              <a:rPr lang="en-US" sz="3200" b="1" dirty="0">
                <a:solidFill>
                  <a:schemeClr val="accent1"/>
                </a:solidFill>
                <a:latin typeface="Arial" panose="020B0604020202020204" pitchFamily="34" charset="0"/>
                <a:cs typeface="Arial" panose="020B0604020202020204" pitchFamily="34" charset="0"/>
              </a:rPr>
              <a:t> et </a:t>
            </a:r>
            <a:r>
              <a:rPr lang="en-US" sz="3200" b="1" dirty="0" err="1">
                <a:solidFill>
                  <a:schemeClr val="accent1"/>
                </a:solidFill>
                <a:latin typeface="Arial" panose="020B0604020202020204" pitchFamily="34" charset="0"/>
                <a:cs typeface="Arial" panose="020B0604020202020204" pitchFamily="34" charset="0"/>
              </a:rPr>
              <a:t>chercheurs</a:t>
            </a:r>
            <a:r>
              <a:rPr lang="en-US" sz="3200" b="1" dirty="0">
                <a:solidFill>
                  <a:schemeClr val="accent1"/>
                </a:solidFill>
                <a:latin typeface="Arial" panose="020B0604020202020204" pitchFamily="34" charset="0"/>
                <a:cs typeface="Arial" panose="020B0604020202020204" pitchFamily="34" charset="0"/>
              </a:rPr>
              <a:t> </a:t>
            </a:r>
            <a:br>
              <a:rPr lang="en-US" sz="3200" b="1" dirty="0">
                <a:solidFill>
                  <a:schemeClr val="accent1"/>
                </a:solidFill>
                <a:latin typeface="Arial" panose="020B0604020202020204" pitchFamily="34" charset="0"/>
                <a:cs typeface="Arial" panose="020B0604020202020204" pitchFamily="34" charset="0"/>
              </a:rPr>
            </a:br>
            <a:r>
              <a:rPr lang="en-US" sz="3200" b="1" dirty="0">
                <a:solidFill>
                  <a:schemeClr val="accent1"/>
                </a:solidFill>
                <a:latin typeface="Arial" panose="020B0604020202020204" pitchFamily="34" charset="0"/>
                <a:cs typeface="Arial" panose="020B0604020202020204" pitchFamily="34" charset="0"/>
              </a:rPr>
              <a:t>du RCCDR</a:t>
            </a:r>
            <a:endParaRPr lang="en-US" sz="3200" i="1" dirty="0"/>
          </a:p>
          <a:p>
            <a:pPr marL="342900" indent="-342900" fontAlgn="base">
              <a:spcBef>
                <a:spcPts val="600"/>
              </a:spcBef>
              <a:spcAft>
                <a:spcPts val="600"/>
              </a:spcAft>
              <a:buFont typeface="Wingdings" panose="05000000000000000000" pitchFamily="2" charset="2"/>
              <a:buChar char="§"/>
            </a:pPr>
            <a:r>
              <a:rPr lang="en-US" sz="2000" b="1" dirty="0" err="1">
                <a:solidFill>
                  <a:schemeClr val="accent1"/>
                </a:solidFill>
                <a:cs typeface="Arial" panose="020B0604020202020204" pitchFamily="34" charset="0"/>
              </a:rPr>
              <a:t>Universités</a:t>
            </a:r>
            <a:r>
              <a:rPr lang="en-US" sz="2000" b="1" dirty="0">
                <a:solidFill>
                  <a:schemeClr val="accent1"/>
                </a:solidFill>
                <a:cs typeface="Arial" panose="020B0604020202020204" pitchFamily="34" charset="0"/>
              </a:rPr>
              <a:t> et </a:t>
            </a:r>
            <a:r>
              <a:rPr lang="en-US" sz="2000" b="1" dirty="0" err="1">
                <a:solidFill>
                  <a:schemeClr val="accent1"/>
                </a:solidFill>
                <a:cs typeface="Arial" panose="020B0604020202020204" pitchFamily="34" charset="0"/>
              </a:rPr>
              <a:t>autres</a:t>
            </a:r>
            <a:r>
              <a:rPr lang="en-US" sz="2000" b="1" dirty="0">
                <a:solidFill>
                  <a:schemeClr val="accent1"/>
                </a:solidFill>
                <a:cs typeface="Arial" panose="020B0604020202020204" pitchFamily="34" charset="0"/>
              </a:rPr>
              <a:t> </a:t>
            </a:r>
            <a:r>
              <a:rPr lang="en-US" sz="2000" b="1" dirty="0" err="1">
                <a:solidFill>
                  <a:schemeClr val="accent1"/>
                </a:solidFill>
                <a:cs typeface="Arial" panose="020B0604020202020204" pitchFamily="34" charset="0"/>
              </a:rPr>
              <a:t>secteurs</a:t>
            </a:r>
            <a:r>
              <a:rPr lang="en-US" sz="2000" b="1" dirty="0">
                <a:solidFill>
                  <a:schemeClr val="accent1"/>
                </a:solidFill>
                <a:cs typeface="Arial" panose="020B0604020202020204" pitchFamily="34" charset="0"/>
              </a:rPr>
              <a:t> </a:t>
            </a:r>
            <a:r>
              <a:rPr lang="en-US" sz="2000" dirty="0">
                <a:cs typeface="Arial" panose="020B0604020202020204" pitchFamily="34" charset="0"/>
              </a:rPr>
              <a:t>: </a:t>
            </a:r>
            <a:r>
              <a:rPr lang="en-US" sz="2000" dirty="0" err="1">
                <a:cs typeface="Arial" panose="020B0604020202020204" pitchFamily="34" charset="0"/>
              </a:rPr>
              <a:t>L’an</a:t>
            </a:r>
            <a:r>
              <a:rPr lang="en-US" sz="2000" dirty="0">
                <a:cs typeface="Arial" panose="020B0604020202020204" pitchFamily="34" charset="0"/>
              </a:rPr>
              <a:t> dernier, les </a:t>
            </a:r>
            <a:r>
              <a:rPr lang="en-US" sz="2000" dirty="0" err="1">
                <a:cs typeface="Arial" panose="020B0604020202020204" pitchFamily="34" charset="0"/>
              </a:rPr>
              <a:t>chercheuses</a:t>
            </a:r>
            <a:r>
              <a:rPr lang="en-US" sz="2000" dirty="0">
                <a:cs typeface="Arial" panose="020B0604020202020204" pitchFamily="34" charset="0"/>
              </a:rPr>
              <a:t> et </a:t>
            </a:r>
            <a:r>
              <a:rPr lang="en-US" sz="2000" dirty="0" err="1">
                <a:cs typeface="Arial" panose="020B0604020202020204" pitchFamily="34" charset="0"/>
              </a:rPr>
              <a:t>chercheurs</a:t>
            </a:r>
            <a:r>
              <a:rPr lang="en-US" sz="2000" dirty="0">
                <a:cs typeface="Arial" panose="020B0604020202020204" pitchFamily="34" charset="0"/>
              </a:rPr>
              <a:t> du RCCDR </a:t>
            </a:r>
            <a:r>
              <a:rPr lang="en-US" sz="2000" dirty="0" err="1">
                <a:cs typeface="Arial" panose="020B0604020202020204" pitchFamily="34" charset="0"/>
              </a:rPr>
              <a:t>représentaient</a:t>
            </a:r>
            <a:r>
              <a:rPr lang="en-US" sz="2000" dirty="0">
                <a:cs typeface="Arial" panose="020B0604020202020204" pitchFamily="34" charset="0"/>
              </a:rPr>
              <a:t> 45 </a:t>
            </a:r>
            <a:r>
              <a:rPr lang="en-US" sz="2000" dirty="0" err="1">
                <a:cs typeface="Arial" panose="020B0604020202020204" pitchFamily="34" charset="0"/>
              </a:rPr>
              <a:t>établissements</a:t>
            </a:r>
            <a:r>
              <a:rPr lang="en-US" sz="2000" dirty="0">
                <a:cs typeface="Arial" panose="020B0604020202020204" pitchFamily="34" charset="0"/>
              </a:rPr>
              <a:t> </a:t>
            </a:r>
            <a:r>
              <a:rPr lang="en-US" sz="2000" dirty="0" err="1">
                <a:cs typeface="Arial" panose="020B0604020202020204" pitchFamily="34" charset="0"/>
              </a:rPr>
              <a:t>postsecondaires</a:t>
            </a:r>
            <a:r>
              <a:rPr lang="en-US" sz="2000" dirty="0">
                <a:cs typeface="Arial" panose="020B0604020202020204" pitchFamily="34" charset="0"/>
              </a:rPr>
              <a:t> </a:t>
            </a:r>
            <a:r>
              <a:rPr lang="en-US" sz="2000" dirty="0" err="1">
                <a:cs typeface="Arial" panose="020B0604020202020204" pitchFamily="34" charset="0"/>
              </a:rPr>
              <a:t>canadiens</a:t>
            </a:r>
            <a:r>
              <a:rPr lang="en-US" sz="2000" dirty="0">
                <a:cs typeface="Arial" panose="020B0604020202020204" pitchFamily="34" charset="0"/>
              </a:rPr>
              <a:t>, 7 </a:t>
            </a:r>
            <a:r>
              <a:rPr lang="en-US" sz="2000" dirty="0" err="1">
                <a:cs typeface="Arial" panose="020B0604020202020204" pitchFamily="34" charset="0"/>
              </a:rPr>
              <a:t>hôpitaux</a:t>
            </a:r>
            <a:r>
              <a:rPr lang="en-US" sz="2000" dirty="0">
                <a:cs typeface="Arial" panose="020B0604020202020204" pitchFamily="34" charset="0"/>
              </a:rPr>
              <a:t> </a:t>
            </a:r>
            <a:r>
              <a:rPr lang="en-US" sz="2000" dirty="0" err="1">
                <a:cs typeface="Arial" panose="020B0604020202020204" pitchFamily="34" charset="0"/>
              </a:rPr>
              <a:t>ou</a:t>
            </a:r>
            <a:r>
              <a:rPr lang="en-US" sz="2000" dirty="0">
                <a:cs typeface="Arial" panose="020B0604020202020204" pitchFamily="34" charset="0"/>
              </a:rPr>
              <a:t> </a:t>
            </a:r>
            <a:r>
              <a:rPr lang="en-US" sz="2000" dirty="0" err="1">
                <a:cs typeface="Arial" panose="020B0604020202020204" pitchFamily="34" charset="0"/>
              </a:rPr>
              <a:t>autorités</a:t>
            </a:r>
            <a:r>
              <a:rPr lang="en-US" sz="2000" dirty="0">
                <a:cs typeface="Arial" panose="020B0604020202020204" pitchFamily="34" charset="0"/>
              </a:rPr>
              <a:t> sanitaires </a:t>
            </a:r>
            <a:r>
              <a:rPr lang="en-US" sz="2000" dirty="0" err="1">
                <a:cs typeface="Arial" panose="020B0604020202020204" pitchFamily="34" charset="0"/>
              </a:rPr>
              <a:t>canadiennes</a:t>
            </a:r>
            <a:r>
              <a:rPr lang="en-US" sz="2000" dirty="0">
                <a:cs typeface="Arial" panose="020B0604020202020204" pitchFamily="34" charset="0"/>
              </a:rPr>
              <a:t>, 7 </a:t>
            </a:r>
            <a:r>
              <a:rPr lang="en-US" sz="2000" dirty="0" err="1">
                <a:cs typeface="Arial" panose="020B0604020202020204" pitchFamily="34" charset="0"/>
              </a:rPr>
              <a:t>ministères</a:t>
            </a:r>
            <a:r>
              <a:rPr lang="en-US" sz="2000" dirty="0">
                <a:cs typeface="Arial" panose="020B0604020202020204" pitchFamily="34" charset="0"/>
              </a:rPr>
              <a:t> </a:t>
            </a:r>
            <a:r>
              <a:rPr lang="en-US" sz="2000" dirty="0" err="1">
                <a:cs typeface="Arial" panose="020B0604020202020204" pitchFamily="34" charset="0"/>
              </a:rPr>
              <a:t>fédéraux</a:t>
            </a:r>
            <a:r>
              <a:rPr lang="en-US" sz="2000" dirty="0">
                <a:cs typeface="Arial" panose="020B0604020202020204" pitchFamily="34" charset="0"/>
              </a:rPr>
              <a:t> et 16 </a:t>
            </a:r>
            <a:r>
              <a:rPr lang="en-US" sz="2000" dirty="0" err="1">
                <a:cs typeface="Arial" panose="020B0604020202020204" pitchFamily="34" charset="0"/>
              </a:rPr>
              <a:t>organisations</a:t>
            </a:r>
            <a:r>
              <a:rPr lang="en-US" sz="2000" dirty="0">
                <a:cs typeface="Arial" panose="020B0604020202020204" pitchFamily="34" charset="0"/>
              </a:rPr>
              <a:t> du </a:t>
            </a:r>
            <a:r>
              <a:rPr lang="en-US" sz="2000" dirty="0" err="1">
                <a:cs typeface="Arial" panose="020B0604020202020204" pitchFamily="34" charset="0"/>
              </a:rPr>
              <a:t>secteur</a:t>
            </a:r>
            <a:r>
              <a:rPr lang="en-US" sz="2000" dirty="0">
                <a:cs typeface="Arial" panose="020B0604020202020204" pitchFamily="34" charset="0"/>
              </a:rPr>
              <a:t> </a:t>
            </a:r>
            <a:r>
              <a:rPr lang="en-US" sz="2000" dirty="0" err="1">
                <a:cs typeface="Arial" panose="020B0604020202020204" pitchFamily="34" charset="0"/>
              </a:rPr>
              <a:t>privé</a:t>
            </a:r>
            <a:r>
              <a:rPr lang="en-US" sz="2000" dirty="0">
                <a:cs typeface="Arial" panose="020B0604020202020204" pitchFamily="34" charset="0"/>
              </a:rPr>
              <a:t> </a:t>
            </a:r>
            <a:r>
              <a:rPr lang="en-US" sz="2000" dirty="0" err="1">
                <a:cs typeface="Arial" panose="020B0604020202020204" pitchFamily="34" charset="0"/>
              </a:rPr>
              <a:t>ou</a:t>
            </a:r>
            <a:r>
              <a:rPr lang="en-US" sz="2000" dirty="0">
                <a:cs typeface="Arial" panose="020B0604020202020204" pitchFamily="34" charset="0"/>
              </a:rPr>
              <a:t> </a:t>
            </a:r>
            <a:r>
              <a:rPr lang="en-US" sz="2000" dirty="0" err="1">
                <a:cs typeface="Arial" panose="020B0604020202020204" pitchFamily="34" charset="0"/>
              </a:rPr>
              <a:t>internationales</a:t>
            </a:r>
            <a:r>
              <a:rPr lang="en-US" sz="2000" dirty="0">
                <a:cs typeface="Arial" panose="020B0604020202020204" pitchFamily="34" charset="0"/>
              </a:rPr>
              <a:t>.</a:t>
            </a:r>
          </a:p>
          <a:p>
            <a:pPr marL="342900" indent="-342900" fontAlgn="base">
              <a:spcBef>
                <a:spcPts val="600"/>
              </a:spcBef>
              <a:spcAft>
                <a:spcPts val="600"/>
              </a:spcAft>
              <a:buFont typeface="Wingdings" panose="05000000000000000000" pitchFamily="2" charset="2"/>
              <a:buChar char="§"/>
            </a:pPr>
            <a:r>
              <a:rPr lang="en-US" sz="2000" b="1" dirty="0">
                <a:solidFill>
                  <a:schemeClr val="accent1"/>
                </a:solidFill>
                <a:cs typeface="Arial" panose="020B0604020202020204" pitchFamily="34" charset="0"/>
              </a:rPr>
              <a:t>Plus de 30 disciplines </a:t>
            </a:r>
            <a:r>
              <a:rPr lang="en-US" sz="2000" dirty="0">
                <a:cs typeface="Arial" panose="020B0604020202020204" pitchFamily="34" charset="0"/>
              </a:rPr>
              <a:t>: Les </a:t>
            </a:r>
            <a:r>
              <a:rPr lang="en-US" sz="2000" dirty="0" err="1">
                <a:cs typeface="Arial" panose="020B0604020202020204" pitchFamily="34" charset="0"/>
              </a:rPr>
              <a:t>domaines</a:t>
            </a:r>
            <a:r>
              <a:rPr lang="en-US" sz="2000" dirty="0">
                <a:cs typeface="Arial" panose="020B0604020202020204" pitchFamily="34" charset="0"/>
              </a:rPr>
              <a:t> de recherche </a:t>
            </a:r>
            <a:r>
              <a:rPr lang="en-US" sz="2000" dirty="0" err="1">
                <a:cs typeface="Arial" panose="020B0604020202020204" pitchFamily="34" charset="0"/>
              </a:rPr>
              <a:t>comprennent</a:t>
            </a:r>
            <a:r>
              <a:rPr lang="en-US" sz="2000" dirty="0">
                <a:cs typeface="Arial" panose="020B0604020202020204" pitchFamily="34" charset="0"/>
              </a:rPr>
              <a:t> </a:t>
            </a:r>
            <a:r>
              <a:rPr lang="en-US" sz="2000" dirty="0" err="1">
                <a:cs typeface="Arial" panose="020B0604020202020204" pitchFamily="34" charset="0"/>
              </a:rPr>
              <a:t>l’économie</a:t>
            </a:r>
            <a:r>
              <a:rPr lang="en-US" sz="2000" dirty="0">
                <a:cs typeface="Arial" panose="020B0604020202020204" pitchFamily="34" charset="0"/>
              </a:rPr>
              <a:t>, la santé </a:t>
            </a:r>
            <a:r>
              <a:rPr lang="en-US" sz="2000" dirty="0" err="1">
                <a:cs typeface="Arial" panose="020B0604020202020204" pitchFamily="34" charset="0"/>
              </a:rPr>
              <a:t>publique</a:t>
            </a:r>
            <a:r>
              <a:rPr lang="en-US" sz="2000" dirty="0">
                <a:cs typeface="Arial" panose="020B0604020202020204" pitchFamily="34" charset="0"/>
              </a:rPr>
              <a:t>, </a:t>
            </a:r>
            <a:r>
              <a:rPr lang="en-US" sz="2000" dirty="0" err="1">
                <a:cs typeface="Arial" panose="020B0604020202020204" pitchFamily="34" charset="0"/>
              </a:rPr>
              <a:t>l’épidémiologie</a:t>
            </a:r>
            <a:r>
              <a:rPr lang="en-US" sz="2000" dirty="0">
                <a:cs typeface="Arial" panose="020B0604020202020204" pitchFamily="34" charset="0"/>
              </a:rPr>
              <a:t>, la </a:t>
            </a:r>
            <a:r>
              <a:rPr lang="en-US" sz="2000" dirty="0" err="1">
                <a:cs typeface="Arial" panose="020B0604020202020204" pitchFamily="34" charset="0"/>
              </a:rPr>
              <a:t>sociologie</a:t>
            </a:r>
            <a:r>
              <a:rPr lang="en-US" sz="2000" dirty="0">
                <a:cs typeface="Arial" panose="020B0604020202020204" pitchFamily="34" charset="0"/>
              </a:rPr>
              <a:t>, la </a:t>
            </a:r>
            <a:r>
              <a:rPr lang="en-US" sz="2000" dirty="0" err="1">
                <a:cs typeface="Arial" panose="020B0604020202020204" pitchFamily="34" charset="0"/>
              </a:rPr>
              <a:t>démographie</a:t>
            </a:r>
            <a:r>
              <a:rPr lang="en-US" sz="2000" dirty="0">
                <a:cs typeface="Arial" panose="020B0604020202020204" pitchFamily="34" charset="0"/>
              </a:rPr>
              <a:t>, </a:t>
            </a:r>
            <a:r>
              <a:rPr lang="en-US" sz="2000" dirty="0" err="1">
                <a:cs typeface="Arial" panose="020B0604020202020204" pitchFamily="34" charset="0"/>
              </a:rPr>
              <a:t>l’éducation</a:t>
            </a:r>
            <a:r>
              <a:rPr lang="en-US" sz="2000" dirty="0">
                <a:cs typeface="Arial" panose="020B0604020202020204" pitchFamily="34" charset="0"/>
              </a:rPr>
              <a:t>, la </a:t>
            </a:r>
            <a:r>
              <a:rPr lang="en-US" sz="2000" dirty="0" err="1">
                <a:cs typeface="Arial" panose="020B0604020202020204" pitchFamily="34" charset="0"/>
              </a:rPr>
              <a:t>psychologie</a:t>
            </a:r>
            <a:r>
              <a:rPr lang="en-US" sz="2000" dirty="0">
                <a:cs typeface="Arial" panose="020B0604020202020204" pitchFamily="34" charset="0"/>
              </a:rPr>
              <a:t>, la </a:t>
            </a:r>
            <a:r>
              <a:rPr lang="en-US" sz="2000" dirty="0" err="1">
                <a:cs typeface="Arial" panose="020B0604020202020204" pitchFamily="34" charset="0"/>
              </a:rPr>
              <a:t>géographie</a:t>
            </a:r>
            <a:r>
              <a:rPr lang="en-US" sz="2000" dirty="0">
                <a:cs typeface="Arial" panose="020B0604020202020204" pitchFamily="34" charset="0"/>
              </a:rPr>
              <a:t>, les études </a:t>
            </a:r>
            <a:r>
              <a:rPr lang="en-US" sz="2000" dirty="0" err="1">
                <a:cs typeface="Arial" panose="020B0604020202020204" pitchFamily="34" charset="0"/>
              </a:rPr>
              <a:t>urbaines</a:t>
            </a:r>
            <a:r>
              <a:rPr lang="en-US" sz="2000" dirty="0">
                <a:cs typeface="Arial" panose="020B0604020202020204" pitchFamily="34" charset="0"/>
              </a:rPr>
              <a:t>, les relations </a:t>
            </a:r>
            <a:r>
              <a:rPr lang="en-US" sz="2000" dirty="0" err="1">
                <a:cs typeface="Arial" panose="020B0604020202020204" pitchFamily="34" charset="0"/>
              </a:rPr>
              <a:t>industrielles</a:t>
            </a:r>
            <a:r>
              <a:rPr lang="en-US" sz="2000" dirty="0">
                <a:cs typeface="Arial" panose="020B0604020202020204" pitchFamily="34" charset="0"/>
              </a:rPr>
              <a:t>, la </a:t>
            </a:r>
            <a:r>
              <a:rPr lang="en-US" sz="2000" dirty="0" err="1">
                <a:cs typeface="Arial" panose="020B0604020202020204" pitchFamily="34" charset="0"/>
              </a:rPr>
              <a:t>criminologie</a:t>
            </a:r>
            <a:r>
              <a:rPr lang="en-US" sz="2000" dirty="0">
                <a:cs typeface="Arial" panose="020B0604020202020204" pitchFamily="34" charset="0"/>
              </a:rPr>
              <a:t>, les sciences de </a:t>
            </a:r>
            <a:r>
              <a:rPr lang="en-US" sz="2000" dirty="0" err="1">
                <a:cs typeface="Arial" panose="020B0604020202020204" pitchFamily="34" charset="0"/>
              </a:rPr>
              <a:t>l’environnement</a:t>
            </a:r>
            <a:r>
              <a:rPr lang="en-US" sz="2000" dirty="0">
                <a:cs typeface="Arial" panose="020B0604020202020204" pitchFamily="34" charset="0"/>
              </a:rPr>
              <a:t>, la science politique, la </a:t>
            </a:r>
            <a:r>
              <a:rPr lang="en-US" sz="2000" dirty="0" err="1">
                <a:cs typeface="Arial" panose="020B0604020202020204" pitchFamily="34" charset="0"/>
              </a:rPr>
              <a:t>médecine</a:t>
            </a:r>
            <a:r>
              <a:rPr lang="en-US" sz="2000" dirty="0">
                <a:cs typeface="Arial" panose="020B0604020202020204" pitchFamily="34" charset="0"/>
              </a:rPr>
              <a:t> et la </a:t>
            </a:r>
            <a:r>
              <a:rPr lang="en-US" sz="2000" dirty="0" err="1">
                <a:cs typeface="Arial" panose="020B0604020202020204" pitchFamily="34" charset="0"/>
              </a:rPr>
              <a:t>statistique</a:t>
            </a:r>
            <a:r>
              <a:rPr lang="en-US" sz="2000" dirty="0">
                <a:cs typeface="Arial" panose="020B0604020202020204" pitchFamily="34" charset="0"/>
              </a:rPr>
              <a:t>.</a:t>
            </a:r>
          </a:p>
          <a:p>
            <a:pPr marL="342900" indent="-342900" fontAlgn="base">
              <a:spcBef>
                <a:spcPts val="600"/>
              </a:spcBef>
              <a:spcAft>
                <a:spcPts val="600"/>
              </a:spcAft>
              <a:buFont typeface="Wingdings" panose="05000000000000000000" pitchFamily="2" charset="2"/>
              <a:buChar char="§"/>
            </a:pPr>
            <a:r>
              <a:rPr lang="en-US" sz="2000" b="1" dirty="0">
                <a:solidFill>
                  <a:schemeClr val="accent1"/>
                </a:solidFill>
                <a:cs typeface="Arial" panose="020B0604020202020204" pitchFamily="34" charset="0"/>
              </a:rPr>
              <a:t>Français et </a:t>
            </a:r>
            <a:r>
              <a:rPr lang="en-US" sz="2000" b="1" dirty="0" err="1">
                <a:solidFill>
                  <a:schemeClr val="accent1"/>
                </a:solidFill>
                <a:cs typeface="Arial" panose="020B0604020202020204" pitchFamily="34" charset="0"/>
              </a:rPr>
              <a:t>anglais</a:t>
            </a:r>
            <a:r>
              <a:rPr lang="en-US" sz="2000" b="1" dirty="0">
                <a:solidFill>
                  <a:schemeClr val="accent1"/>
                </a:solidFill>
                <a:cs typeface="Arial" panose="020B0604020202020204" pitchFamily="34" charset="0"/>
              </a:rPr>
              <a:t> : </a:t>
            </a:r>
            <a:r>
              <a:rPr lang="en-US" sz="2000" dirty="0">
                <a:cs typeface="Arial" panose="020B0604020202020204" pitchFamily="34" charset="0"/>
              </a:rPr>
              <a:t>Le RCCDR </a:t>
            </a:r>
            <a:r>
              <a:rPr lang="en-US" sz="2000" dirty="0" err="1">
                <a:cs typeface="Arial" panose="020B0604020202020204" pitchFamily="34" charset="0"/>
              </a:rPr>
              <a:t>représente</a:t>
            </a:r>
            <a:r>
              <a:rPr lang="en-US" sz="2000" dirty="0">
                <a:cs typeface="Arial" panose="020B0604020202020204" pitchFamily="34" charset="0"/>
              </a:rPr>
              <a:t> des </a:t>
            </a:r>
            <a:r>
              <a:rPr lang="en-US" sz="2000" dirty="0" err="1">
                <a:cs typeface="Arial" panose="020B0604020202020204" pitchFamily="34" charset="0"/>
              </a:rPr>
              <a:t>chercheuses</a:t>
            </a:r>
            <a:r>
              <a:rPr lang="en-US" sz="2000" dirty="0">
                <a:cs typeface="Arial" panose="020B0604020202020204" pitchFamily="34" charset="0"/>
              </a:rPr>
              <a:t> et </a:t>
            </a:r>
            <a:r>
              <a:rPr lang="en-US" sz="2000" dirty="0" err="1">
                <a:cs typeface="Arial" panose="020B0604020202020204" pitchFamily="34" charset="0"/>
              </a:rPr>
              <a:t>chercheurs</a:t>
            </a:r>
            <a:r>
              <a:rPr lang="en-US" sz="2000" dirty="0">
                <a:cs typeface="Arial" panose="020B0604020202020204" pitchFamily="34" charset="0"/>
              </a:rPr>
              <a:t> </a:t>
            </a:r>
            <a:r>
              <a:rPr lang="en-US" sz="2000" dirty="0" err="1">
                <a:cs typeface="Arial" panose="020B0604020202020204" pitchFamily="34" charset="0"/>
              </a:rPr>
              <a:t>travaillant</a:t>
            </a:r>
            <a:r>
              <a:rPr lang="en-US" sz="2000" dirty="0">
                <a:cs typeface="Arial" panose="020B0604020202020204" pitchFamily="34" charset="0"/>
              </a:rPr>
              <a:t> dans les deux </a:t>
            </a:r>
            <a:r>
              <a:rPr lang="en-US" sz="2000" dirty="0" err="1">
                <a:cs typeface="Arial" panose="020B0604020202020204" pitchFamily="34" charset="0"/>
              </a:rPr>
              <a:t>langues</a:t>
            </a:r>
            <a:r>
              <a:rPr lang="en-US" sz="2000" dirty="0">
                <a:cs typeface="Arial" panose="020B0604020202020204" pitchFamily="34" charset="0"/>
              </a:rPr>
              <a:t> </a:t>
            </a:r>
            <a:r>
              <a:rPr lang="en-US" sz="2000" dirty="0" err="1">
                <a:cs typeface="Arial" panose="020B0604020202020204" pitchFamily="34" charset="0"/>
              </a:rPr>
              <a:t>officielles</a:t>
            </a:r>
            <a:r>
              <a:rPr lang="en-US" sz="2000" dirty="0">
                <a:cs typeface="Arial" panose="020B0604020202020204" pitchFamily="34" charset="0"/>
              </a:rPr>
              <a:t> du Canada.</a:t>
            </a:r>
          </a:p>
          <a:p>
            <a:pPr marL="342900" indent="-342900" fontAlgn="base">
              <a:spcBef>
                <a:spcPts val="600"/>
              </a:spcBef>
              <a:spcAft>
                <a:spcPts val="600"/>
              </a:spcAft>
              <a:buFont typeface="Wingdings" panose="05000000000000000000" pitchFamily="2" charset="2"/>
              <a:buChar char="§"/>
            </a:pPr>
            <a:r>
              <a:rPr lang="en-US" sz="2000" b="1" dirty="0" err="1">
                <a:solidFill>
                  <a:schemeClr val="accent1"/>
                </a:solidFill>
                <a:cs typeface="Arial" panose="020B0604020202020204" pitchFamily="34" charset="0"/>
              </a:rPr>
              <a:t>Diversité</a:t>
            </a:r>
            <a:r>
              <a:rPr lang="en-US" sz="2000" b="1" dirty="0">
                <a:solidFill>
                  <a:schemeClr val="accent1"/>
                </a:solidFill>
                <a:cs typeface="Arial" panose="020B0604020202020204" pitchFamily="34" charset="0"/>
              </a:rPr>
              <a:t> : </a:t>
            </a:r>
            <a:r>
              <a:rPr lang="en-US" sz="2000" dirty="0">
                <a:cs typeface="Arial" panose="020B0604020202020204" pitchFamily="34" charset="0"/>
              </a:rPr>
              <a:t>Les </a:t>
            </a:r>
            <a:r>
              <a:rPr lang="en-US" sz="2000" dirty="0" err="1">
                <a:cs typeface="Arial" panose="020B0604020202020204" pitchFamily="34" charset="0"/>
              </a:rPr>
              <a:t>membres</a:t>
            </a:r>
            <a:r>
              <a:rPr lang="en-US" sz="2000" dirty="0">
                <a:cs typeface="Arial" panose="020B0604020202020204" pitchFamily="34" charset="0"/>
              </a:rPr>
              <a:t> du RCCDR </a:t>
            </a:r>
            <a:r>
              <a:rPr lang="en-US" sz="2000" dirty="0" err="1">
                <a:cs typeface="Arial" panose="020B0604020202020204" pitchFamily="34" charset="0"/>
              </a:rPr>
              <a:t>sont</a:t>
            </a:r>
            <a:r>
              <a:rPr lang="en-US" sz="2000" dirty="0">
                <a:cs typeface="Arial" panose="020B0604020202020204" pitchFamily="34" charset="0"/>
              </a:rPr>
              <a:t> à </a:t>
            </a:r>
            <a:r>
              <a:rPr lang="en-US" sz="2000" dirty="0" err="1">
                <a:cs typeface="Arial" panose="020B0604020202020204" pitchFamily="34" charset="0"/>
              </a:rPr>
              <a:t>différentes</a:t>
            </a:r>
            <a:r>
              <a:rPr lang="en-US" sz="2000" dirty="0">
                <a:cs typeface="Arial" panose="020B0604020202020204" pitchFamily="34" charset="0"/>
              </a:rPr>
              <a:t> étapes de </a:t>
            </a:r>
            <a:r>
              <a:rPr lang="en-US" sz="2000" dirty="0" err="1">
                <a:cs typeface="Arial" panose="020B0604020202020204" pitchFamily="34" charset="0"/>
              </a:rPr>
              <a:t>leur</a:t>
            </a:r>
            <a:r>
              <a:rPr lang="en-US" sz="2000" dirty="0">
                <a:cs typeface="Arial" panose="020B0604020202020204" pitchFamily="34" charset="0"/>
              </a:rPr>
              <a:t> </a:t>
            </a:r>
            <a:r>
              <a:rPr lang="en-US" sz="2000" dirty="0" err="1">
                <a:cs typeface="Arial" panose="020B0604020202020204" pitchFamily="34" charset="0"/>
              </a:rPr>
              <a:t>carrière</a:t>
            </a:r>
            <a:r>
              <a:rPr lang="en-US" sz="2000" dirty="0">
                <a:cs typeface="Arial" panose="020B0604020202020204" pitchFamily="34" charset="0"/>
              </a:rPr>
              <a:t> </a:t>
            </a:r>
            <a:br>
              <a:rPr lang="en-US" sz="2000" dirty="0">
                <a:cs typeface="Arial" panose="020B0604020202020204" pitchFamily="34" charset="0"/>
              </a:rPr>
            </a:br>
            <a:r>
              <a:rPr lang="en-US" sz="2000" dirty="0">
                <a:cs typeface="Arial" panose="020B0604020202020204" pitchFamily="34" charset="0"/>
              </a:rPr>
              <a:t>et </a:t>
            </a:r>
            <a:r>
              <a:rPr lang="en-US" sz="2000" dirty="0" err="1">
                <a:cs typeface="Arial" panose="020B0604020202020204" pitchFamily="34" charset="0"/>
              </a:rPr>
              <a:t>possèdent</a:t>
            </a:r>
            <a:r>
              <a:rPr lang="en-US" sz="2000" dirty="0">
                <a:cs typeface="Arial" panose="020B0604020202020204" pitchFamily="34" charset="0"/>
              </a:rPr>
              <a:t> </a:t>
            </a:r>
            <a:r>
              <a:rPr lang="en-US" sz="2000" dirty="0" err="1">
                <a:cs typeface="Arial" panose="020B0604020202020204" pitchFamily="34" charset="0"/>
              </a:rPr>
              <a:t>une</a:t>
            </a:r>
            <a:r>
              <a:rPr lang="en-US" sz="2000" dirty="0">
                <a:cs typeface="Arial" panose="020B0604020202020204" pitchFamily="34" charset="0"/>
              </a:rPr>
              <a:t> </a:t>
            </a:r>
            <a:r>
              <a:rPr lang="en-US" sz="2000" dirty="0" err="1">
                <a:cs typeface="Arial" panose="020B0604020202020204" pitchFamily="34" charset="0"/>
              </a:rPr>
              <a:t>diversité</a:t>
            </a:r>
            <a:r>
              <a:rPr lang="en-US" sz="2000" dirty="0">
                <a:cs typeface="Arial" panose="020B0604020202020204" pitchFamily="34" charset="0"/>
              </a:rPr>
              <a:t> </a:t>
            </a:r>
            <a:r>
              <a:rPr lang="en-US" sz="2000" dirty="0" err="1">
                <a:cs typeface="Arial" panose="020B0604020202020204" pitchFamily="34" charset="0"/>
              </a:rPr>
              <a:t>d’expériences</a:t>
            </a:r>
            <a:r>
              <a:rPr lang="en-US" sz="2000" dirty="0">
                <a:cs typeface="Arial" panose="020B0604020202020204" pitchFamily="34" charset="0"/>
              </a:rPr>
              <a:t> </a:t>
            </a:r>
            <a:r>
              <a:rPr lang="en-US" sz="2000" dirty="0" err="1">
                <a:cs typeface="Arial" panose="020B0604020202020204" pitchFamily="34" charset="0"/>
              </a:rPr>
              <a:t>vécues</a:t>
            </a:r>
            <a:r>
              <a:rPr lang="en-US" sz="2000" dirty="0">
                <a:cs typeface="Arial" panose="020B0604020202020204" pitchFamily="34" charset="0"/>
              </a:rPr>
              <a:t>.</a:t>
            </a:r>
            <a:endParaRPr lang="en-US" dirty="0"/>
          </a:p>
        </p:txBody>
      </p:sp>
    </p:spTree>
    <p:extLst>
      <p:ext uri="{BB962C8B-B14F-4D97-AF65-F5344CB8AC3E}">
        <p14:creationId xmlns:p14="http://schemas.microsoft.com/office/powerpoint/2010/main" val="215279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3865D-7B12-4E00-9F36-6CF4EFAEB135}"/>
              </a:ext>
            </a:extLst>
          </p:cNvPr>
          <p:cNvSpPr>
            <a:spLocks noGrp="1"/>
          </p:cNvSpPr>
          <p:nvPr>
            <p:ph type="title"/>
          </p:nvPr>
        </p:nvSpPr>
        <p:spPr>
          <a:xfrm>
            <a:off x="400050" y="994611"/>
            <a:ext cx="11637462" cy="1011989"/>
          </a:xfrm>
        </p:spPr>
        <p:txBody>
          <a:bodyPr>
            <a:noAutofit/>
          </a:bodyPr>
          <a:lstStyle/>
          <a:p>
            <a:r>
              <a:rPr lang="en-CA" sz="3200" b="1" dirty="0" err="1">
                <a:solidFill>
                  <a:schemeClr val="accent1"/>
                </a:solidFill>
                <a:cs typeface="Arial"/>
              </a:rPr>
              <a:t>Sujets</a:t>
            </a:r>
            <a:r>
              <a:rPr lang="en-CA" sz="3200" b="1" dirty="0">
                <a:solidFill>
                  <a:schemeClr val="accent1"/>
                </a:solidFill>
                <a:cs typeface="Arial"/>
              </a:rPr>
              <a:t> </a:t>
            </a:r>
            <a:r>
              <a:rPr lang="en-CA" sz="3200" b="1" dirty="0" err="1">
                <a:solidFill>
                  <a:schemeClr val="accent1"/>
                </a:solidFill>
                <a:cs typeface="Arial"/>
              </a:rPr>
              <a:t>couverts</a:t>
            </a:r>
            <a:r>
              <a:rPr lang="en-CA" sz="3200" b="1" dirty="0">
                <a:solidFill>
                  <a:schemeClr val="accent1"/>
                </a:solidFill>
                <a:cs typeface="Arial"/>
              </a:rPr>
              <a:t> par les </a:t>
            </a:r>
            <a:r>
              <a:rPr lang="en-CA" sz="3200" b="1" dirty="0" err="1">
                <a:solidFill>
                  <a:schemeClr val="accent1"/>
                </a:solidFill>
                <a:cs typeface="Arial"/>
              </a:rPr>
              <a:t>microdonnées</a:t>
            </a:r>
            <a:r>
              <a:rPr lang="en-CA" sz="3200" b="1" dirty="0">
                <a:solidFill>
                  <a:schemeClr val="accent1"/>
                </a:solidFill>
                <a:cs typeface="Arial"/>
              </a:rPr>
              <a:t> de </a:t>
            </a:r>
            <a:r>
              <a:rPr lang="en-CA" sz="3200" b="1" dirty="0" err="1">
                <a:solidFill>
                  <a:schemeClr val="accent1"/>
                </a:solidFill>
                <a:cs typeface="Arial"/>
              </a:rPr>
              <a:t>Statistique</a:t>
            </a:r>
            <a:r>
              <a:rPr lang="en-CA" sz="3200" b="1" dirty="0">
                <a:solidFill>
                  <a:schemeClr val="accent1"/>
                </a:solidFill>
                <a:cs typeface="Arial"/>
              </a:rPr>
              <a:t> Canada</a:t>
            </a:r>
          </a:p>
        </p:txBody>
      </p:sp>
      <p:sp>
        <p:nvSpPr>
          <p:cNvPr id="3" name="Content Placeholder 2">
            <a:extLst>
              <a:ext uri="{FF2B5EF4-FFF2-40B4-BE49-F238E27FC236}">
                <a16:creationId xmlns:a16="http://schemas.microsoft.com/office/drawing/2014/main" id="{33216745-F156-41E2-B0F0-5CF31137BA25}"/>
              </a:ext>
            </a:extLst>
          </p:cNvPr>
          <p:cNvSpPr>
            <a:spLocks noGrp="1"/>
          </p:cNvSpPr>
          <p:nvPr>
            <p:ph idx="1"/>
          </p:nvPr>
        </p:nvSpPr>
        <p:spPr>
          <a:xfrm>
            <a:off x="480060" y="2043787"/>
            <a:ext cx="11711940" cy="3652163"/>
          </a:xfrm>
        </p:spPr>
        <p:txBody>
          <a:bodyPr vert="horz" lIns="91440" tIns="45720" rIns="91440" bIns="45720" numCol="3" rtlCol="0" anchor="t">
            <a:noAutofit/>
          </a:bodyPr>
          <a:lstStyle/>
          <a:p>
            <a:pPr>
              <a:spcBef>
                <a:spcPts val="600"/>
              </a:spcBef>
            </a:pPr>
            <a:r>
              <a:rPr lang="fr-CA" sz="1700" dirty="0"/>
              <a:t>Agriculture et alimentation</a:t>
            </a:r>
          </a:p>
          <a:p>
            <a:pPr>
              <a:spcBef>
                <a:spcPts val="600"/>
              </a:spcBef>
            </a:pPr>
            <a:r>
              <a:rPr lang="fr-CA" sz="1700" dirty="0"/>
              <a:t>Services aux entreprises et aux consommateurs, et culture</a:t>
            </a:r>
          </a:p>
          <a:p>
            <a:pPr>
              <a:spcBef>
                <a:spcPts val="600"/>
              </a:spcBef>
            </a:pPr>
            <a:r>
              <a:rPr lang="fr-CA" sz="1700" dirty="0"/>
              <a:t>Performance des entreprises </a:t>
            </a:r>
            <a:br>
              <a:rPr lang="fr-CA" sz="1700" dirty="0"/>
            </a:br>
            <a:r>
              <a:rPr lang="fr-CA" sz="1700" dirty="0"/>
              <a:t>et propriété</a:t>
            </a:r>
          </a:p>
          <a:p>
            <a:pPr>
              <a:spcBef>
                <a:spcPts val="600"/>
              </a:spcBef>
            </a:pPr>
            <a:r>
              <a:rPr lang="fr-CA" sz="1700" dirty="0"/>
              <a:t>Enfance et jeunesse</a:t>
            </a:r>
          </a:p>
          <a:p>
            <a:pPr>
              <a:spcBef>
                <a:spcPts val="600"/>
              </a:spcBef>
            </a:pPr>
            <a:r>
              <a:rPr lang="fr-CA" sz="1700" dirty="0"/>
              <a:t>Construction</a:t>
            </a:r>
          </a:p>
          <a:p>
            <a:pPr>
              <a:spcBef>
                <a:spcPts val="600"/>
              </a:spcBef>
            </a:pPr>
            <a:r>
              <a:rPr lang="fr-CA" sz="1700" dirty="0"/>
              <a:t>Criminalité et justice</a:t>
            </a:r>
          </a:p>
          <a:p>
            <a:pPr>
              <a:spcBef>
                <a:spcPts val="600"/>
              </a:spcBef>
            </a:pPr>
            <a:r>
              <a:rPr lang="fr-CA" sz="1700" dirty="0"/>
              <a:t>Économie et société numériques</a:t>
            </a:r>
          </a:p>
          <a:p>
            <a:pPr>
              <a:spcBef>
                <a:spcPts val="600"/>
              </a:spcBef>
            </a:pPr>
            <a:r>
              <a:rPr lang="fr-CA" sz="1700" dirty="0"/>
              <a:t>Comptes économiques</a:t>
            </a:r>
          </a:p>
          <a:p>
            <a:pPr>
              <a:spcBef>
                <a:spcPts val="600"/>
              </a:spcBef>
            </a:pPr>
            <a:r>
              <a:rPr lang="fr-CA" sz="1700" dirty="0"/>
              <a:t>Éducation, formation et apprentissage</a:t>
            </a:r>
          </a:p>
          <a:p>
            <a:pPr>
              <a:spcBef>
                <a:spcPts val="600"/>
              </a:spcBef>
            </a:pPr>
            <a:r>
              <a:rPr lang="fr-CA" sz="1700" dirty="0"/>
              <a:t>Énergie</a:t>
            </a:r>
          </a:p>
          <a:p>
            <a:pPr>
              <a:spcBef>
                <a:spcPts val="600"/>
              </a:spcBef>
            </a:pPr>
            <a:r>
              <a:rPr lang="fr-CA" sz="1700" dirty="0"/>
              <a:t>Environnement</a:t>
            </a:r>
          </a:p>
          <a:p>
            <a:pPr>
              <a:spcBef>
                <a:spcPts val="600"/>
              </a:spcBef>
            </a:pPr>
            <a:r>
              <a:rPr lang="fr-CA" sz="1700" dirty="0"/>
              <a:t>Familles, ménages et état matrimonial</a:t>
            </a:r>
          </a:p>
          <a:p>
            <a:pPr>
              <a:spcBef>
                <a:spcPts val="600"/>
              </a:spcBef>
            </a:pPr>
            <a:r>
              <a:rPr lang="fr-CA" sz="1700" dirty="0"/>
              <a:t>Gouvernement</a:t>
            </a:r>
          </a:p>
          <a:p>
            <a:pPr>
              <a:spcBef>
                <a:spcPts val="600"/>
              </a:spcBef>
            </a:pPr>
            <a:r>
              <a:rPr lang="fr-CA" sz="1700" dirty="0"/>
              <a:t>Santé</a:t>
            </a:r>
          </a:p>
          <a:p>
            <a:pPr>
              <a:spcBef>
                <a:spcPts val="600"/>
              </a:spcBef>
            </a:pPr>
            <a:r>
              <a:rPr lang="fr-CA" sz="1700" dirty="0"/>
              <a:t>Logement</a:t>
            </a:r>
          </a:p>
          <a:p>
            <a:pPr>
              <a:spcBef>
                <a:spcPts val="600"/>
              </a:spcBef>
            </a:pPr>
            <a:r>
              <a:rPr lang="fr-CA" sz="1700" dirty="0"/>
              <a:t>Immigration et diversité ethnoculturelle</a:t>
            </a:r>
          </a:p>
          <a:p>
            <a:pPr>
              <a:spcBef>
                <a:spcPts val="600"/>
              </a:spcBef>
            </a:pPr>
            <a:r>
              <a:rPr lang="fr-CA" sz="1700" dirty="0"/>
              <a:t>Revenus, pensions, dépenses et patrimoine</a:t>
            </a:r>
          </a:p>
          <a:p>
            <a:pPr>
              <a:spcBef>
                <a:spcPts val="600"/>
              </a:spcBef>
            </a:pPr>
            <a:r>
              <a:rPr lang="fr-CA" sz="1700" dirty="0"/>
              <a:t>Peuples autochtones</a:t>
            </a:r>
          </a:p>
          <a:p>
            <a:pPr>
              <a:spcBef>
                <a:spcPts val="600"/>
              </a:spcBef>
            </a:pPr>
            <a:r>
              <a:rPr lang="fr-CA" sz="1700" dirty="0"/>
              <a:t>Commerce international</a:t>
            </a:r>
          </a:p>
          <a:p>
            <a:pPr>
              <a:spcBef>
                <a:spcPts val="600"/>
              </a:spcBef>
            </a:pPr>
            <a:r>
              <a:rPr lang="fr-CA" sz="1700" dirty="0"/>
              <a:t>Travail</a:t>
            </a:r>
          </a:p>
          <a:p>
            <a:pPr>
              <a:spcBef>
                <a:spcPts val="600"/>
              </a:spcBef>
            </a:pPr>
            <a:r>
              <a:rPr lang="fr-CA" sz="1700" dirty="0"/>
              <a:t>Langues</a:t>
            </a:r>
          </a:p>
          <a:p>
            <a:pPr>
              <a:spcBef>
                <a:spcPts val="600"/>
              </a:spcBef>
            </a:pPr>
            <a:r>
              <a:rPr lang="fr-CA" sz="1700" dirty="0"/>
              <a:t>Secteur de la fabrication (manufacturier)</a:t>
            </a:r>
          </a:p>
          <a:p>
            <a:pPr>
              <a:spcBef>
                <a:spcPts val="600"/>
              </a:spcBef>
            </a:pPr>
            <a:r>
              <a:rPr lang="fr-CA" sz="1700" dirty="0"/>
              <a:t>Population et démographie</a:t>
            </a:r>
          </a:p>
          <a:p>
            <a:pPr>
              <a:spcBef>
                <a:spcPts val="600"/>
              </a:spcBef>
            </a:pPr>
            <a:r>
              <a:rPr lang="fr-CA" sz="1700" dirty="0"/>
              <a:t>Prix et indices des prix</a:t>
            </a:r>
          </a:p>
          <a:p>
            <a:pPr>
              <a:spcBef>
                <a:spcPts val="600"/>
              </a:spcBef>
            </a:pPr>
            <a:r>
              <a:rPr lang="fr-CA" sz="1700" dirty="0"/>
              <a:t>Commerce de détail et de gros</a:t>
            </a:r>
          </a:p>
          <a:p>
            <a:pPr>
              <a:spcBef>
                <a:spcPts val="600"/>
              </a:spcBef>
            </a:pPr>
            <a:r>
              <a:rPr lang="fr-CA" sz="1700" dirty="0"/>
              <a:t>Sciences et technologies</a:t>
            </a:r>
          </a:p>
          <a:p>
            <a:pPr>
              <a:spcBef>
                <a:spcPts val="600"/>
              </a:spcBef>
            </a:pPr>
            <a:r>
              <a:rPr lang="fr-CA" sz="1700" dirty="0"/>
              <a:t>Aînés et vieillissement</a:t>
            </a:r>
          </a:p>
          <a:p>
            <a:pPr>
              <a:spcBef>
                <a:spcPts val="600"/>
              </a:spcBef>
            </a:pPr>
            <a:r>
              <a:rPr lang="fr-CA" sz="1700" dirty="0"/>
              <a:t>Société et communauté</a:t>
            </a:r>
          </a:p>
          <a:p>
            <a:pPr>
              <a:spcBef>
                <a:spcPts val="600"/>
              </a:spcBef>
            </a:pPr>
            <a:r>
              <a:rPr lang="fr-CA" sz="1700" dirty="0"/>
              <a:t>Méthodes statistiques</a:t>
            </a:r>
          </a:p>
          <a:p>
            <a:pPr>
              <a:spcBef>
                <a:spcPts val="600"/>
              </a:spcBef>
            </a:pPr>
            <a:r>
              <a:rPr lang="fr-CA" sz="1700" dirty="0"/>
              <a:t>Transport</a:t>
            </a:r>
          </a:p>
          <a:p>
            <a:pPr>
              <a:spcBef>
                <a:spcPts val="600"/>
              </a:spcBef>
            </a:pPr>
            <a:r>
              <a:rPr lang="fr-CA" sz="1700" dirty="0"/>
              <a:t>Voyages et tourisme</a:t>
            </a:r>
          </a:p>
          <a:p>
            <a:pPr algn="l" rtl="0" fontAlgn="base">
              <a:lnSpc>
                <a:spcPct val="100000"/>
              </a:lnSpc>
              <a:spcBef>
                <a:spcPts val="600"/>
              </a:spcBef>
              <a:buFont typeface="Arial" panose="020B0604020202020204" pitchFamily="34" charset="0"/>
              <a:buChar char="•"/>
            </a:pPr>
            <a:endParaRPr lang="en-CA" sz="1600" b="0" i="0" dirty="0">
              <a:effectLst/>
            </a:endParaRPr>
          </a:p>
        </p:txBody>
      </p:sp>
      <p:sp>
        <p:nvSpPr>
          <p:cNvPr id="5" name="TextBox 4">
            <a:extLst>
              <a:ext uri="{FF2B5EF4-FFF2-40B4-BE49-F238E27FC236}">
                <a16:creationId xmlns:a16="http://schemas.microsoft.com/office/drawing/2014/main" id="{A47C6F98-41C3-CCE5-798D-FF63F1311EBF}"/>
              </a:ext>
            </a:extLst>
          </p:cNvPr>
          <p:cNvSpPr txBox="1"/>
          <p:nvPr/>
        </p:nvSpPr>
        <p:spPr>
          <a:xfrm>
            <a:off x="454342" y="5803315"/>
            <a:ext cx="9172258" cy="369332"/>
          </a:xfrm>
          <a:prstGeom prst="rect">
            <a:avLst/>
          </a:prstGeom>
          <a:noFill/>
        </p:spPr>
        <p:txBody>
          <a:bodyPr wrap="square">
            <a:spAutoFit/>
          </a:bodyPr>
          <a:lstStyle/>
          <a:p>
            <a:r>
              <a:rPr lang="en-US" sz="1800" b="1" dirty="0">
                <a:solidFill>
                  <a:srgbClr val="527CA6"/>
                </a:solidFill>
              </a:rPr>
              <a:t>Question </a:t>
            </a:r>
            <a:r>
              <a:rPr lang="en-US" b="1" dirty="0">
                <a:solidFill>
                  <a:srgbClr val="527CA6"/>
                </a:solidFill>
              </a:rPr>
              <a:t>à </a:t>
            </a:r>
            <a:r>
              <a:rPr lang="en-US" b="1" dirty="0" err="1">
                <a:solidFill>
                  <a:srgbClr val="527CA6"/>
                </a:solidFill>
              </a:rPr>
              <a:t>l’auditoire</a:t>
            </a:r>
            <a:r>
              <a:rPr lang="en-US" b="1" dirty="0">
                <a:solidFill>
                  <a:srgbClr val="527CA6"/>
                </a:solidFill>
              </a:rPr>
              <a:t> </a:t>
            </a:r>
            <a:r>
              <a:rPr lang="en-US" sz="1800" b="1" dirty="0">
                <a:solidFill>
                  <a:srgbClr val="527CA6"/>
                </a:solidFill>
              </a:rPr>
              <a:t>: </a:t>
            </a:r>
            <a:r>
              <a:rPr lang="en-US" sz="1800" dirty="0" err="1"/>
              <a:t>Lesquels</a:t>
            </a:r>
            <a:r>
              <a:rPr lang="en-US" sz="1800" dirty="0"/>
              <a:t> </a:t>
            </a:r>
            <a:r>
              <a:rPr lang="en-US" sz="1800" dirty="0" err="1"/>
              <a:t>parmi</a:t>
            </a:r>
            <a:r>
              <a:rPr lang="en-US" sz="1800" dirty="0"/>
              <a:t> </a:t>
            </a:r>
            <a:r>
              <a:rPr lang="en-US" sz="1800" dirty="0" err="1"/>
              <a:t>ces</a:t>
            </a:r>
            <a:r>
              <a:rPr lang="en-US" sz="1800" dirty="0"/>
              <a:t> </a:t>
            </a:r>
            <a:r>
              <a:rPr lang="en-US" sz="1800" dirty="0" err="1"/>
              <a:t>sujets</a:t>
            </a:r>
            <a:r>
              <a:rPr lang="en-US" sz="1800" dirty="0"/>
              <a:t> </a:t>
            </a:r>
            <a:r>
              <a:rPr lang="en-US" sz="1800" dirty="0" err="1"/>
              <a:t>sont</a:t>
            </a:r>
            <a:r>
              <a:rPr lang="en-US" sz="1800" dirty="0"/>
              <a:t> </a:t>
            </a:r>
            <a:r>
              <a:rPr lang="en-US" sz="1800" dirty="0" err="1"/>
              <a:t>prioritaires</a:t>
            </a:r>
            <a:r>
              <a:rPr lang="en-US" sz="1800" dirty="0"/>
              <a:t> pour </a:t>
            </a:r>
            <a:r>
              <a:rPr lang="en-US" sz="1800" dirty="0" err="1"/>
              <a:t>vous</a:t>
            </a:r>
            <a:r>
              <a:rPr lang="en-US" sz="1800" dirty="0"/>
              <a:t> ?</a:t>
            </a:r>
          </a:p>
        </p:txBody>
      </p:sp>
    </p:spTree>
    <p:extLst>
      <p:ext uri="{BB962C8B-B14F-4D97-AF65-F5344CB8AC3E}">
        <p14:creationId xmlns:p14="http://schemas.microsoft.com/office/powerpoint/2010/main" val="96137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382257" y="1245511"/>
            <a:ext cx="11809743" cy="830997"/>
          </a:xfrm>
          <a:prstGeom prst="rect">
            <a:avLst/>
          </a:prstGeom>
          <a:noFill/>
        </p:spPr>
        <p:txBody>
          <a:bodyPr wrap="square" lIns="91440" tIns="45720" rIns="91440" bIns="45720" anchor="t">
            <a:spAutoFit/>
          </a:bodyPr>
          <a:lstStyle/>
          <a:p>
            <a:pPr fontAlgn="base">
              <a:spcAft>
                <a:spcPts val="600"/>
              </a:spcAft>
            </a:pPr>
            <a:r>
              <a:rPr lang="en-US" sz="2400" b="1" dirty="0" err="1">
                <a:solidFill>
                  <a:schemeClr val="accent1"/>
                </a:solidFill>
                <a:latin typeface="Arial"/>
                <a:cs typeface="Arial"/>
              </a:rPr>
              <a:t>Domaines</a:t>
            </a:r>
            <a:r>
              <a:rPr lang="en-US" sz="2400" b="1" dirty="0">
                <a:solidFill>
                  <a:schemeClr val="accent1"/>
                </a:solidFill>
                <a:latin typeface="Arial"/>
                <a:cs typeface="Arial"/>
              </a:rPr>
              <a:t> de politiques </a:t>
            </a:r>
            <a:r>
              <a:rPr lang="en-US" sz="2400" b="1" dirty="0" err="1">
                <a:solidFill>
                  <a:schemeClr val="accent1"/>
                </a:solidFill>
                <a:latin typeface="Arial"/>
                <a:cs typeface="Arial"/>
              </a:rPr>
              <a:t>publiques</a:t>
            </a:r>
            <a:r>
              <a:rPr lang="en-US" sz="2400" b="1" dirty="0">
                <a:solidFill>
                  <a:schemeClr val="accent1"/>
                </a:solidFill>
                <a:latin typeface="Arial"/>
                <a:cs typeface="Arial"/>
              </a:rPr>
              <a:t> </a:t>
            </a:r>
            <a:r>
              <a:rPr lang="en-US" sz="2400" b="1" dirty="0" err="1">
                <a:solidFill>
                  <a:schemeClr val="accent1"/>
                </a:solidFill>
                <a:latin typeface="Arial"/>
                <a:cs typeface="Arial"/>
              </a:rPr>
              <a:t>jugés</a:t>
            </a:r>
            <a:r>
              <a:rPr lang="en-US" sz="2400" b="1" dirty="0">
                <a:solidFill>
                  <a:schemeClr val="accent1"/>
                </a:solidFill>
                <a:latin typeface="Arial"/>
                <a:cs typeface="Arial"/>
              </a:rPr>
              <a:t> les plus </a:t>
            </a:r>
            <a:r>
              <a:rPr lang="en-US" sz="2400" b="1" dirty="0" err="1">
                <a:solidFill>
                  <a:schemeClr val="accent1"/>
                </a:solidFill>
                <a:latin typeface="Arial"/>
                <a:cs typeface="Arial"/>
              </a:rPr>
              <a:t>pertinents</a:t>
            </a:r>
            <a:r>
              <a:rPr lang="en-US" sz="2400" b="1" dirty="0">
                <a:solidFill>
                  <a:schemeClr val="accent1"/>
                </a:solidFill>
                <a:latin typeface="Arial"/>
                <a:cs typeface="Arial"/>
              </a:rPr>
              <a:t> pour </a:t>
            </a:r>
            <a:r>
              <a:rPr lang="en-US" sz="2400" b="1" dirty="0" err="1">
                <a:solidFill>
                  <a:schemeClr val="accent1"/>
                </a:solidFill>
                <a:latin typeface="Arial"/>
                <a:cs typeface="Arial"/>
              </a:rPr>
              <a:t>leurs</a:t>
            </a:r>
            <a:r>
              <a:rPr lang="en-US" sz="2400" b="1" dirty="0">
                <a:solidFill>
                  <a:schemeClr val="accent1"/>
                </a:solidFill>
                <a:latin typeface="Arial"/>
                <a:cs typeface="Arial"/>
              </a:rPr>
              <a:t> travaux par les </a:t>
            </a:r>
            <a:r>
              <a:rPr lang="en-US" sz="2400" b="1" dirty="0" err="1">
                <a:solidFill>
                  <a:schemeClr val="accent1"/>
                </a:solidFill>
                <a:latin typeface="Arial"/>
                <a:cs typeface="Arial"/>
              </a:rPr>
              <a:t>chercheuses</a:t>
            </a:r>
            <a:r>
              <a:rPr lang="en-US" sz="2400" b="1" dirty="0">
                <a:solidFill>
                  <a:schemeClr val="accent1"/>
                </a:solidFill>
                <a:latin typeface="Arial"/>
                <a:cs typeface="Arial"/>
              </a:rPr>
              <a:t> et </a:t>
            </a:r>
            <a:r>
              <a:rPr lang="en-US" sz="2400" b="1" dirty="0" err="1">
                <a:solidFill>
                  <a:schemeClr val="accent1"/>
                </a:solidFill>
                <a:latin typeface="Arial"/>
                <a:cs typeface="Arial"/>
              </a:rPr>
              <a:t>chercheurs</a:t>
            </a:r>
            <a:r>
              <a:rPr lang="en-US" sz="2400" b="1" dirty="0">
                <a:solidFill>
                  <a:schemeClr val="accent1"/>
                </a:solidFill>
                <a:latin typeface="Arial"/>
                <a:cs typeface="Arial"/>
              </a:rPr>
              <a:t> du RCCDR</a:t>
            </a:r>
            <a:endParaRPr lang="en-US" sz="1600" dirty="0"/>
          </a:p>
        </p:txBody>
      </p:sp>
      <p:graphicFrame>
        <p:nvGraphicFramePr>
          <p:cNvPr id="3" name="Table 2">
            <a:extLst>
              <a:ext uri="{FF2B5EF4-FFF2-40B4-BE49-F238E27FC236}">
                <a16:creationId xmlns:a16="http://schemas.microsoft.com/office/drawing/2014/main" id="{B23FC19A-97CB-48DF-A09A-4AB3DF2FB449}"/>
              </a:ext>
            </a:extLst>
          </p:cNvPr>
          <p:cNvGraphicFramePr>
            <a:graphicFrameLocks noGrp="1"/>
          </p:cNvGraphicFramePr>
          <p:nvPr>
            <p:extLst>
              <p:ext uri="{D42A27DB-BD31-4B8C-83A1-F6EECF244321}">
                <p14:modId xmlns:p14="http://schemas.microsoft.com/office/powerpoint/2010/main" val="3705801133"/>
              </p:ext>
            </p:extLst>
          </p:nvPr>
        </p:nvGraphicFramePr>
        <p:xfrm>
          <a:off x="506952" y="2267085"/>
          <a:ext cx="5172723" cy="3353679"/>
        </p:xfrm>
        <a:graphic>
          <a:graphicData uri="http://schemas.openxmlformats.org/drawingml/2006/table">
            <a:tbl>
              <a:tblPr firstRow="1" firstCol="1" bandRow="1">
                <a:tableStyleId>{69012ECD-51FC-41F1-AA8D-1B2483CD663E}</a:tableStyleId>
              </a:tblPr>
              <a:tblGrid>
                <a:gridCol w="4442193">
                  <a:extLst>
                    <a:ext uri="{9D8B030D-6E8A-4147-A177-3AD203B41FA5}">
                      <a16:colId xmlns:a16="http://schemas.microsoft.com/office/drawing/2014/main" val="4116219383"/>
                    </a:ext>
                  </a:extLst>
                </a:gridCol>
                <a:gridCol w="730530">
                  <a:extLst>
                    <a:ext uri="{9D8B030D-6E8A-4147-A177-3AD203B41FA5}">
                      <a16:colId xmlns:a16="http://schemas.microsoft.com/office/drawing/2014/main" val="3687822854"/>
                    </a:ext>
                  </a:extLst>
                </a:gridCol>
              </a:tblGrid>
              <a:tr h="302391">
                <a:tc>
                  <a:txBody>
                    <a:bodyPr/>
                    <a:lstStyle/>
                    <a:p>
                      <a:pPr>
                        <a:lnSpc>
                          <a:spcPct val="100000"/>
                        </a:lnSpc>
                        <a:spcAft>
                          <a:spcPts val="0"/>
                        </a:spcAft>
                      </a:pPr>
                      <a:r>
                        <a:rPr lang="fr-CA" sz="1400" dirty="0"/>
                        <a:t>Ministère / département / bureau ou domaine de politique publique identifiés</a:t>
                      </a:r>
                      <a:endParaRPr lang="en-CA" sz="1400" b="0" dirty="0">
                        <a:effectLst/>
                        <a:latin typeface="+mn-lt"/>
                        <a:ea typeface="Calibri" panose="020F0502020204030204" pitchFamily="34" charset="0"/>
                        <a:cs typeface="Times New Roman" panose="02020603050405020304" pitchFamily="18" charset="0"/>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a:effectLst/>
                          <a:latin typeface="+mn-lt"/>
                          <a:ea typeface="Calibri"/>
                          <a:cs typeface="Times New Roman"/>
                        </a:rPr>
                        <a:t>%</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058724"/>
                  </a:ext>
                </a:extLst>
              </a:tr>
              <a:tr h="302391">
                <a:tc>
                  <a:txBody>
                    <a:bodyPr/>
                    <a:lstStyle/>
                    <a:p>
                      <a:pPr algn="l" rtl="0" fontAlgn="base">
                        <a:lnSpc>
                          <a:spcPct val="100000"/>
                        </a:lnSpc>
                      </a:pPr>
                      <a:r>
                        <a:rPr lang="en-US" sz="1400" b="0" i="0" dirty="0">
                          <a:effectLst/>
                          <a:latin typeface="+mn-lt"/>
                        </a:rPr>
                        <a:t>Santé</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dirty="0">
                          <a:effectLst/>
                          <a:latin typeface="+mn-lt"/>
                          <a:ea typeface="Calibri"/>
                          <a:cs typeface="Times New Roman"/>
                        </a:rPr>
                        <a:t>24,7</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05950"/>
                  </a:ext>
                </a:extLst>
              </a:tr>
              <a:tr h="300674">
                <a:tc>
                  <a:txBody>
                    <a:bodyPr/>
                    <a:lstStyle/>
                    <a:p>
                      <a:pPr algn="l" rtl="0" fontAlgn="base">
                        <a:lnSpc>
                          <a:spcPct val="100000"/>
                        </a:lnSpc>
                      </a:pPr>
                      <a:r>
                        <a:rPr lang="en-GB" sz="1400" b="0" i="0" dirty="0" err="1">
                          <a:effectLst/>
                          <a:latin typeface="+mn-lt"/>
                        </a:rPr>
                        <a:t>Emploi</a:t>
                      </a:r>
                      <a:r>
                        <a:rPr lang="en-GB" sz="1400" b="0" i="0" dirty="0">
                          <a:effectLst/>
                          <a:latin typeface="+mn-lt"/>
                        </a:rPr>
                        <a:t>, Développement des </a:t>
                      </a:r>
                      <a:r>
                        <a:rPr lang="en-GB" sz="1400" b="0" i="0" dirty="0" err="1">
                          <a:effectLst/>
                          <a:latin typeface="+mn-lt"/>
                        </a:rPr>
                        <a:t>compétences</a:t>
                      </a:r>
                      <a:r>
                        <a:rPr lang="en-GB" sz="1400" b="0" i="0" dirty="0">
                          <a:effectLst/>
                          <a:latin typeface="+mn-lt"/>
                        </a:rPr>
                        <a:t>, Développement social</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dirty="0">
                          <a:effectLst/>
                          <a:latin typeface="+mn-lt"/>
                          <a:ea typeface="Calibri"/>
                          <a:cs typeface="Times New Roman"/>
                        </a:rPr>
                        <a:t>13,2</a:t>
                      </a:r>
                      <a:endParaRPr lang="en-CA" sz="1400" b="0" dirty="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1385664"/>
                  </a:ext>
                </a:extLst>
              </a:tr>
              <a:tr h="302391">
                <a:tc>
                  <a:txBody>
                    <a:bodyPr/>
                    <a:lstStyle/>
                    <a:p>
                      <a:pPr algn="l" rtl="0" fontAlgn="base">
                        <a:lnSpc>
                          <a:spcPct val="100000"/>
                        </a:lnSpc>
                      </a:pPr>
                      <a:r>
                        <a:rPr lang="en-GB" sz="1400" b="0" i="0" dirty="0" err="1">
                          <a:effectLst/>
                          <a:latin typeface="+mn-lt"/>
                        </a:rPr>
                        <a:t>Éducation</a:t>
                      </a:r>
                      <a:endParaRPr lang="en-GB" sz="1400" b="0" i="0" dirty="0">
                        <a:effectLst/>
                        <a:latin typeface="+mn-lt"/>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dirty="0">
                          <a:effectLst/>
                          <a:latin typeface="+mn-lt"/>
                          <a:ea typeface="Calibri"/>
                          <a:cs typeface="Times New Roman"/>
                        </a:rPr>
                        <a:t>9,6</a:t>
                      </a:r>
                      <a:endParaRPr lang="en-CA" sz="1400" b="0" dirty="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43382"/>
                  </a:ext>
                </a:extLst>
              </a:tr>
              <a:tr h="302391">
                <a:tc>
                  <a:txBody>
                    <a:bodyPr/>
                    <a:lstStyle/>
                    <a:p>
                      <a:pPr algn="l" rtl="0" fontAlgn="base">
                        <a:lnSpc>
                          <a:spcPct val="100000"/>
                        </a:lnSpc>
                      </a:pPr>
                      <a:r>
                        <a:rPr lang="en-GB" sz="1400" b="0" i="0" dirty="0">
                          <a:effectLst/>
                          <a:latin typeface="+mn-lt"/>
                        </a:rPr>
                        <a:t>Immigration, </a:t>
                      </a:r>
                      <a:r>
                        <a:rPr lang="en-GB" sz="1400" b="0" i="0" dirty="0" err="1">
                          <a:effectLst/>
                          <a:latin typeface="+mn-lt"/>
                        </a:rPr>
                        <a:t>Réfugiés</a:t>
                      </a:r>
                      <a:r>
                        <a:rPr lang="en-GB" sz="1400" b="0" i="0" dirty="0">
                          <a:effectLst/>
                          <a:latin typeface="+mn-lt"/>
                        </a:rPr>
                        <a:t> et </a:t>
                      </a:r>
                      <a:r>
                        <a:rPr lang="en-GB" sz="1400" b="0" i="0" dirty="0" err="1">
                          <a:effectLst/>
                          <a:latin typeface="+mn-lt"/>
                        </a:rPr>
                        <a:t>Citoyenneté</a:t>
                      </a:r>
                      <a:r>
                        <a:rPr lang="en-GB" sz="1400" b="0" i="0" dirty="0">
                          <a:effectLst/>
                          <a:latin typeface="+mn-lt"/>
                        </a:rPr>
                        <a:t> Canada</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dirty="0">
                          <a:effectLst/>
                          <a:latin typeface="+mn-lt"/>
                          <a:ea typeface="Calibri"/>
                          <a:cs typeface="Times New Roman"/>
                        </a:rPr>
                        <a:t>9,0</a:t>
                      </a:r>
                      <a:endParaRPr lang="en-CA" sz="1400" b="0" dirty="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9882890"/>
                  </a:ext>
                </a:extLst>
              </a:tr>
              <a:tr h="302391">
                <a:tc>
                  <a:txBody>
                    <a:bodyPr/>
                    <a:lstStyle/>
                    <a:p>
                      <a:pPr algn="l" rtl="0" fontAlgn="base">
                        <a:lnSpc>
                          <a:spcPct val="100000"/>
                        </a:lnSpc>
                      </a:pPr>
                      <a:r>
                        <a:rPr lang="en-US" sz="1400" b="0" i="0" dirty="0">
                          <a:effectLst/>
                          <a:latin typeface="+mn-lt"/>
                        </a:rPr>
                        <a:t>Finances / </a:t>
                      </a:r>
                      <a:r>
                        <a:rPr lang="en-US" sz="1400" b="0" i="0" dirty="0" err="1">
                          <a:effectLst/>
                          <a:latin typeface="+mn-lt"/>
                        </a:rPr>
                        <a:t>Économie</a:t>
                      </a:r>
                      <a:r>
                        <a:rPr lang="en-US" sz="1400" b="0" i="0" dirty="0">
                          <a:effectLst/>
                          <a:latin typeface="+mn-lt"/>
                        </a:rPr>
                        <a:t> / Régime de pensions du Canada</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dirty="0">
                          <a:effectLst/>
                          <a:latin typeface="+mn-lt"/>
                          <a:ea typeface="Calibri"/>
                          <a:cs typeface="Times New Roman"/>
                        </a:rPr>
                        <a:t>7,7</a:t>
                      </a:r>
                      <a:endParaRPr lang="en-CA" sz="1400" b="0" dirty="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636434"/>
                  </a:ext>
                </a:extLst>
              </a:tr>
              <a:tr h="346422">
                <a:tc>
                  <a:txBody>
                    <a:bodyPr/>
                    <a:lstStyle/>
                    <a:p>
                      <a:pPr algn="l" rtl="0" fontAlgn="base">
                        <a:lnSpc>
                          <a:spcPct val="100000"/>
                        </a:lnSpc>
                      </a:pPr>
                      <a:r>
                        <a:rPr lang="en-GB" sz="1400" b="0" i="0" dirty="0">
                          <a:effectLst/>
                          <a:latin typeface="+mn-lt"/>
                        </a:rPr>
                        <a:t>Innovation, Sciences et Développement </a:t>
                      </a:r>
                      <a:r>
                        <a:rPr lang="en-GB" sz="1400" b="0" i="0" dirty="0" err="1">
                          <a:effectLst/>
                          <a:latin typeface="+mn-lt"/>
                        </a:rPr>
                        <a:t>économique</a:t>
                      </a:r>
                      <a:endParaRPr lang="en-GB" sz="1400" b="0" i="0" dirty="0">
                        <a:effectLst/>
                        <a:latin typeface="+mn-lt"/>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dirty="0">
                          <a:effectLst/>
                          <a:latin typeface="+mn-lt"/>
                          <a:ea typeface="Calibri"/>
                          <a:cs typeface="Times New Roman"/>
                        </a:rPr>
                        <a:t>4,5</a:t>
                      </a:r>
                      <a:endParaRPr lang="en-CA" sz="1400" b="0" dirty="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472383"/>
                  </a:ext>
                </a:extLst>
              </a:tr>
              <a:tr h="302391">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400" b="0" i="0" dirty="0">
                          <a:effectLst/>
                          <a:latin typeface="+mn-lt"/>
                        </a:rPr>
                        <a:t>Services aux </a:t>
                      </a:r>
                      <a:r>
                        <a:rPr lang="en-US" sz="1400" b="0" i="0" dirty="0" err="1">
                          <a:effectLst/>
                          <a:latin typeface="+mn-lt"/>
                        </a:rPr>
                        <a:t>Autochtones</a:t>
                      </a:r>
                      <a:r>
                        <a:rPr lang="en-US" sz="1400" b="0" i="0" dirty="0">
                          <a:effectLst/>
                          <a:latin typeface="+mn-lt"/>
                        </a:rPr>
                        <a:t> Canada</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CA" sz="1400" b="0" dirty="0">
                          <a:effectLst/>
                          <a:latin typeface="+mn-lt"/>
                          <a:ea typeface="Calibri"/>
                          <a:cs typeface="Times New Roman"/>
                        </a:rPr>
                        <a:t>4,2</a:t>
                      </a: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5610777"/>
                  </a:ext>
                </a:extLst>
              </a:tr>
              <a:tr h="302391">
                <a:tc>
                  <a:txBody>
                    <a:bodyPr/>
                    <a:lstStyle/>
                    <a:p>
                      <a:pPr algn="l" rtl="0" fontAlgn="base">
                        <a:lnSpc>
                          <a:spcPct val="100000"/>
                        </a:lnSpc>
                      </a:pPr>
                      <a:r>
                        <a:rPr lang="en-US" sz="1400" b="0" i="0" dirty="0">
                          <a:effectLst/>
                          <a:latin typeface="+mn-lt"/>
                        </a:rPr>
                        <a:t>Services à </a:t>
                      </a:r>
                      <a:r>
                        <a:rPr lang="en-US" sz="1400" b="0" i="0" dirty="0" err="1">
                          <a:effectLst/>
                          <a:latin typeface="+mn-lt"/>
                        </a:rPr>
                        <a:t>l’enfance</a:t>
                      </a:r>
                      <a:r>
                        <a:rPr lang="en-US" sz="1400" b="0" i="0" dirty="0">
                          <a:effectLst/>
                          <a:latin typeface="+mn-lt"/>
                        </a:rPr>
                        <a:t>, à la </a:t>
                      </a:r>
                      <a:r>
                        <a:rPr lang="en-US" sz="1400" b="0" i="0" dirty="0" err="1">
                          <a:effectLst/>
                          <a:latin typeface="+mn-lt"/>
                        </a:rPr>
                        <a:t>communauté</a:t>
                      </a:r>
                      <a:r>
                        <a:rPr lang="en-US" sz="1400" b="0" i="0" dirty="0">
                          <a:effectLst/>
                          <a:latin typeface="+mn-lt"/>
                        </a:rPr>
                        <a:t> et aux services </a:t>
                      </a:r>
                      <a:r>
                        <a:rPr lang="en-US" sz="1400" b="0" i="0" dirty="0" err="1">
                          <a:effectLst/>
                          <a:latin typeface="+mn-lt"/>
                        </a:rPr>
                        <a:t>sociaux</a:t>
                      </a:r>
                      <a:endParaRPr lang="en-US" sz="1400" b="0" i="0" dirty="0">
                        <a:effectLst/>
                        <a:latin typeface="+mn-lt"/>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1400" b="0" dirty="0">
                          <a:effectLst/>
                          <a:latin typeface="+mn-lt"/>
                          <a:ea typeface="Calibri"/>
                          <a:cs typeface="Times New Roman"/>
                        </a:rPr>
                        <a:t>3,8</a:t>
                      </a:r>
                      <a:endParaRPr lang="en-CA" sz="1400" b="0" dirty="0">
                        <a:effectLst/>
                        <a:latin typeface="+mn-lt"/>
                        <a:ea typeface="Calibri"/>
                        <a:cs typeface="Times New Roman"/>
                      </a:endParaRPr>
                    </a:p>
                  </a:txBody>
                  <a:tcPr marL="71716" marR="71716" marT="35857" marB="358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398215"/>
                  </a:ext>
                </a:extLst>
              </a:tr>
            </a:tbl>
          </a:graphicData>
        </a:graphic>
      </p:graphicFrame>
      <p:graphicFrame>
        <p:nvGraphicFramePr>
          <p:cNvPr id="5" name="Table 4">
            <a:extLst>
              <a:ext uri="{FF2B5EF4-FFF2-40B4-BE49-F238E27FC236}">
                <a16:creationId xmlns:a16="http://schemas.microsoft.com/office/drawing/2014/main" id="{02A390DA-F508-4CB6-BB57-EDCD3201A54F}"/>
              </a:ext>
            </a:extLst>
          </p:cNvPr>
          <p:cNvGraphicFramePr>
            <a:graphicFrameLocks noGrp="1"/>
          </p:cNvGraphicFramePr>
          <p:nvPr>
            <p:extLst>
              <p:ext uri="{D42A27DB-BD31-4B8C-83A1-F6EECF244321}">
                <p14:modId xmlns:p14="http://schemas.microsoft.com/office/powerpoint/2010/main" val="4064747095"/>
              </p:ext>
            </p:extLst>
          </p:nvPr>
        </p:nvGraphicFramePr>
        <p:xfrm>
          <a:off x="6126779" y="2776451"/>
          <a:ext cx="5428625" cy="2687172"/>
        </p:xfrm>
        <a:graphic>
          <a:graphicData uri="http://schemas.openxmlformats.org/drawingml/2006/table">
            <a:tbl>
              <a:tblPr firstRow="1" firstCol="1" bandRow="1">
                <a:tableStyleId>{69012ECD-51FC-41F1-AA8D-1B2483CD663E}</a:tableStyleId>
              </a:tblPr>
              <a:tblGrid>
                <a:gridCol w="4818581">
                  <a:extLst>
                    <a:ext uri="{9D8B030D-6E8A-4147-A177-3AD203B41FA5}">
                      <a16:colId xmlns:a16="http://schemas.microsoft.com/office/drawing/2014/main" val="3399984059"/>
                    </a:ext>
                  </a:extLst>
                </a:gridCol>
                <a:gridCol w="610044">
                  <a:extLst>
                    <a:ext uri="{9D8B030D-6E8A-4147-A177-3AD203B41FA5}">
                      <a16:colId xmlns:a16="http://schemas.microsoft.com/office/drawing/2014/main" val="3551164184"/>
                    </a:ext>
                  </a:extLst>
                </a:gridCol>
              </a:tblGrid>
              <a:tr h="291422">
                <a:tc>
                  <a:txBody>
                    <a:bodyPr/>
                    <a:lstStyle/>
                    <a:p>
                      <a:pPr algn="l" rtl="0" fontAlgn="base"/>
                      <a:r>
                        <a:rPr lang="en-US" sz="1400" b="0" i="0" dirty="0">
                          <a:solidFill>
                            <a:schemeClr val="tx1"/>
                          </a:solidFill>
                          <a:effectLst/>
                          <a:latin typeface="+mn-lt"/>
                        </a:rPr>
                        <a:t>Femmes et Égalité des genres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US" sz="1400" b="0" dirty="0">
                          <a:solidFill>
                            <a:schemeClr val="tx1"/>
                          </a:solidFill>
                          <a:effectLst/>
                          <a:latin typeface="+mn-lt"/>
                          <a:ea typeface="Calibri" panose="020F0502020204030204" pitchFamily="34" charset="0"/>
                          <a:cs typeface="Times New Roman" panose="02020603050405020304" pitchFamily="18" charset="0"/>
                        </a:rPr>
                        <a:t>3,8</a:t>
                      </a:r>
                      <a:endParaRPr lang="en-CA" sz="14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3891044"/>
                  </a:ext>
                </a:extLst>
              </a:tr>
              <a:tr h="310702">
                <a:tc>
                  <a:txBody>
                    <a:bodyPr/>
                    <a:lstStyle/>
                    <a:p>
                      <a:pPr algn="l" rtl="0" fontAlgn="base"/>
                      <a:r>
                        <a:rPr lang="en-US" sz="1400" b="0" i="0" dirty="0">
                          <a:effectLst/>
                          <a:latin typeface="+mn-lt"/>
                        </a:rPr>
                        <a:t>Environnement / </a:t>
                      </a:r>
                      <a:r>
                        <a:rPr lang="en-US" sz="1400" b="0" i="0" dirty="0" err="1">
                          <a:effectLst/>
                          <a:latin typeface="+mn-lt"/>
                        </a:rPr>
                        <a:t>Ressources</a:t>
                      </a:r>
                      <a:r>
                        <a:rPr lang="en-US" sz="1400" b="0" i="0" dirty="0">
                          <a:effectLst/>
                          <a:latin typeface="+mn-lt"/>
                        </a:rPr>
                        <a:t> </a:t>
                      </a:r>
                      <a:r>
                        <a:rPr lang="en-US" sz="1400" b="0" i="0" dirty="0" err="1">
                          <a:effectLst/>
                          <a:latin typeface="+mn-lt"/>
                        </a:rPr>
                        <a:t>naturelles</a:t>
                      </a:r>
                      <a:endParaRPr lang="en-US" sz="1400" b="0" i="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2,9</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858449"/>
                  </a:ext>
                </a:extLst>
              </a:tr>
              <a:tr h="310702">
                <a:tc>
                  <a:txBody>
                    <a:bodyPr/>
                    <a:lstStyle/>
                    <a:p>
                      <a:pPr algn="l" rtl="0" fontAlgn="base"/>
                      <a:r>
                        <a:rPr lang="en-US" sz="1400" b="0" i="0" dirty="0">
                          <a:effectLst/>
                          <a:latin typeface="+mn-lt"/>
                        </a:rPr>
                        <a:t>Affaires </a:t>
                      </a:r>
                      <a:r>
                        <a:rPr lang="en-US" sz="1400" b="0" i="0" dirty="0" err="1">
                          <a:effectLst/>
                          <a:latin typeface="+mn-lt"/>
                        </a:rPr>
                        <a:t>mondiales</a:t>
                      </a:r>
                      <a:endParaRPr lang="en-US" sz="1400" b="0" i="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2,9</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9506528"/>
                  </a:ext>
                </a:extLst>
              </a:tr>
              <a:tr h="310702">
                <a:tc>
                  <a:txBody>
                    <a:bodyPr/>
                    <a:lstStyle/>
                    <a:p>
                      <a:pPr algn="l" rtl="0" fontAlgn="base"/>
                      <a:r>
                        <a:rPr lang="en-GB" sz="1400" b="0" i="0" dirty="0" err="1">
                          <a:effectLst/>
                          <a:latin typeface="+mn-lt"/>
                        </a:rPr>
                        <a:t>Logement</a:t>
                      </a:r>
                      <a:r>
                        <a:rPr lang="en-GB" sz="1400" b="0" i="0" dirty="0">
                          <a:effectLst/>
                          <a:latin typeface="+mn-lt"/>
                        </a:rPr>
                        <a:t> / Société canadienne </a:t>
                      </a:r>
                      <a:r>
                        <a:rPr lang="en-GB" sz="1400" b="0" i="0" dirty="0" err="1">
                          <a:effectLst/>
                          <a:latin typeface="+mn-lt"/>
                        </a:rPr>
                        <a:t>d’hypothèques</a:t>
                      </a:r>
                      <a:r>
                        <a:rPr lang="en-GB" sz="1400" b="0" i="0" dirty="0">
                          <a:effectLst/>
                          <a:latin typeface="+mn-lt"/>
                        </a:rPr>
                        <a:t> et de </a:t>
                      </a:r>
                      <a:r>
                        <a:rPr lang="en-GB" sz="1400" b="0" i="0" dirty="0" err="1">
                          <a:effectLst/>
                          <a:latin typeface="+mn-lt"/>
                        </a:rPr>
                        <a:t>logement</a:t>
                      </a:r>
                      <a:endParaRPr lang="en-GB" sz="1400" b="0" i="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1,9</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327184"/>
                  </a:ext>
                </a:extLst>
              </a:tr>
              <a:tr h="310702">
                <a:tc>
                  <a:txBody>
                    <a:bodyPr/>
                    <a:lstStyle/>
                    <a:p>
                      <a:pPr algn="l" rtl="0" fontAlgn="base"/>
                      <a:r>
                        <a:rPr lang="en-US" sz="1400" b="0" i="0" dirty="0" err="1">
                          <a:effectLst/>
                          <a:latin typeface="+mn-lt"/>
                        </a:rPr>
                        <a:t>Aménagement</a:t>
                      </a:r>
                      <a:r>
                        <a:rPr lang="en-US" sz="1400" b="0" i="0" dirty="0">
                          <a:effectLst/>
                          <a:latin typeface="+mn-lt"/>
                        </a:rPr>
                        <a:t> </a:t>
                      </a:r>
                      <a:r>
                        <a:rPr lang="en-US" sz="1400" b="0" i="0" dirty="0" err="1">
                          <a:effectLst/>
                          <a:latin typeface="+mn-lt"/>
                        </a:rPr>
                        <a:t>urbain</a:t>
                      </a:r>
                      <a:r>
                        <a:rPr lang="en-US" sz="1400" b="0" i="0" dirty="0">
                          <a:effectLst/>
                          <a:latin typeface="+mn-lt"/>
                        </a:rPr>
                        <a:t> / Infrastructure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1,9</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216300"/>
                  </a:ext>
                </a:extLst>
              </a:tr>
              <a:tr h="310702">
                <a:tc>
                  <a:txBody>
                    <a:bodyPr/>
                    <a:lstStyle/>
                    <a:p>
                      <a:pPr algn="l" rtl="0" fontAlgn="base"/>
                      <a:r>
                        <a:rPr lang="en-US" sz="1400" b="0" i="0" dirty="0" err="1">
                          <a:effectLst/>
                          <a:latin typeface="+mn-lt"/>
                        </a:rPr>
                        <a:t>Gouvernement</a:t>
                      </a:r>
                      <a:r>
                        <a:rPr lang="en-US" sz="1400" b="0" i="0" dirty="0">
                          <a:effectLst/>
                          <a:latin typeface="+mn-lt"/>
                        </a:rPr>
                        <a:t> municipal / provincial / </a:t>
                      </a:r>
                      <a:r>
                        <a:rPr lang="en-US" sz="1400" b="0" i="0" dirty="0" err="1">
                          <a:effectLst/>
                          <a:latin typeface="+mn-lt"/>
                        </a:rPr>
                        <a:t>fédéral</a:t>
                      </a:r>
                      <a:endParaRPr lang="en-US" sz="1400" b="0" i="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1,6</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7409638"/>
                  </a:ext>
                </a:extLst>
              </a:tr>
              <a:tr h="310702">
                <a:tc>
                  <a:txBody>
                    <a:bodyPr/>
                    <a:lstStyle/>
                    <a:p>
                      <a:pPr algn="l" rtl="0" fontAlgn="base"/>
                      <a:r>
                        <a:rPr lang="en-US" sz="1400" b="0" i="0" dirty="0">
                          <a:effectLst/>
                          <a:latin typeface="+mn-lt"/>
                        </a:rPr>
                        <a:t>Justice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1,3</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493687"/>
                  </a:ext>
                </a:extLst>
              </a:tr>
              <a:tr h="310702">
                <a:tc>
                  <a:txBody>
                    <a:bodyPr/>
                    <a:lstStyle/>
                    <a:p>
                      <a:pPr algn="l" rtl="0" fontAlgn="base"/>
                      <a:r>
                        <a:rPr lang="en-US" sz="1400" b="0" i="0" dirty="0" err="1">
                          <a:effectLst/>
                          <a:latin typeface="+mn-lt"/>
                        </a:rPr>
                        <a:t>Autre</a:t>
                      </a:r>
                      <a:endParaRPr lang="en-US" sz="1400" b="0" i="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400" b="0" dirty="0">
                          <a:effectLst/>
                          <a:latin typeface="+mn-lt"/>
                          <a:ea typeface="Calibri" panose="020F0502020204030204" pitchFamily="34" charset="0"/>
                          <a:cs typeface="Times New Roman" panose="02020603050405020304" pitchFamily="18" charset="0"/>
                        </a:rPr>
                        <a:t>7,0</a:t>
                      </a:r>
                      <a:endParaRPr lang="en-CA" sz="14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731670"/>
                  </a:ext>
                </a:extLst>
              </a:tr>
            </a:tbl>
          </a:graphicData>
        </a:graphic>
      </p:graphicFrame>
    </p:spTree>
    <p:extLst>
      <p:ext uri="{BB962C8B-B14F-4D97-AF65-F5344CB8AC3E}">
        <p14:creationId xmlns:p14="http://schemas.microsoft.com/office/powerpoint/2010/main" val="1888437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4FC89-F113-94D7-DDEB-67F128496EFB}"/>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260F5777-799E-5A6E-428F-25E736291935}"/>
              </a:ext>
            </a:extLst>
          </p:cNvPr>
          <p:cNvSpPr txBox="1"/>
          <p:nvPr/>
        </p:nvSpPr>
        <p:spPr>
          <a:xfrm>
            <a:off x="263525" y="1164812"/>
            <a:ext cx="11928474" cy="4978286"/>
          </a:xfrm>
          <a:prstGeom prst="rect">
            <a:avLst/>
          </a:prstGeom>
          <a:noFill/>
        </p:spPr>
        <p:txBody>
          <a:bodyPr wrap="square" lIns="91440" tIns="45720" rIns="91440" bIns="45720" anchor="t">
            <a:spAutoFit/>
          </a:bodyPr>
          <a:lstStyle/>
          <a:p>
            <a:pPr fontAlgn="base">
              <a:spcBef>
                <a:spcPts val="1200"/>
              </a:spcBef>
              <a:spcAft>
                <a:spcPts val="1500"/>
              </a:spcAft>
            </a:pPr>
            <a:r>
              <a:rPr lang="en-US" sz="3200" b="1" dirty="0" err="1">
                <a:solidFill>
                  <a:schemeClr val="accent1"/>
                </a:solidFill>
                <a:latin typeface="Arial"/>
                <a:cs typeface="Arial"/>
              </a:rPr>
              <a:t>Recherches</a:t>
            </a:r>
            <a:r>
              <a:rPr lang="en-US" sz="3200" b="1" dirty="0">
                <a:solidFill>
                  <a:schemeClr val="accent1"/>
                </a:solidFill>
                <a:latin typeface="Arial"/>
                <a:cs typeface="Arial"/>
              </a:rPr>
              <a:t> du RCCDR </a:t>
            </a:r>
            <a:r>
              <a:rPr lang="en-US" sz="3200" b="1" dirty="0" err="1">
                <a:solidFill>
                  <a:schemeClr val="accent1"/>
                </a:solidFill>
                <a:latin typeface="Arial"/>
                <a:cs typeface="Arial"/>
              </a:rPr>
              <a:t>éclairant</a:t>
            </a:r>
            <a:r>
              <a:rPr lang="en-US" sz="3200" b="1" dirty="0">
                <a:solidFill>
                  <a:schemeClr val="accent1"/>
                </a:solidFill>
                <a:latin typeface="Arial"/>
                <a:cs typeface="Arial"/>
              </a:rPr>
              <a:t> les politiques - </a:t>
            </a:r>
            <a:r>
              <a:rPr lang="en-US" sz="3200" b="1" dirty="0" err="1">
                <a:solidFill>
                  <a:schemeClr val="accent1"/>
                </a:solidFill>
                <a:latin typeface="Arial"/>
                <a:cs typeface="Arial"/>
              </a:rPr>
              <a:t>exemples</a:t>
            </a:r>
            <a:endParaRPr lang="en-US" sz="3200" b="1" dirty="0">
              <a:solidFill>
                <a:schemeClr val="accent1"/>
              </a:solidFill>
              <a:latin typeface="Arial"/>
              <a:cs typeface="Arial"/>
            </a:endParaRPr>
          </a:p>
          <a:p>
            <a:pPr marL="342900" indent="-342900" fontAlgn="base">
              <a:spcAft>
                <a:spcPts val="1000"/>
              </a:spcAft>
              <a:buFont typeface="Arial" panose="020B0604020202020204" pitchFamily="34" charset="0"/>
              <a:buChar char="•"/>
            </a:pPr>
            <a:r>
              <a:rPr lang="fr-CA" i="1" dirty="0"/>
              <a:t>Langue et immigration : la connaissance des deux langues officielles comme atout sur le marché du travail (Fleury et al., 2025)</a:t>
            </a:r>
          </a:p>
          <a:p>
            <a:pPr marL="342900" indent="-342900" fontAlgn="base">
              <a:spcAft>
                <a:spcPts val="1000"/>
              </a:spcAft>
              <a:buFont typeface="Arial" panose="020B0604020202020204" pitchFamily="34" charset="0"/>
              <a:buChar char="•"/>
            </a:pPr>
            <a:r>
              <a:rPr lang="fr-CA" i="1" dirty="0"/>
              <a:t>Le revenu des femmes diminue après la naissance d’un enfant (</a:t>
            </a:r>
            <a:r>
              <a:rPr lang="fr-CA" dirty="0"/>
              <a:t>Connolly et Haeck</a:t>
            </a:r>
            <a:r>
              <a:rPr lang="fr-CA" i="1" dirty="0"/>
              <a:t>, 2023)</a:t>
            </a:r>
            <a:endParaRPr lang="en-US" i="1" dirty="0"/>
          </a:p>
          <a:p>
            <a:pPr marL="342900" indent="-342900" fontAlgn="base">
              <a:spcAft>
                <a:spcPts val="1000"/>
              </a:spcAft>
              <a:buFont typeface="Arial" panose="020B0604020202020204" pitchFamily="34" charset="0"/>
              <a:buChar char="•"/>
            </a:pPr>
            <a:r>
              <a:rPr lang="en-US" i="1" dirty="0"/>
              <a:t>Impact des </a:t>
            </a:r>
            <a:r>
              <a:rPr lang="en-US" i="1" dirty="0" err="1"/>
              <a:t>cégeps</a:t>
            </a:r>
            <a:r>
              <a:rPr lang="en-US" i="1" dirty="0"/>
              <a:t> sur la </a:t>
            </a:r>
            <a:r>
              <a:rPr lang="en-US" i="1" dirty="0" err="1"/>
              <a:t>scolarisation</a:t>
            </a:r>
            <a:r>
              <a:rPr lang="en-US" i="1" dirty="0"/>
              <a:t> des </a:t>
            </a:r>
            <a:r>
              <a:rPr lang="en-US" i="1" dirty="0" err="1"/>
              <a:t>jeunes</a:t>
            </a:r>
            <a:r>
              <a:rPr lang="en-US" i="1" dirty="0"/>
              <a:t> Québécois (</a:t>
            </a:r>
            <a:r>
              <a:rPr lang="en-US" dirty="0"/>
              <a:t>Fortin </a:t>
            </a:r>
            <a:r>
              <a:rPr lang="en-US" i="1" dirty="0"/>
              <a:t>et al., 2022)</a:t>
            </a:r>
          </a:p>
          <a:p>
            <a:pPr marL="342900" indent="-342900" fontAlgn="base">
              <a:spcAft>
                <a:spcPts val="1000"/>
              </a:spcAft>
              <a:buFont typeface="Arial" panose="020B0604020202020204" pitchFamily="34" charset="0"/>
              <a:buChar char="•"/>
            </a:pPr>
            <a:r>
              <a:rPr lang="en-US" i="1" dirty="0"/>
              <a:t>Portrait du </a:t>
            </a:r>
            <a:r>
              <a:rPr lang="en-US" i="1" dirty="0" err="1"/>
              <a:t>télétravail</a:t>
            </a:r>
            <a:r>
              <a:rPr lang="en-US" i="1" dirty="0"/>
              <a:t> au Québec (</a:t>
            </a:r>
            <a:r>
              <a:rPr lang="en-US" dirty="0"/>
              <a:t>Cloutier-Villeneuve</a:t>
            </a:r>
            <a:r>
              <a:rPr lang="en-US" i="1" dirty="0"/>
              <a:t>, 2022)</a:t>
            </a:r>
          </a:p>
          <a:p>
            <a:pPr marL="342900" indent="-342900" fontAlgn="base">
              <a:spcAft>
                <a:spcPts val="1000"/>
              </a:spcAft>
              <a:buFont typeface="Arial" panose="020B0604020202020204" pitchFamily="34" charset="0"/>
              <a:buChar char="•"/>
            </a:pPr>
            <a:r>
              <a:rPr lang="en-US" i="1" dirty="0"/>
              <a:t>Household food insecurity in Canada </a:t>
            </a:r>
            <a:r>
              <a:rPr lang="en-US" dirty="0"/>
              <a:t>(Li </a:t>
            </a:r>
            <a:r>
              <a:rPr lang="en-US" i="1" dirty="0"/>
              <a:t>et al., </a:t>
            </a:r>
            <a:r>
              <a:rPr lang="en-US" dirty="0"/>
              <a:t>2023)</a:t>
            </a:r>
          </a:p>
          <a:p>
            <a:pPr marL="342900" indent="-342900" fontAlgn="base">
              <a:spcAft>
                <a:spcPts val="1000"/>
              </a:spcAft>
              <a:buFont typeface="Arial" panose="020B0604020202020204" pitchFamily="34" charset="0"/>
              <a:buChar char="•"/>
            </a:pPr>
            <a:r>
              <a:rPr lang="en-US" i="1" dirty="0"/>
              <a:t>Youth-reported checklists and measuring emotional and </a:t>
            </a:r>
            <a:r>
              <a:rPr lang="en-US" i="1" dirty="0" err="1"/>
              <a:t>behavioural</a:t>
            </a:r>
            <a:r>
              <a:rPr lang="en-US" i="1" dirty="0"/>
              <a:t> problems</a:t>
            </a:r>
            <a:r>
              <a:rPr lang="en-US" dirty="0"/>
              <a:t> (Duncan </a:t>
            </a:r>
            <a:r>
              <a:rPr lang="en-US" i="1" dirty="0"/>
              <a:t>et al</a:t>
            </a:r>
            <a:r>
              <a:rPr lang="en-US" dirty="0"/>
              <a:t>., 2024)</a:t>
            </a:r>
          </a:p>
          <a:p>
            <a:pPr marL="342900" indent="-342900" fontAlgn="base">
              <a:spcAft>
                <a:spcPts val="1000"/>
              </a:spcAft>
              <a:buFont typeface="Arial" panose="020B0604020202020204" pitchFamily="34" charset="0"/>
              <a:buChar char="•"/>
            </a:pPr>
            <a:r>
              <a:rPr lang="en-US" i="1" dirty="0"/>
              <a:t>The impact of selling alcohol in grocery stores </a:t>
            </a:r>
            <a:r>
              <a:rPr lang="en-US" dirty="0"/>
              <a:t>(Schwartz </a:t>
            </a:r>
            <a:r>
              <a:rPr lang="en-US" i="1" dirty="0"/>
              <a:t>et al</a:t>
            </a:r>
            <a:r>
              <a:rPr lang="en-US" dirty="0"/>
              <a:t>., 2024)</a:t>
            </a:r>
          </a:p>
          <a:p>
            <a:pPr marL="342900" indent="-342900" fontAlgn="base">
              <a:spcAft>
                <a:spcPts val="1000"/>
              </a:spcAft>
              <a:buFont typeface="Arial" panose="020B0604020202020204" pitchFamily="34" charset="0"/>
              <a:buChar char="•"/>
            </a:pPr>
            <a:r>
              <a:rPr lang="en-US" i="1" dirty="0"/>
              <a:t>Mandatory minimum sentencing and its effect on sentencing distributions </a:t>
            </a:r>
            <a:r>
              <a:rPr lang="en-US" dirty="0"/>
              <a:t>(Penney </a:t>
            </a:r>
            <a:r>
              <a:rPr lang="en-US" i="1" dirty="0"/>
              <a:t>et al</a:t>
            </a:r>
            <a:r>
              <a:rPr lang="en-US" dirty="0"/>
              <a:t>., 2024)</a:t>
            </a:r>
          </a:p>
          <a:p>
            <a:pPr marL="342900" indent="-342900" fontAlgn="base">
              <a:spcAft>
                <a:spcPts val="1000"/>
              </a:spcAft>
              <a:buFont typeface="Arial" panose="020B0604020202020204" pitchFamily="34" charset="0"/>
              <a:buChar char="•"/>
            </a:pPr>
            <a:r>
              <a:rPr lang="en-US" i="1" dirty="0"/>
              <a:t>Retention of immigrants in rural Canada </a:t>
            </a:r>
            <a:r>
              <a:rPr lang="en-US" dirty="0"/>
              <a:t>(Haan </a:t>
            </a:r>
            <a:r>
              <a:rPr lang="en-US" i="1" dirty="0"/>
              <a:t>et al</a:t>
            </a:r>
            <a:r>
              <a:rPr lang="en-US" dirty="0"/>
              <a:t>., 2023)</a:t>
            </a:r>
          </a:p>
          <a:p>
            <a:pPr marL="342900" indent="-342900" fontAlgn="base">
              <a:spcAft>
                <a:spcPts val="600"/>
              </a:spcAft>
              <a:buFont typeface="Arial" panose="020B0604020202020204" pitchFamily="34" charset="0"/>
              <a:buChar char="•"/>
            </a:pPr>
            <a:r>
              <a:rPr lang="en-US" i="1" dirty="0"/>
              <a:t>Individual and community predictors of arrests in Canada </a:t>
            </a:r>
            <a:r>
              <a:rPr lang="en-US" dirty="0"/>
              <a:t>(Alberton </a:t>
            </a:r>
            <a:r>
              <a:rPr lang="en-US" i="1" dirty="0"/>
              <a:t>et al</a:t>
            </a:r>
            <a:r>
              <a:rPr lang="en-US" dirty="0"/>
              <a:t>., 2023)</a:t>
            </a:r>
          </a:p>
        </p:txBody>
      </p:sp>
    </p:spTree>
    <p:extLst>
      <p:ext uri="{BB962C8B-B14F-4D97-AF65-F5344CB8AC3E}">
        <p14:creationId xmlns:p14="http://schemas.microsoft.com/office/powerpoint/2010/main" val="68610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0BB1-BE21-26EF-036F-AD895ACB7A4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D0F4BF54-45CB-2DF6-4383-A2056DC25BEF}"/>
              </a:ext>
            </a:extLst>
          </p:cNvPr>
          <p:cNvSpPr txBox="1"/>
          <p:nvPr/>
        </p:nvSpPr>
        <p:spPr>
          <a:xfrm>
            <a:off x="263525" y="1043731"/>
            <a:ext cx="11647121" cy="4770537"/>
          </a:xfrm>
          <a:prstGeom prst="rect">
            <a:avLst/>
          </a:prstGeom>
          <a:noFill/>
        </p:spPr>
        <p:txBody>
          <a:bodyPr wrap="square" lIns="91440" tIns="45720" rIns="91440" bIns="45720" anchor="t">
            <a:spAutoFit/>
          </a:bodyPr>
          <a:lstStyle/>
          <a:p>
            <a:pPr fontAlgn="base">
              <a:spcBef>
                <a:spcPts val="1200"/>
              </a:spcBef>
              <a:spcAft>
                <a:spcPts val="1200"/>
              </a:spcAft>
            </a:pPr>
            <a:r>
              <a:rPr lang="en-US" sz="3200" b="1" dirty="0" err="1">
                <a:solidFill>
                  <a:schemeClr val="accent1"/>
                </a:solidFill>
                <a:latin typeface="Arial"/>
                <a:cs typeface="Arial"/>
              </a:rPr>
              <a:t>Groupes</a:t>
            </a:r>
            <a:r>
              <a:rPr lang="en-US" sz="3200" b="1" dirty="0">
                <a:solidFill>
                  <a:schemeClr val="accent1"/>
                </a:solidFill>
                <a:latin typeface="Arial"/>
                <a:cs typeface="Arial"/>
              </a:rPr>
              <a:t> de concertation </a:t>
            </a:r>
            <a:r>
              <a:rPr lang="en-US" sz="3200" b="1" dirty="0" err="1">
                <a:solidFill>
                  <a:schemeClr val="accent1"/>
                </a:solidFill>
                <a:latin typeface="Arial"/>
                <a:cs typeface="Arial"/>
              </a:rPr>
              <a:t>en</a:t>
            </a:r>
            <a:r>
              <a:rPr lang="en-US" sz="3200" b="1" dirty="0">
                <a:solidFill>
                  <a:schemeClr val="accent1"/>
                </a:solidFill>
                <a:latin typeface="Arial"/>
                <a:cs typeface="Arial"/>
              </a:rPr>
              <a:t> politiques </a:t>
            </a:r>
            <a:r>
              <a:rPr lang="en-US" sz="3200" b="1" dirty="0" err="1">
                <a:solidFill>
                  <a:schemeClr val="accent1"/>
                </a:solidFill>
                <a:latin typeface="Arial"/>
                <a:cs typeface="Arial"/>
              </a:rPr>
              <a:t>publiques</a:t>
            </a:r>
            <a:r>
              <a:rPr lang="en-US" sz="3200" b="1" dirty="0">
                <a:solidFill>
                  <a:schemeClr val="accent1"/>
                </a:solidFill>
                <a:latin typeface="Arial"/>
                <a:cs typeface="Arial"/>
              </a:rPr>
              <a:t>, données et recherche du RCCDR</a:t>
            </a:r>
          </a:p>
          <a:p>
            <a:pPr fontAlgn="base">
              <a:spcAft>
                <a:spcPts val="1200"/>
              </a:spcAft>
            </a:pPr>
            <a:r>
              <a:rPr lang="en-US" sz="2000" b="1" dirty="0" err="1"/>
              <a:t>Groupes</a:t>
            </a:r>
            <a:r>
              <a:rPr lang="en-US" sz="2000" b="1" dirty="0"/>
              <a:t> </a:t>
            </a:r>
            <a:r>
              <a:rPr lang="en-US" sz="2000" b="1" dirty="0" err="1"/>
              <a:t>en</a:t>
            </a:r>
            <a:r>
              <a:rPr lang="en-US" sz="2000" b="1" dirty="0"/>
              <a:t> politiques </a:t>
            </a:r>
            <a:r>
              <a:rPr lang="en-US" sz="2000" b="1" dirty="0" err="1"/>
              <a:t>publiques</a:t>
            </a:r>
            <a:r>
              <a:rPr lang="en-US" sz="2000" b="1" dirty="0"/>
              <a:t> et données</a:t>
            </a:r>
          </a:p>
          <a:p>
            <a:pPr marL="342900" indent="-342900" fontAlgn="base">
              <a:spcAft>
                <a:spcPts val="600"/>
              </a:spcAft>
              <a:buFont typeface="Arial" panose="020B0604020202020204" pitchFamily="34" charset="0"/>
              <a:buChar char="•"/>
            </a:pPr>
            <a:r>
              <a:rPr lang="fr-CA" sz="1700" dirty="0"/>
              <a:t>Octobre 2024 : invitation aux chercheuses et chercheurs du RCCDR pour s’inscrire à des groupes portant sur les données ou les politiques publiques.</a:t>
            </a:r>
            <a:endParaRPr lang="en-US" sz="1700" dirty="0"/>
          </a:p>
          <a:p>
            <a:pPr marL="342900" indent="-342900" fontAlgn="base">
              <a:spcAft>
                <a:spcPts val="600"/>
              </a:spcAft>
              <a:buFont typeface="Arial" panose="020B0604020202020204" pitchFamily="34" charset="0"/>
              <a:buChar char="•"/>
            </a:pPr>
            <a:r>
              <a:rPr lang="fr-CA" sz="1700" dirty="0"/>
              <a:t>Principaux domaines de recherche des répondantes et répondants : économie, épidémiologie, sociologie, démographie et santé publique. Groupes en politiques publiques à venir à l’automne 2025.</a:t>
            </a:r>
          </a:p>
          <a:p>
            <a:pPr marL="342900" indent="-342900" fontAlgn="base">
              <a:spcAft>
                <a:spcPts val="1200"/>
              </a:spcAft>
              <a:buFont typeface="Arial" panose="020B0604020202020204" pitchFamily="34" charset="0"/>
              <a:buChar char="•"/>
            </a:pPr>
            <a:r>
              <a:rPr lang="fr-CA" sz="1700" dirty="0"/>
              <a:t>Groupes en données : Recensement, Enquête sur la santé dans les collectivités canadiennes (ESCC), Base de données longitudinales sur l'immigration (BDIM), Plateforme longitudinale sur l'éducation et le marché du travail (PLEMT), et Banque de données administratives longitudinales (BDAL).</a:t>
            </a:r>
          </a:p>
          <a:p>
            <a:pPr fontAlgn="base">
              <a:spcAft>
                <a:spcPts val="600"/>
              </a:spcAft>
            </a:pPr>
            <a:r>
              <a:rPr lang="en-US" sz="2000" b="1" dirty="0" err="1"/>
              <a:t>Groupes</a:t>
            </a:r>
            <a:r>
              <a:rPr lang="en-US" sz="2000" b="1" dirty="0"/>
              <a:t> </a:t>
            </a:r>
            <a:r>
              <a:rPr lang="en-US" sz="2000" b="1" dirty="0" err="1"/>
              <a:t>en</a:t>
            </a:r>
            <a:r>
              <a:rPr lang="en-US" sz="2000" b="1" dirty="0"/>
              <a:t> recherche</a:t>
            </a:r>
          </a:p>
          <a:p>
            <a:pPr marL="342900" indent="-342900" fontAlgn="base">
              <a:spcAft>
                <a:spcPts val="600"/>
              </a:spcAft>
              <a:buFont typeface="Arial" panose="020B0604020202020204" pitchFamily="34" charset="0"/>
              <a:buChar char="•"/>
            </a:pPr>
            <a:r>
              <a:rPr lang="fr-CA" sz="1700" dirty="0"/>
              <a:t>Décembre 2025 : invitation aux chercheuses et chercheurs à se joindre à des groupes de </a:t>
            </a:r>
            <a:br>
              <a:rPr lang="fr-CA" sz="1700" dirty="0"/>
            </a:br>
            <a:r>
              <a:rPr lang="fr-CA" sz="1700" dirty="0"/>
              <a:t>concertation en recherche selon les intérêts exprimés par la communauté du Réseau.</a:t>
            </a:r>
          </a:p>
        </p:txBody>
      </p:sp>
      <p:sp>
        <p:nvSpPr>
          <p:cNvPr id="2" name="TextBox 4">
            <a:extLst>
              <a:ext uri="{FF2B5EF4-FFF2-40B4-BE49-F238E27FC236}">
                <a16:creationId xmlns:a16="http://schemas.microsoft.com/office/drawing/2014/main" id="{40EC33A2-BF93-7E59-FA73-3DB4CD6A051B}"/>
              </a:ext>
            </a:extLst>
          </p:cNvPr>
          <p:cNvSpPr txBox="1"/>
          <p:nvPr/>
        </p:nvSpPr>
        <p:spPr>
          <a:xfrm>
            <a:off x="428942" y="5857204"/>
            <a:ext cx="9172258" cy="369332"/>
          </a:xfrm>
          <a:prstGeom prst="rect">
            <a:avLst/>
          </a:prstGeom>
          <a:noFill/>
        </p:spPr>
        <p:txBody>
          <a:bodyPr wrap="square">
            <a:spAutoFit/>
          </a:bodyPr>
          <a:lstStyle/>
          <a:p>
            <a:r>
              <a:rPr lang="en-US" sz="1800" b="1" dirty="0">
                <a:solidFill>
                  <a:srgbClr val="527CA6"/>
                </a:solidFill>
              </a:rPr>
              <a:t>Question </a:t>
            </a:r>
            <a:r>
              <a:rPr lang="en-US" b="1" dirty="0">
                <a:solidFill>
                  <a:srgbClr val="527CA6"/>
                </a:solidFill>
              </a:rPr>
              <a:t>à </a:t>
            </a:r>
            <a:r>
              <a:rPr lang="en-US" b="1" dirty="0" err="1">
                <a:solidFill>
                  <a:srgbClr val="527CA6"/>
                </a:solidFill>
              </a:rPr>
              <a:t>l’auditoire</a:t>
            </a:r>
            <a:r>
              <a:rPr lang="en-US" b="1" dirty="0">
                <a:solidFill>
                  <a:srgbClr val="527CA6"/>
                </a:solidFill>
              </a:rPr>
              <a:t> : </a:t>
            </a:r>
            <a:r>
              <a:rPr lang="en-US" sz="1800" dirty="0"/>
              <a:t>Est-</a:t>
            </a:r>
            <a:r>
              <a:rPr lang="en-US" sz="1800" dirty="0" err="1"/>
              <a:t>ce</a:t>
            </a:r>
            <a:r>
              <a:rPr lang="en-US" sz="1800" dirty="0"/>
              <a:t> que </a:t>
            </a:r>
            <a:r>
              <a:rPr lang="en-US" sz="1800" dirty="0" err="1"/>
              <a:t>ce</a:t>
            </a:r>
            <a:r>
              <a:rPr lang="en-US" sz="1800" dirty="0"/>
              <a:t> type de </a:t>
            </a:r>
            <a:r>
              <a:rPr lang="en-US" sz="1800" dirty="0" err="1"/>
              <a:t>groupe</a:t>
            </a:r>
            <a:r>
              <a:rPr lang="en-US" sz="1800" dirty="0"/>
              <a:t> de concertation </a:t>
            </a:r>
            <a:r>
              <a:rPr lang="en-US" sz="1800" dirty="0" err="1"/>
              <a:t>vous</a:t>
            </a:r>
            <a:r>
              <a:rPr lang="en-US" sz="1800" dirty="0"/>
              <a:t> </a:t>
            </a:r>
            <a:r>
              <a:rPr lang="en-US" sz="1800" dirty="0" err="1"/>
              <a:t>intéresse</a:t>
            </a:r>
            <a:r>
              <a:rPr lang="en-US" sz="1800" dirty="0"/>
              <a:t> ?</a:t>
            </a:r>
          </a:p>
        </p:txBody>
      </p:sp>
    </p:spTree>
    <p:extLst>
      <p:ext uri="{BB962C8B-B14F-4D97-AF65-F5344CB8AC3E}">
        <p14:creationId xmlns:p14="http://schemas.microsoft.com/office/powerpoint/2010/main" val="3219435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F327-9F16-846E-CE4A-39DDABDB0564}"/>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6FE0A756-D48D-FDB2-AB49-7E855271B461}"/>
              </a:ext>
            </a:extLst>
          </p:cNvPr>
          <p:cNvSpPr txBox="1"/>
          <p:nvPr/>
        </p:nvSpPr>
        <p:spPr>
          <a:xfrm>
            <a:off x="247135" y="1155922"/>
            <a:ext cx="11809743" cy="4955203"/>
          </a:xfrm>
          <a:prstGeom prst="rect">
            <a:avLst/>
          </a:prstGeom>
          <a:noFill/>
        </p:spPr>
        <p:txBody>
          <a:bodyPr wrap="square" lIns="91440" tIns="45720" rIns="91440" bIns="45720" anchor="t">
            <a:spAutoFit/>
          </a:bodyPr>
          <a:lstStyle/>
          <a:p>
            <a:pPr fontAlgn="base">
              <a:spcBef>
                <a:spcPts val="1200"/>
              </a:spcBef>
              <a:spcAft>
                <a:spcPts val="1200"/>
              </a:spcAft>
            </a:pPr>
            <a:r>
              <a:rPr lang="en-US" sz="3200" b="1" dirty="0" err="1">
                <a:solidFill>
                  <a:schemeClr val="accent1"/>
                </a:solidFill>
                <a:latin typeface="Arial" panose="020B0604020202020204" pitchFamily="34" charset="0"/>
                <a:cs typeface="Arial" panose="020B0604020202020204" pitchFamily="34" charset="0"/>
              </a:rPr>
              <a:t>Programmes</a:t>
            </a:r>
            <a:r>
              <a:rPr lang="en-US" sz="3200" b="1" dirty="0">
                <a:solidFill>
                  <a:schemeClr val="accent1"/>
                </a:solidFill>
                <a:latin typeface="Arial" panose="020B0604020202020204" pitchFamily="34" charset="0"/>
                <a:cs typeface="Arial" panose="020B0604020202020204" pitchFamily="34" charset="0"/>
              </a:rPr>
              <a:t> de recherche collaborative – </a:t>
            </a:r>
            <a:r>
              <a:rPr lang="en-US" sz="3200" b="1" dirty="0" err="1">
                <a:solidFill>
                  <a:schemeClr val="accent1"/>
                </a:solidFill>
                <a:latin typeface="Arial" panose="020B0604020202020204" pitchFamily="34" charset="0"/>
                <a:cs typeface="Arial" panose="020B0604020202020204" pitchFamily="34" charset="0"/>
              </a:rPr>
              <a:t>exemples</a:t>
            </a:r>
            <a:endParaRPr lang="en-US" sz="3200" b="1" dirty="0">
              <a:solidFill>
                <a:schemeClr val="accent1"/>
              </a:solidFill>
              <a:latin typeface="Arial" panose="020B0604020202020204" pitchFamily="34" charset="0"/>
              <a:cs typeface="Arial" panose="020B0604020202020204" pitchFamily="34" charset="0"/>
            </a:endParaRPr>
          </a:p>
          <a:p>
            <a:pPr fontAlgn="base">
              <a:spcAft>
                <a:spcPts val="600"/>
              </a:spcAft>
            </a:pPr>
            <a:r>
              <a:rPr lang="en-US" sz="2000" b="1" dirty="0" err="1"/>
              <a:t>Programme</a:t>
            </a:r>
            <a:r>
              <a:rPr lang="en-US" sz="2000" b="1" dirty="0"/>
              <a:t> de recherche collaborative </a:t>
            </a:r>
            <a:r>
              <a:rPr lang="en-US" sz="2000" b="1" dirty="0" err="1"/>
              <a:t>en</a:t>
            </a:r>
            <a:r>
              <a:rPr lang="en-US" sz="2000" b="1" dirty="0"/>
              <a:t> </a:t>
            </a:r>
            <a:r>
              <a:rPr lang="en-US" sz="2000" b="1" dirty="0" err="1"/>
              <a:t>cours</a:t>
            </a:r>
            <a:r>
              <a:rPr lang="en-US" sz="2000" b="1" dirty="0"/>
              <a:t> avec le </a:t>
            </a:r>
            <a:r>
              <a:rPr lang="en-US" sz="2000" b="1" dirty="0" err="1"/>
              <a:t>ministère</a:t>
            </a:r>
            <a:r>
              <a:rPr lang="en-US" sz="2000" b="1" dirty="0"/>
              <a:t> de la Justice du Canada </a:t>
            </a:r>
          </a:p>
          <a:p>
            <a:pPr marL="342900" indent="-342900" fontAlgn="base">
              <a:spcAft>
                <a:spcPts val="600"/>
              </a:spcAft>
              <a:buFont typeface="Wingdings" panose="05000000000000000000" pitchFamily="2" charset="2"/>
              <a:buChar char="§"/>
            </a:pPr>
            <a:r>
              <a:rPr lang="fr-CA" i="1" dirty="0">
                <a:solidFill>
                  <a:schemeClr val="accent1"/>
                </a:solidFill>
              </a:rPr>
              <a:t>Mécanisme</a:t>
            </a:r>
            <a:r>
              <a:rPr lang="fr-CA" i="1" dirty="0"/>
              <a:t> </a:t>
            </a:r>
            <a:r>
              <a:rPr lang="fr-CA" dirty="0"/>
              <a:t>: Protocole d’entente, appel de propositions collaboratif et grille d’évaluation des propositions, évaluation conjointe des propositions par le RCCDR et le partenaire. </a:t>
            </a:r>
          </a:p>
          <a:p>
            <a:pPr marL="342900" indent="-342900" fontAlgn="base">
              <a:spcAft>
                <a:spcPts val="600"/>
              </a:spcAft>
              <a:buFont typeface="Wingdings" panose="05000000000000000000" pitchFamily="2" charset="2"/>
              <a:buChar char="§"/>
            </a:pPr>
            <a:r>
              <a:rPr lang="fr-CA" i="1" dirty="0">
                <a:solidFill>
                  <a:schemeClr val="accent1"/>
                </a:solidFill>
              </a:rPr>
              <a:t>Thèmes cibles définis par le partenaire </a:t>
            </a:r>
            <a:r>
              <a:rPr lang="fr-CA" dirty="0"/>
              <a:t>: Effets des expériences vécues durant l’enfance (en tant que victime ou en lien avec la criminalité), notamment celles liées au système de protection de l’enfance; marchés du travail et situation d’emploi; niveau de scolarité; victimisation; et facteurs non individuels (caractéristiques au niveau des quartiers). </a:t>
            </a:r>
          </a:p>
          <a:p>
            <a:pPr marL="342900" indent="-342900" fontAlgn="base">
              <a:spcAft>
                <a:spcPts val="1400"/>
              </a:spcAft>
              <a:buFont typeface="Wingdings" panose="05000000000000000000" pitchFamily="2" charset="2"/>
              <a:buChar char="§"/>
            </a:pPr>
            <a:r>
              <a:rPr lang="fr-CA" i="1" dirty="0">
                <a:solidFill>
                  <a:schemeClr val="accent1"/>
                </a:solidFill>
              </a:rPr>
              <a:t>Cinq projets financés </a:t>
            </a:r>
            <a:r>
              <a:rPr lang="fr-CA" dirty="0"/>
              <a:t>: Menés par des chercheuses et chercheurs des établissements suivants : </a:t>
            </a:r>
            <a:r>
              <a:rPr lang="fr-CA" dirty="0" err="1"/>
              <a:t>University</a:t>
            </a:r>
            <a:r>
              <a:rPr lang="fr-CA" dirty="0"/>
              <a:t> of Windsor, Université McGill, St. Francis Xavier </a:t>
            </a:r>
            <a:r>
              <a:rPr lang="fr-CA" dirty="0" err="1"/>
              <a:t>University</a:t>
            </a:r>
            <a:r>
              <a:rPr lang="fr-CA" dirty="0"/>
              <a:t>, </a:t>
            </a:r>
            <a:r>
              <a:rPr lang="fr-CA" dirty="0" err="1"/>
              <a:t>University</a:t>
            </a:r>
            <a:r>
              <a:rPr lang="fr-CA" dirty="0"/>
              <a:t> of Saskatchewan et Université de Montréal. </a:t>
            </a:r>
          </a:p>
          <a:p>
            <a:pPr fontAlgn="base">
              <a:spcAft>
                <a:spcPts val="600"/>
              </a:spcAft>
            </a:pPr>
            <a:r>
              <a:rPr lang="fr-CA" sz="2000" b="1" dirty="0"/>
              <a:t>Programmes de recherche collaborative antérieurs utilisant ce modèle : </a:t>
            </a:r>
          </a:p>
          <a:p>
            <a:pPr marL="342900" indent="-342900" fontAlgn="base">
              <a:spcAft>
                <a:spcPts val="300"/>
              </a:spcAft>
              <a:buFont typeface="Wingdings" panose="05000000000000000000" pitchFamily="2" charset="2"/>
              <a:buChar char="§"/>
            </a:pPr>
            <a:r>
              <a:rPr lang="en-US" dirty="0"/>
              <a:t>Femmes et Égalité des genres Canada</a:t>
            </a:r>
          </a:p>
          <a:p>
            <a:pPr marL="342900" indent="-342900" fontAlgn="base">
              <a:spcAft>
                <a:spcPts val="300"/>
              </a:spcAft>
              <a:buFont typeface="Wingdings" panose="05000000000000000000" pitchFamily="2" charset="2"/>
              <a:buChar char="§"/>
            </a:pPr>
            <a:r>
              <a:rPr lang="en-US" dirty="0"/>
              <a:t>Global Risk Institute</a:t>
            </a:r>
          </a:p>
          <a:p>
            <a:pPr marL="342900" indent="-342900" fontAlgn="base">
              <a:spcAft>
                <a:spcPts val="600"/>
              </a:spcAft>
              <a:buFont typeface="Wingdings" panose="05000000000000000000" pitchFamily="2" charset="2"/>
              <a:buChar char="§"/>
            </a:pPr>
            <a:r>
              <a:rPr lang="en-US" dirty="0"/>
              <a:t>Services aux </a:t>
            </a:r>
            <a:r>
              <a:rPr lang="en-US" dirty="0" err="1"/>
              <a:t>autochtones</a:t>
            </a:r>
            <a:r>
              <a:rPr lang="en-US" dirty="0"/>
              <a:t> Canada</a:t>
            </a:r>
          </a:p>
        </p:txBody>
      </p:sp>
    </p:spTree>
    <p:extLst>
      <p:ext uri="{BB962C8B-B14F-4D97-AF65-F5344CB8AC3E}">
        <p14:creationId xmlns:p14="http://schemas.microsoft.com/office/powerpoint/2010/main" val="4114037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247135" y="1190212"/>
            <a:ext cx="11809743" cy="5191165"/>
          </a:xfrm>
          <a:prstGeom prst="rect">
            <a:avLst/>
          </a:prstGeom>
          <a:noFill/>
        </p:spPr>
        <p:txBody>
          <a:bodyPr wrap="square" lIns="91440" tIns="45720" rIns="91440" bIns="45720" anchor="t">
            <a:spAutoFit/>
          </a:bodyPr>
          <a:lstStyle/>
          <a:p>
            <a:pPr fontAlgn="base">
              <a:spcBef>
                <a:spcPts val="1200"/>
              </a:spcBef>
              <a:spcAft>
                <a:spcPts val="600"/>
              </a:spcAft>
            </a:pPr>
            <a:r>
              <a:rPr lang="en-US" sz="3200" b="1" dirty="0">
                <a:solidFill>
                  <a:schemeClr val="accent1"/>
                </a:solidFill>
                <a:latin typeface="Arial"/>
                <a:cs typeface="Arial"/>
              </a:rPr>
              <a:t>Que font les </a:t>
            </a:r>
            <a:r>
              <a:rPr lang="en-US" sz="3200" b="1" dirty="0" err="1">
                <a:solidFill>
                  <a:schemeClr val="accent1"/>
                </a:solidFill>
                <a:latin typeface="Arial"/>
                <a:cs typeface="Arial"/>
              </a:rPr>
              <a:t>chercheuses</a:t>
            </a:r>
            <a:r>
              <a:rPr lang="en-US" sz="3200" b="1" dirty="0">
                <a:solidFill>
                  <a:schemeClr val="accent1"/>
                </a:solidFill>
                <a:latin typeface="Arial"/>
                <a:cs typeface="Arial"/>
              </a:rPr>
              <a:t> et </a:t>
            </a:r>
            <a:r>
              <a:rPr lang="en-US" sz="3200" b="1" dirty="0" err="1">
                <a:solidFill>
                  <a:schemeClr val="accent1"/>
                </a:solidFill>
                <a:latin typeface="Arial"/>
                <a:cs typeface="Arial"/>
              </a:rPr>
              <a:t>chercheurs</a:t>
            </a:r>
            <a:r>
              <a:rPr lang="en-US" sz="3200" b="1" dirty="0">
                <a:solidFill>
                  <a:schemeClr val="accent1"/>
                </a:solidFill>
                <a:latin typeface="Arial"/>
                <a:cs typeface="Arial"/>
              </a:rPr>
              <a:t> du RCCDR ?</a:t>
            </a:r>
          </a:p>
          <a:p>
            <a:pPr fontAlgn="base">
              <a:spcBef>
                <a:spcPts val="1200"/>
              </a:spcBef>
              <a:spcAft>
                <a:spcPts val="600"/>
              </a:spcAft>
            </a:pPr>
            <a:r>
              <a:rPr lang="en-US" sz="2000" dirty="0"/>
              <a:t>Les </a:t>
            </a:r>
            <a:r>
              <a:rPr lang="en-US" sz="2000" dirty="0" err="1"/>
              <a:t>chercheuses</a:t>
            </a:r>
            <a:r>
              <a:rPr lang="en-US" sz="2000" dirty="0"/>
              <a:t> et </a:t>
            </a:r>
            <a:r>
              <a:rPr lang="en-US" sz="2000" dirty="0" err="1"/>
              <a:t>chercheurs</a:t>
            </a:r>
            <a:r>
              <a:rPr lang="en-US" sz="2000" dirty="0"/>
              <a:t> du RCCDR </a:t>
            </a:r>
            <a:r>
              <a:rPr lang="en-US" sz="2000" dirty="0" err="1"/>
              <a:t>sont</a:t>
            </a:r>
            <a:r>
              <a:rPr lang="en-US" sz="2000" dirty="0"/>
              <a:t> </a:t>
            </a:r>
            <a:r>
              <a:rPr lang="en-US" sz="2000" dirty="0" err="1"/>
              <a:t>indépendants</a:t>
            </a:r>
            <a:r>
              <a:rPr lang="en-US" sz="2000" dirty="0"/>
              <a:t>, </a:t>
            </a:r>
            <a:r>
              <a:rPr lang="en-US" sz="2000" dirty="0" err="1"/>
              <a:t>crédibles</a:t>
            </a:r>
            <a:r>
              <a:rPr lang="en-US" sz="2000" dirty="0"/>
              <a:t> et </a:t>
            </a:r>
            <a:r>
              <a:rPr lang="en-US" sz="2000" dirty="0" err="1"/>
              <a:t>hautement</a:t>
            </a:r>
            <a:r>
              <a:rPr lang="en-US" sz="2000" dirty="0"/>
              <a:t> </a:t>
            </a:r>
            <a:r>
              <a:rPr lang="en-US" sz="2000" dirty="0" err="1"/>
              <a:t>qualifiés</a:t>
            </a:r>
            <a:r>
              <a:rPr lang="en-US" sz="2000" dirty="0"/>
              <a:t> </a:t>
            </a:r>
            <a:r>
              <a:rPr lang="en-US" sz="2000" dirty="0" err="1"/>
              <a:t>en</a:t>
            </a:r>
            <a:r>
              <a:rPr lang="en-US" sz="2000" dirty="0"/>
              <a:t> </a:t>
            </a:r>
            <a:r>
              <a:rPr lang="en-US" sz="2000" dirty="0" err="1"/>
              <a:t>analyse</a:t>
            </a:r>
            <a:r>
              <a:rPr lang="en-US" sz="2000" dirty="0"/>
              <a:t> de données et </a:t>
            </a:r>
            <a:r>
              <a:rPr lang="en-US" sz="2000" dirty="0" err="1"/>
              <a:t>en</a:t>
            </a:r>
            <a:r>
              <a:rPr lang="en-US" sz="2000" dirty="0"/>
              <a:t> </a:t>
            </a:r>
            <a:r>
              <a:rPr lang="en-US" sz="2000" dirty="0" err="1"/>
              <a:t>méthodes</a:t>
            </a:r>
            <a:r>
              <a:rPr lang="en-US" sz="2000" dirty="0"/>
              <a:t> de recherche.</a:t>
            </a:r>
          </a:p>
          <a:p>
            <a:pPr fontAlgn="base">
              <a:spcBef>
                <a:spcPts val="1200"/>
              </a:spcBef>
              <a:spcAft>
                <a:spcPts val="600"/>
              </a:spcAft>
            </a:pPr>
            <a:r>
              <a:rPr lang="en-US" sz="2000" b="1" dirty="0" err="1"/>
              <a:t>L’équipe</a:t>
            </a:r>
            <a:r>
              <a:rPr lang="en-US" sz="2000" b="1" dirty="0"/>
              <a:t> centrale du RCCDR </a:t>
            </a:r>
            <a:r>
              <a:rPr lang="en-US" sz="2000" b="1" dirty="0" err="1"/>
              <a:t>peut</a:t>
            </a:r>
            <a:r>
              <a:rPr lang="en-US" sz="2000" b="1" dirty="0"/>
              <a:t> mobiliser le Réseau pour :</a:t>
            </a:r>
          </a:p>
          <a:p>
            <a:pPr marL="342900" indent="-342900" fontAlgn="base">
              <a:spcAft>
                <a:spcPts val="800"/>
              </a:spcAft>
              <a:buFont typeface="Wingdings" panose="05000000000000000000" pitchFamily="2" charset="2"/>
              <a:buChar char="§"/>
            </a:pPr>
            <a:r>
              <a:rPr lang="en-US" sz="1900" i="1" dirty="0" err="1">
                <a:solidFill>
                  <a:schemeClr val="accent1"/>
                </a:solidFill>
              </a:rPr>
              <a:t>combler</a:t>
            </a:r>
            <a:r>
              <a:rPr lang="en-US" sz="1900" i="1" dirty="0">
                <a:solidFill>
                  <a:schemeClr val="accent1"/>
                </a:solidFill>
              </a:rPr>
              <a:t> les lacunes </a:t>
            </a:r>
            <a:r>
              <a:rPr lang="fr-CA" sz="1900" dirty="0"/>
              <a:t>en matière d’analyse de données et de capacité de recherche</a:t>
            </a:r>
            <a:endParaRPr lang="en-US" sz="1900" dirty="0"/>
          </a:p>
          <a:p>
            <a:pPr marL="342900" indent="-342900" fontAlgn="base">
              <a:spcAft>
                <a:spcPts val="800"/>
              </a:spcAft>
              <a:buFont typeface="Wingdings" panose="05000000000000000000" pitchFamily="2" charset="2"/>
              <a:buChar char="§"/>
            </a:pPr>
            <a:r>
              <a:rPr lang="en-US" sz="1900" i="1" dirty="0" err="1">
                <a:solidFill>
                  <a:schemeClr val="accent1"/>
                </a:solidFill>
              </a:rPr>
              <a:t>conseiller</a:t>
            </a:r>
            <a:r>
              <a:rPr lang="en-US" sz="1900" i="1" dirty="0">
                <a:solidFill>
                  <a:schemeClr val="accent1"/>
                </a:solidFill>
              </a:rPr>
              <a:t> </a:t>
            </a:r>
            <a:r>
              <a:rPr lang="fr-CA" sz="1900" dirty="0"/>
              <a:t>sur les sources de données et l’analyse de données afin </a:t>
            </a:r>
            <a:r>
              <a:rPr lang="fr-CA" sz="1900" i="1" dirty="0">
                <a:solidFill>
                  <a:schemeClr val="accent1"/>
                </a:solidFill>
              </a:rPr>
              <a:t>d’offrir un éclairage pertinent </a:t>
            </a:r>
            <a:br>
              <a:rPr lang="fr-CA" sz="1900" i="1" dirty="0">
                <a:solidFill>
                  <a:schemeClr val="accent1"/>
                </a:solidFill>
              </a:rPr>
            </a:br>
            <a:r>
              <a:rPr lang="fr-CA" sz="1900" dirty="0"/>
              <a:t>dans des domaines prioritaires</a:t>
            </a:r>
          </a:p>
          <a:p>
            <a:pPr marL="342900" indent="-342900" fontAlgn="base">
              <a:spcAft>
                <a:spcPts val="800"/>
              </a:spcAft>
              <a:buFont typeface="Wingdings" panose="05000000000000000000" pitchFamily="2" charset="2"/>
              <a:buChar char="§"/>
            </a:pPr>
            <a:r>
              <a:rPr lang="fr-CA" sz="1900" dirty="0"/>
              <a:t>fournir </a:t>
            </a:r>
            <a:r>
              <a:rPr lang="fr-CA" sz="1900" i="1" dirty="0">
                <a:solidFill>
                  <a:schemeClr val="accent1"/>
                </a:solidFill>
              </a:rPr>
              <a:t>une évaluation des questions et les résultats de recherche</a:t>
            </a:r>
          </a:p>
          <a:p>
            <a:pPr marL="342900" indent="-342900" fontAlgn="base">
              <a:spcAft>
                <a:spcPts val="800"/>
              </a:spcAft>
              <a:buFont typeface="Wingdings" panose="05000000000000000000" pitchFamily="2" charset="2"/>
              <a:buChar char="§"/>
            </a:pPr>
            <a:r>
              <a:rPr lang="fr-CA" sz="1900" dirty="0"/>
              <a:t>réaliser des analyses de données et des recherches pour </a:t>
            </a:r>
            <a:r>
              <a:rPr lang="fr-CA" sz="1900" i="1" dirty="0">
                <a:solidFill>
                  <a:schemeClr val="accent1"/>
                </a:solidFill>
              </a:rPr>
              <a:t>éclairer les politiques, les programmes </a:t>
            </a:r>
            <a:br>
              <a:rPr lang="fr-CA" sz="1900" i="1" dirty="0">
                <a:solidFill>
                  <a:schemeClr val="accent1"/>
                </a:solidFill>
              </a:rPr>
            </a:br>
            <a:r>
              <a:rPr lang="fr-CA" sz="1900" i="1" dirty="0">
                <a:solidFill>
                  <a:schemeClr val="accent1"/>
                </a:solidFill>
              </a:rPr>
              <a:t>et les pratiques</a:t>
            </a:r>
            <a:endParaRPr lang="en-US" sz="1900" i="1" dirty="0">
              <a:solidFill>
                <a:schemeClr val="accent1"/>
              </a:solidFill>
            </a:endParaRPr>
          </a:p>
          <a:p>
            <a:pPr marL="342900" indent="-342900" fontAlgn="base">
              <a:spcAft>
                <a:spcPts val="800"/>
              </a:spcAft>
              <a:buFont typeface="Wingdings" panose="05000000000000000000" pitchFamily="2" charset="2"/>
              <a:buChar char="§"/>
            </a:pPr>
            <a:r>
              <a:rPr lang="fr-CA" sz="1900" i="1" dirty="0">
                <a:solidFill>
                  <a:schemeClr val="accent1"/>
                </a:solidFill>
              </a:rPr>
              <a:t>diversifier et enrichir les interactions</a:t>
            </a:r>
            <a:r>
              <a:rPr lang="fr-CA" sz="1900" dirty="0"/>
              <a:t> avec les parties prenantes</a:t>
            </a:r>
            <a:endParaRPr lang="en-US" sz="1900" dirty="0"/>
          </a:p>
          <a:p>
            <a:pPr marL="342900" indent="-342900" fontAlgn="base">
              <a:spcAft>
                <a:spcPts val="800"/>
              </a:spcAft>
              <a:buFont typeface="Wingdings" panose="05000000000000000000" pitchFamily="2" charset="2"/>
              <a:buChar char="§"/>
            </a:pPr>
            <a:r>
              <a:rPr lang="fr-CA" sz="1900" dirty="0"/>
              <a:t>diffuser les résultats de recherche </a:t>
            </a:r>
            <a:r>
              <a:rPr lang="fr-CA" sz="1900" i="1" dirty="0">
                <a:solidFill>
                  <a:schemeClr val="accent1"/>
                </a:solidFill>
              </a:rPr>
              <a:t>pour renforcer la compréhension du public et </a:t>
            </a:r>
            <a:br>
              <a:rPr lang="fr-CA" sz="1900" i="1" dirty="0">
                <a:solidFill>
                  <a:schemeClr val="accent1"/>
                </a:solidFill>
              </a:rPr>
            </a:br>
            <a:r>
              <a:rPr lang="fr-CA" sz="1900" i="1" dirty="0">
                <a:solidFill>
                  <a:schemeClr val="accent1"/>
                </a:solidFill>
              </a:rPr>
              <a:t>la confiance envers la science et la recherche</a:t>
            </a:r>
            <a:endParaRPr lang="en-US" sz="1900" i="1" dirty="0">
              <a:solidFill>
                <a:schemeClr val="accent1"/>
              </a:solidFill>
            </a:endParaRPr>
          </a:p>
        </p:txBody>
      </p:sp>
    </p:spTree>
    <p:extLst>
      <p:ext uri="{BB962C8B-B14F-4D97-AF65-F5344CB8AC3E}">
        <p14:creationId xmlns:p14="http://schemas.microsoft.com/office/powerpoint/2010/main" val="624593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95A8-85B7-07CD-9166-6B050132E457}"/>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3CBF1FA5-EB18-BF41-63B7-E0CABB3E5FA6}"/>
              </a:ext>
            </a:extLst>
          </p:cNvPr>
          <p:cNvSpPr txBox="1"/>
          <p:nvPr/>
        </p:nvSpPr>
        <p:spPr>
          <a:xfrm>
            <a:off x="633046" y="1204807"/>
            <a:ext cx="10586706" cy="4816703"/>
          </a:xfrm>
          <a:prstGeom prst="rect">
            <a:avLst/>
          </a:prstGeom>
          <a:noFill/>
        </p:spPr>
        <p:txBody>
          <a:bodyPr wrap="square" lIns="91440" tIns="45720" rIns="91440" bIns="45720" anchor="t">
            <a:spAutoFit/>
          </a:bodyPr>
          <a:lstStyle/>
          <a:p>
            <a:pPr fontAlgn="base">
              <a:spcAft>
                <a:spcPts val="1800"/>
              </a:spcAft>
            </a:pPr>
            <a:r>
              <a:rPr lang="en-US" sz="3200" b="1" dirty="0">
                <a:solidFill>
                  <a:schemeClr val="accent1"/>
                </a:solidFill>
                <a:latin typeface="Arial"/>
                <a:cs typeface="Arial"/>
              </a:rPr>
              <a:t>En savoir plus sur </a:t>
            </a:r>
            <a:r>
              <a:rPr lang="en-US" sz="3200" b="1" dirty="0" err="1">
                <a:solidFill>
                  <a:schemeClr val="accent1"/>
                </a:solidFill>
                <a:latin typeface="Arial"/>
                <a:cs typeface="Arial"/>
              </a:rPr>
              <a:t>vous</a:t>
            </a:r>
            <a:endParaRPr lang="en-US" dirty="0">
              <a:solidFill>
                <a:schemeClr val="accent1"/>
              </a:solidFill>
              <a:latin typeface="Arial Nova Light"/>
              <a:cs typeface="Arial"/>
            </a:endParaRPr>
          </a:p>
          <a:p>
            <a:pPr>
              <a:spcAft>
                <a:spcPts val="1200"/>
              </a:spcAft>
            </a:pPr>
            <a:r>
              <a:rPr lang="fr-CA" sz="2200" b="1" dirty="0">
                <a:solidFill>
                  <a:schemeClr val="accent1"/>
                </a:solidFill>
              </a:rPr>
              <a:t>Pour les collègues du milieu des politiques publiques – </a:t>
            </a:r>
            <a:r>
              <a:rPr lang="fr-CA" sz="2200" i="1" dirty="0"/>
              <a:t>Quelles sont vos priorités en matière de prise de décision fondée sur des données probantes ?</a:t>
            </a:r>
            <a:endParaRPr lang="fr-CA" sz="2200" dirty="0"/>
          </a:p>
          <a:p>
            <a:pPr>
              <a:spcAft>
                <a:spcPts val="1200"/>
              </a:spcAft>
            </a:pPr>
            <a:r>
              <a:rPr lang="fr-CA" sz="2200" b="1" dirty="0">
                <a:solidFill>
                  <a:schemeClr val="accent1"/>
                </a:solidFill>
              </a:rPr>
              <a:t>Pour les chercheuses et chercheurs du RCCDR – </a:t>
            </a:r>
            <a:r>
              <a:rPr lang="fr-CA" sz="2200" i="1" dirty="0"/>
              <a:t>Quels liens avec d’autres collègues en recherche ou provenant du milieu des politiques vous seraient utiles ?</a:t>
            </a:r>
            <a:endParaRPr lang="fr-CA" sz="2200" dirty="0"/>
          </a:p>
          <a:p>
            <a:pPr>
              <a:spcAft>
                <a:spcPts val="2400"/>
              </a:spcAft>
            </a:pPr>
            <a:r>
              <a:rPr lang="fr-CA" sz="2200" b="1" dirty="0">
                <a:solidFill>
                  <a:schemeClr val="accent1"/>
                </a:solidFill>
              </a:rPr>
              <a:t>Pour tout le monde – </a:t>
            </a:r>
            <a:r>
              <a:rPr lang="fr-CA" sz="2200" i="1" dirty="0"/>
              <a:t>Que pouvons-nous mettre en œuvre collectivement pour répondre à des priorités communes ? Quelles mises en relation, facilitées par le RCCDR, vous seraient utiles ?</a:t>
            </a:r>
          </a:p>
          <a:p>
            <a:r>
              <a:rPr lang="fr-CA" sz="2200" b="1" dirty="0">
                <a:solidFill>
                  <a:schemeClr val="accent1"/>
                </a:solidFill>
              </a:rPr>
              <a:t>Réservez la date </a:t>
            </a:r>
            <a:r>
              <a:rPr lang="fr-CA" sz="2200" b="1" dirty="0"/>
              <a:t>– 28 octobre 2025, à Toronto</a:t>
            </a:r>
            <a:br>
              <a:rPr lang="fr-CA" sz="2200" b="1" dirty="0"/>
            </a:br>
            <a:r>
              <a:rPr lang="fr-CA" sz="2200" b="1" i="1" dirty="0"/>
              <a:t>Événement de clôture du projet « Portes ouvertes aux données »</a:t>
            </a:r>
          </a:p>
          <a:p>
            <a:endParaRPr lang="fr-CA" sz="2200" i="1" dirty="0"/>
          </a:p>
        </p:txBody>
      </p:sp>
    </p:spTree>
    <p:extLst>
      <p:ext uri="{BB962C8B-B14F-4D97-AF65-F5344CB8AC3E}">
        <p14:creationId xmlns:p14="http://schemas.microsoft.com/office/powerpoint/2010/main" val="3675876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67076-1CBE-4968-A0C0-19A7F1FF23B3}"/>
              </a:ext>
            </a:extLst>
          </p:cNvPr>
          <p:cNvSpPr>
            <a:spLocks noGrp="1"/>
          </p:cNvSpPr>
          <p:nvPr>
            <p:ph type="title"/>
          </p:nvPr>
        </p:nvSpPr>
        <p:spPr/>
        <p:txBody>
          <a:bodyPr/>
          <a:lstStyle/>
          <a:p>
            <a:r>
              <a:rPr lang="fr-CA" dirty="0"/>
              <a:t>Le CIQSS, c’est :</a:t>
            </a:r>
          </a:p>
        </p:txBody>
      </p:sp>
      <p:sp>
        <p:nvSpPr>
          <p:cNvPr id="3" name="Espace réservé du contenu 2">
            <a:extLst>
              <a:ext uri="{FF2B5EF4-FFF2-40B4-BE49-F238E27FC236}">
                <a16:creationId xmlns:a16="http://schemas.microsoft.com/office/drawing/2014/main" id="{15DC94EA-E296-46E6-980D-A20A0E954073}"/>
              </a:ext>
            </a:extLst>
          </p:cNvPr>
          <p:cNvSpPr>
            <a:spLocks noGrp="1"/>
          </p:cNvSpPr>
          <p:nvPr>
            <p:ph idx="1"/>
          </p:nvPr>
        </p:nvSpPr>
        <p:spPr/>
        <p:txBody>
          <a:bodyPr>
            <a:normAutofit/>
          </a:bodyPr>
          <a:lstStyle/>
          <a:p>
            <a:pPr marL="285750" indent="-285750"/>
            <a:r>
              <a:rPr lang="fr-CA" altLang="en-US" dirty="0">
                <a:latin typeface="Calibri" panose="020F0502020204030204" pitchFamily="34" charset="0"/>
                <a:cs typeface="Calibri" panose="020F0502020204030204" pitchFamily="34" charset="0"/>
              </a:rPr>
              <a:t>Près de </a:t>
            </a:r>
            <a:r>
              <a:rPr lang="fr-CA" altLang="en-US" b="1" dirty="0">
                <a:latin typeface="Calibri" panose="020F0502020204030204" pitchFamily="34" charset="0"/>
                <a:cs typeface="Calibri" panose="020F0502020204030204" pitchFamily="34" charset="0"/>
              </a:rPr>
              <a:t>330 projets</a:t>
            </a:r>
            <a:r>
              <a:rPr lang="fr-CA" altLang="en-US" dirty="0">
                <a:latin typeface="Calibri" panose="020F0502020204030204" pitchFamily="34" charset="0"/>
                <a:cs typeface="Calibri" panose="020F0502020204030204" pitchFamily="34" charset="0"/>
              </a:rPr>
              <a:t> de recherche par année, menés par près </a:t>
            </a:r>
            <a:br>
              <a:rPr lang="fr-CA" altLang="en-US" dirty="0">
                <a:latin typeface="Calibri" panose="020F0502020204030204" pitchFamily="34" charset="0"/>
                <a:cs typeface="Calibri" panose="020F0502020204030204" pitchFamily="34" charset="0"/>
              </a:rPr>
            </a:br>
            <a:r>
              <a:rPr lang="fr-CA" altLang="en-US" dirty="0">
                <a:latin typeface="Calibri" panose="020F0502020204030204" pitchFamily="34" charset="0"/>
                <a:cs typeface="Calibri" panose="020F0502020204030204" pitchFamily="34" charset="0"/>
              </a:rPr>
              <a:t>de </a:t>
            </a:r>
            <a:r>
              <a:rPr lang="fr-CA" altLang="en-US" b="1" dirty="0">
                <a:latin typeface="Calibri" panose="020F0502020204030204" pitchFamily="34" charset="0"/>
                <a:cs typeface="Calibri" panose="020F0502020204030204" pitchFamily="34" charset="0"/>
              </a:rPr>
              <a:t>600 chercheuses et chercheurs</a:t>
            </a:r>
            <a:endParaRPr lang="fr-CA" altLang="en-US" dirty="0">
              <a:latin typeface="Calibri" panose="020F0502020204030204" pitchFamily="34" charset="0"/>
              <a:cs typeface="Calibri" panose="020F0502020204030204" pitchFamily="34" charset="0"/>
            </a:endParaRPr>
          </a:p>
          <a:p>
            <a:pPr marL="285750" indent="-285750"/>
            <a:r>
              <a:rPr lang="fr-CA" altLang="en-US" dirty="0">
                <a:latin typeface="Calibri" panose="020F0502020204030204" pitchFamily="34" charset="0"/>
                <a:cs typeface="Calibri" panose="020F0502020204030204" pitchFamily="34" charset="0"/>
              </a:rPr>
              <a:t>Plus de </a:t>
            </a:r>
            <a:r>
              <a:rPr lang="fr-CA" altLang="en-US" b="1" dirty="0">
                <a:latin typeface="Calibri" panose="020F0502020204030204" pitchFamily="34" charset="0"/>
                <a:cs typeface="Calibri" panose="020F0502020204030204" pitchFamily="34" charset="0"/>
              </a:rPr>
              <a:t>500 publications </a:t>
            </a:r>
            <a:r>
              <a:rPr lang="fr-CA" altLang="en-US" dirty="0">
                <a:latin typeface="Calibri" panose="020F0502020204030204" pitchFamily="34" charset="0"/>
                <a:cs typeface="Calibri" panose="020F0502020204030204" pitchFamily="34" charset="0"/>
              </a:rPr>
              <a:t>d’articles dans des revues scientifiques</a:t>
            </a:r>
          </a:p>
          <a:p>
            <a:pPr marL="285750" indent="-285750"/>
            <a:r>
              <a:rPr lang="fr-CA" altLang="en-US" dirty="0">
                <a:latin typeface="Calibri" panose="020F0502020204030204" pitchFamily="34" charset="0"/>
                <a:cs typeface="Calibri" panose="020F0502020204030204" pitchFamily="34" charset="0"/>
              </a:rPr>
              <a:t>37 articles scientifiques et 18 mémoires et thèses en 2024</a:t>
            </a:r>
          </a:p>
          <a:p>
            <a:r>
              <a:rPr lang="fr-CA" dirty="0">
                <a:latin typeface="Calibri" panose="020F0502020204030204" pitchFamily="34" charset="0"/>
                <a:cs typeface="Calibri" panose="020F0502020204030204" pitchFamily="34" charset="0"/>
              </a:rPr>
              <a:t>11 midis-webinaires, tous disponibles sur YT</a:t>
            </a:r>
          </a:p>
          <a:p>
            <a:r>
              <a:rPr lang="fr-CA" dirty="0">
                <a:latin typeface="Calibri" panose="020F0502020204030204" pitchFamily="34" charset="0"/>
                <a:cs typeface="Calibri" panose="020F0502020204030204" pitchFamily="34" charset="0"/>
              </a:rPr>
              <a:t>12 ateliers de formations et écoles d’été</a:t>
            </a:r>
          </a:p>
          <a:p>
            <a:r>
              <a:rPr lang="fr-CA" dirty="0">
                <a:latin typeface="Calibri" panose="020F0502020204030204" pitchFamily="34" charset="0"/>
                <a:cs typeface="Calibri" panose="020F0502020204030204" pitchFamily="34" charset="0"/>
              </a:rPr>
              <a:t>Colloque étudiant et conférences</a:t>
            </a:r>
          </a:p>
        </p:txBody>
      </p:sp>
    </p:spTree>
    <p:extLst>
      <p:ext uri="{BB962C8B-B14F-4D97-AF65-F5344CB8AC3E}">
        <p14:creationId xmlns:p14="http://schemas.microsoft.com/office/powerpoint/2010/main" val="1168891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BEF69F-5534-43A7-A82D-66A8A639135D}"/>
              </a:ext>
            </a:extLst>
          </p:cNvPr>
          <p:cNvSpPr>
            <a:spLocks noGrp="1"/>
          </p:cNvSpPr>
          <p:nvPr>
            <p:ph type="title"/>
          </p:nvPr>
        </p:nvSpPr>
        <p:spPr/>
        <p:txBody>
          <a:bodyPr/>
          <a:lstStyle/>
          <a:p>
            <a:r>
              <a:rPr lang="fr-CA" dirty="0"/>
              <a:t>Formations au CIQSS</a:t>
            </a:r>
          </a:p>
        </p:txBody>
      </p:sp>
      <p:sp>
        <p:nvSpPr>
          <p:cNvPr id="7" name="Espace réservé du contenu 6">
            <a:extLst>
              <a:ext uri="{FF2B5EF4-FFF2-40B4-BE49-F238E27FC236}">
                <a16:creationId xmlns:a16="http://schemas.microsoft.com/office/drawing/2014/main" id="{2940CA94-F05F-7123-1B16-E7E4F7155D6E}"/>
              </a:ext>
            </a:extLst>
          </p:cNvPr>
          <p:cNvSpPr>
            <a:spLocks noGrp="1"/>
          </p:cNvSpPr>
          <p:nvPr>
            <p:ph idx="1"/>
          </p:nvPr>
        </p:nvSpPr>
        <p:spPr>
          <a:xfrm>
            <a:off x="838200" y="1825625"/>
            <a:ext cx="5257800" cy="4351338"/>
          </a:xfrm>
        </p:spPr>
        <p:txBody>
          <a:bodyPr>
            <a:normAutofit/>
          </a:bodyPr>
          <a:lstStyle/>
          <a:p>
            <a:pPr marL="0" indent="0">
              <a:buNone/>
            </a:pPr>
            <a:r>
              <a:rPr lang="fr-CA" sz="2600" b="1" dirty="0"/>
              <a:t>Formations</a:t>
            </a:r>
            <a:r>
              <a:rPr lang="fr-CA" sz="2600" dirty="0"/>
              <a:t> : </a:t>
            </a:r>
          </a:p>
          <a:p>
            <a:r>
              <a:rPr lang="fr-CA" sz="2000" b="1" dirty="0"/>
              <a:t>24 et 25 septembre</a:t>
            </a:r>
            <a:r>
              <a:rPr lang="fr-CA" sz="2000" dirty="0"/>
              <a:t>: Introduction à R</a:t>
            </a:r>
          </a:p>
          <a:p>
            <a:r>
              <a:rPr lang="fr-CA" sz="2000" b="1" dirty="0"/>
              <a:t>22 octobre</a:t>
            </a:r>
            <a:r>
              <a:rPr lang="fr-CA" sz="2000" dirty="0"/>
              <a:t>: Introduction aux données administratives du Québec</a:t>
            </a:r>
          </a:p>
          <a:p>
            <a:r>
              <a:rPr lang="fr-CA" sz="2000" b="1" dirty="0"/>
              <a:t>29 octobre</a:t>
            </a:r>
            <a:r>
              <a:rPr lang="fr-CA" sz="2000" dirty="0"/>
              <a:t>: Gestion et analyse des données administratives du Québec</a:t>
            </a:r>
          </a:p>
          <a:p>
            <a:r>
              <a:rPr lang="fr-CA" sz="2000" b="1" dirty="0"/>
              <a:t>24 au 28 novembre</a:t>
            </a:r>
            <a:r>
              <a:rPr lang="fr-CA" sz="2000" dirty="0"/>
              <a:t>: École d’automne « Statistique et dynamiques linguistiques » (collab avec Chaire de recherche du Québec sur la situation démolinguistique au Québec et les politiques linguistiques)</a:t>
            </a:r>
          </a:p>
          <a:p>
            <a:endParaRPr lang="fr-FR" dirty="0"/>
          </a:p>
        </p:txBody>
      </p:sp>
      <p:sp>
        <p:nvSpPr>
          <p:cNvPr id="8" name="Espace réservé du contenu 6">
            <a:extLst>
              <a:ext uri="{FF2B5EF4-FFF2-40B4-BE49-F238E27FC236}">
                <a16:creationId xmlns:a16="http://schemas.microsoft.com/office/drawing/2014/main" id="{330D9BCA-1ED1-09D3-331F-854612007708}"/>
              </a:ext>
            </a:extLst>
          </p:cNvPr>
          <p:cNvSpPr txBox="1">
            <a:spLocks/>
          </p:cNvSpPr>
          <p:nvPr/>
        </p:nvSpPr>
        <p:spPr>
          <a:xfrm>
            <a:off x="6458415" y="1825625"/>
            <a:ext cx="5257800" cy="4351338"/>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5000"/>
              </a:lnSpc>
              <a:spcBef>
                <a:spcPts val="0"/>
              </a:spcBef>
              <a:spcAft>
                <a:spcPts val="1200"/>
              </a:spcAft>
              <a:buFont typeface="Arial" panose="020B0604020202020204" pitchFamily="34" charset="0"/>
              <a:buChar char="•"/>
              <a:defRPr sz="2800" kern="1200">
                <a:solidFill>
                  <a:schemeClr val="tx1">
                    <a:lumMod val="75000"/>
                    <a:lumOff val="25000"/>
                  </a:schemeClr>
                </a:solidFill>
                <a:latin typeface="+mj-lt"/>
                <a:ea typeface="+mn-ea"/>
                <a:cs typeface="+mn-cs"/>
              </a:defRPr>
            </a:lvl1pPr>
            <a:lvl2pPr marL="685800" indent="-228600" algn="l" defTabSz="914400" rtl="0" eaLnBrk="1" latinLnBrk="0" hangingPunct="1">
              <a:lnSpc>
                <a:spcPct val="95000"/>
              </a:lnSpc>
              <a:spcBef>
                <a:spcPts val="0"/>
              </a:spcBef>
              <a:spcAft>
                <a:spcPts val="1000"/>
              </a:spcAft>
              <a:buFont typeface="Arial" panose="020B0604020202020204" pitchFamily="34" charset="0"/>
              <a:buChar char="•"/>
              <a:defRPr sz="2400" kern="1200">
                <a:solidFill>
                  <a:schemeClr val="tx1">
                    <a:lumMod val="75000"/>
                    <a:lumOff val="25000"/>
                  </a:schemeClr>
                </a:solidFill>
                <a:latin typeface="+mj-lt"/>
                <a:ea typeface="+mn-ea"/>
                <a:cs typeface="+mn-cs"/>
              </a:defRPr>
            </a:lvl2pPr>
            <a:lvl3pPr marL="1143000" indent="-228600" algn="l" defTabSz="914400" rtl="0" eaLnBrk="1" latinLnBrk="0" hangingPunct="1">
              <a:lnSpc>
                <a:spcPct val="95000"/>
              </a:lnSpc>
              <a:spcBef>
                <a:spcPts val="0"/>
              </a:spcBef>
              <a:spcAft>
                <a:spcPts val="800"/>
              </a:spcAft>
              <a:buFont typeface="Arial" panose="020B0604020202020204" pitchFamily="34" charset="0"/>
              <a:buChar char="•"/>
              <a:defRPr sz="2000" kern="1200">
                <a:solidFill>
                  <a:schemeClr val="tx1">
                    <a:lumMod val="75000"/>
                    <a:lumOff val="25000"/>
                  </a:schemeClr>
                </a:solidFill>
                <a:latin typeface="+mj-lt"/>
                <a:ea typeface="+mn-ea"/>
                <a:cs typeface="+mn-cs"/>
              </a:defRPr>
            </a:lvl3pPr>
            <a:lvl4pPr marL="1600200" indent="-228600" algn="l" defTabSz="914400" rtl="0" eaLnBrk="1" latinLnBrk="0" hangingPunct="1">
              <a:lnSpc>
                <a:spcPct val="95000"/>
              </a:lnSpc>
              <a:spcBef>
                <a:spcPts val="0"/>
              </a:spcBef>
              <a:spcAft>
                <a:spcPts val="500"/>
              </a:spcAft>
              <a:buFont typeface="Arial" panose="020B0604020202020204" pitchFamily="34" charset="0"/>
              <a:buChar char="•"/>
              <a:defRPr sz="1800" kern="1200">
                <a:solidFill>
                  <a:schemeClr val="tx1">
                    <a:lumMod val="75000"/>
                    <a:lumOff val="25000"/>
                  </a:schemeClr>
                </a:solidFill>
                <a:latin typeface="+mj-lt"/>
                <a:ea typeface="+mn-ea"/>
                <a:cs typeface="+mn-cs"/>
              </a:defRPr>
            </a:lvl4pPr>
            <a:lvl5pPr marL="2057400" indent="-228600" algn="l" defTabSz="914400" rtl="0" eaLnBrk="1" latinLnBrk="0" hangingPunct="1">
              <a:lnSpc>
                <a:spcPct val="95000"/>
              </a:lnSpc>
              <a:spcBef>
                <a:spcPts val="0"/>
              </a:spcBef>
              <a:spcAft>
                <a:spcPts val="300"/>
              </a:spcAft>
              <a:buFont typeface="Arial" panose="020B0604020202020204" pitchFamily="34" charset="0"/>
              <a:buChar char="•"/>
              <a:defRPr sz="1800" kern="1200">
                <a:solidFill>
                  <a:schemeClr val="tx1">
                    <a:lumMod val="75000"/>
                    <a:lumOff val="2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5400" b="1" dirty="0"/>
              <a:t>Midis-webinaires </a:t>
            </a:r>
            <a:r>
              <a:rPr lang="fr-CA" sz="5400" dirty="0"/>
              <a:t>:</a:t>
            </a:r>
          </a:p>
          <a:p>
            <a:r>
              <a:rPr lang="fr-CA" sz="4200" b="1" dirty="0"/>
              <a:t>23 septembre </a:t>
            </a:r>
            <a:r>
              <a:rPr lang="fr-CA" sz="4200" dirty="0"/>
              <a:t>– Comprendre les statistiques sur la langue pour mieux analyser les enjeux contemporains : Le rôle de la Chaire de recherche du Québec sur la situation démolinguistique et les politiques linguistique</a:t>
            </a:r>
          </a:p>
          <a:p>
            <a:r>
              <a:rPr lang="fr-CA" sz="4200" b="1" dirty="0"/>
              <a:t>2 octobre </a:t>
            </a:r>
            <a:r>
              <a:rPr lang="fr-CA" sz="4200" dirty="0"/>
              <a:t>- Préparer une demande d'accès aux données administratives pour la recherche à l’ISQ</a:t>
            </a:r>
          </a:p>
          <a:p>
            <a:r>
              <a:rPr lang="fr-CA" sz="4200" b="1" dirty="0"/>
              <a:t>7 octobre </a:t>
            </a:r>
            <a:r>
              <a:rPr lang="fr-CA" sz="4200" dirty="0"/>
              <a:t>- Fichier des familles T1+</a:t>
            </a:r>
          </a:p>
          <a:p>
            <a:r>
              <a:rPr lang="fr-CA" sz="4200" b="1" dirty="0"/>
              <a:t>14 octobre </a:t>
            </a:r>
            <a:r>
              <a:rPr lang="fr-CA" sz="4200" dirty="0"/>
              <a:t>- Étude sur la situation des langues parlées au Québec (ESLPQ)</a:t>
            </a:r>
          </a:p>
          <a:p>
            <a:r>
              <a:rPr lang="fr-CA" sz="4200" b="1" dirty="0"/>
              <a:t>25 novembre </a:t>
            </a:r>
            <a:r>
              <a:rPr lang="fr-CA" sz="4200" dirty="0"/>
              <a:t>– L'Enquête sur les pratiques culturelles au Québec</a:t>
            </a:r>
          </a:p>
        </p:txBody>
      </p:sp>
    </p:spTree>
    <p:extLst>
      <p:ext uri="{BB962C8B-B14F-4D97-AF65-F5344CB8AC3E}">
        <p14:creationId xmlns:p14="http://schemas.microsoft.com/office/powerpoint/2010/main" val="4287674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4B2716-2646-421B-9108-FD251A46CB75}"/>
              </a:ext>
            </a:extLst>
          </p:cNvPr>
          <p:cNvSpPr>
            <a:spLocks noGrp="1"/>
          </p:cNvSpPr>
          <p:nvPr>
            <p:ph type="title"/>
          </p:nvPr>
        </p:nvSpPr>
        <p:spPr/>
        <p:txBody>
          <a:bodyPr/>
          <a:lstStyle/>
          <a:p>
            <a:r>
              <a:rPr lang="fr-CA" dirty="0"/>
              <a:t>Répartition par discipline</a:t>
            </a:r>
          </a:p>
        </p:txBody>
      </p:sp>
      <p:pic>
        <p:nvPicPr>
          <p:cNvPr id="4" name="Espace réservé du contenu 3">
            <a:extLst>
              <a:ext uri="{FF2B5EF4-FFF2-40B4-BE49-F238E27FC236}">
                <a16:creationId xmlns:a16="http://schemas.microsoft.com/office/drawing/2014/main" id="{9B55352D-457A-43B5-B41D-B08C99A192E1}"/>
              </a:ext>
            </a:extLst>
          </p:cNvPr>
          <p:cNvPicPr>
            <a:picLocks noGrp="1" noChangeAspect="1"/>
          </p:cNvPicPr>
          <p:nvPr>
            <p:ph idx="1"/>
          </p:nvPr>
        </p:nvPicPr>
        <p:blipFill>
          <a:blip r:embed="rId3"/>
          <a:stretch>
            <a:fillRect/>
          </a:stretch>
        </p:blipFill>
        <p:spPr>
          <a:xfrm>
            <a:off x="2747640" y="1690688"/>
            <a:ext cx="6696719" cy="4186291"/>
          </a:xfrm>
          <a:prstGeom prst="rect">
            <a:avLst/>
          </a:prstGeom>
        </p:spPr>
      </p:pic>
    </p:spTree>
    <p:extLst>
      <p:ext uri="{BB962C8B-B14F-4D97-AF65-F5344CB8AC3E}">
        <p14:creationId xmlns:p14="http://schemas.microsoft.com/office/powerpoint/2010/main" val="3557398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F32B6D-EACA-44E0-BE7B-7BD0C6339440}"/>
              </a:ext>
            </a:extLst>
          </p:cNvPr>
          <p:cNvSpPr>
            <a:spLocks noGrp="1"/>
          </p:cNvSpPr>
          <p:nvPr>
            <p:ph type="title"/>
          </p:nvPr>
        </p:nvSpPr>
        <p:spPr/>
        <p:txBody>
          <a:bodyPr/>
          <a:lstStyle/>
          <a:p>
            <a:r>
              <a:rPr lang="fr-CA" dirty="0"/>
              <a:t>Répartition par fonction</a:t>
            </a:r>
          </a:p>
        </p:txBody>
      </p:sp>
      <p:pic>
        <p:nvPicPr>
          <p:cNvPr id="3" name="Image 2">
            <a:extLst>
              <a:ext uri="{FF2B5EF4-FFF2-40B4-BE49-F238E27FC236}">
                <a16:creationId xmlns:a16="http://schemas.microsoft.com/office/drawing/2014/main" id="{62B17C3D-DC2A-4771-BD61-11BE353B3E7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175737" y="1639889"/>
            <a:ext cx="7239197" cy="4332265"/>
          </a:xfrm>
          <a:prstGeom prst="rect">
            <a:avLst/>
          </a:prstGeom>
        </p:spPr>
      </p:pic>
      <p:pic>
        <p:nvPicPr>
          <p:cNvPr id="5" name="Image 4">
            <a:extLst>
              <a:ext uri="{FF2B5EF4-FFF2-40B4-BE49-F238E27FC236}">
                <a16:creationId xmlns:a16="http://schemas.microsoft.com/office/drawing/2014/main" id="{AD509F2C-5586-4AAF-9F4D-027B1CDD72F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608154" y="2549825"/>
            <a:ext cx="2487251" cy="2613990"/>
          </a:xfrm>
          <a:prstGeom prst="rect">
            <a:avLst/>
          </a:prstGeom>
        </p:spPr>
      </p:pic>
    </p:spTree>
    <p:extLst>
      <p:ext uri="{BB962C8B-B14F-4D97-AF65-F5344CB8AC3E}">
        <p14:creationId xmlns:p14="http://schemas.microsoft.com/office/powerpoint/2010/main" val="215225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7392D-F495-9672-6D0C-DBA010ECA5F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5286E5-9AAD-0C63-139E-AAEBA5866873}"/>
              </a:ext>
            </a:extLst>
          </p:cNvPr>
          <p:cNvSpPr txBox="1"/>
          <p:nvPr/>
        </p:nvSpPr>
        <p:spPr>
          <a:xfrm>
            <a:off x="402771" y="1301978"/>
            <a:ext cx="11141530"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fr-CA" sz="3200" b="1" dirty="0">
                <a:solidFill>
                  <a:schemeClr val="accent1"/>
                </a:solidFill>
                <a:latin typeface="Arial" panose="020B0604020202020204" pitchFamily="34" charset="0"/>
                <a:ea typeface="+mn-lt"/>
                <a:cs typeface="Arial" panose="020B0604020202020204" pitchFamily="34" charset="0"/>
              </a:rPr>
              <a:t>Reconnaissance envers nos sources de financement</a:t>
            </a:r>
          </a:p>
          <a:p>
            <a:r>
              <a:rPr lang="fr-CA" sz="2000" i="0" dirty="0">
                <a:effectLst/>
              </a:rPr>
              <a:t>Le projet « Portes ouvertes aux données » est financé en partie par le Conseil de recherches en sciences humaines dans le cadre d’une subvention Connexion.</a:t>
            </a:r>
          </a:p>
          <a:p>
            <a:endParaRPr lang="fr-CA" sz="2000" i="0" dirty="0">
              <a:effectLst/>
            </a:endParaRPr>
          </a:p>
          <a:p>
            <a:r>
              <a:rPr lang="fr-CA" sz="2000" i="0" dirty="0">
                <a:effectLst/>
              </a:rPr>
              <a:t>Le RCCDR reçoit un financement de base pour ses activités de la Fondation canadienne pour l’innovation à titre d’initiative scientifique majeure. Le RCCDR est également financé par des contributions du Conseil de recherches en sciences humaines, des Instituts de recherche en santé du Canada, de Statistique Canada, des institutions collaboratrices et de partenaires provinciaux.</a:t>
            </a:r>
          </a:p>
          <a:p>
            <a:endParaRPr lang="fr-CA" sz="2000" dirty="0"/>
          </a:p>
          <a:p>
            <a:r>
              <a:rPr lang="fr-CA" sz="2000" i="0" dirty="0">
                <a:effectLst/>
              </a:rPr>
              <a:t>Le CIQSS est également finance par le Fonds de recherche du Québec et les universités québécoises.</a:t>
            </a:r>
          </a:p>
        </p:txBody>
      </p:sp>
    </p:spTree>
    <p:extLst>
      <p:ext uri="{BB962C8B-B14F-4D97-AF65-F5344CB8AC3E}">
        <p14:creationId xmlns:p14="http://schemas.microsoft.com/office/powerpoint/2010/main" val="1400896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734B3-D562-ADFA-3E0C-0577089A9B2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E295623-AEA4-CC95-5959-BE7418D26084}"/>
              </a:ext>
            </a:extLst>
          </p:cNvPr>
          <p:cNvSpPr txBox="1"/>
          <p:nvPr/>
        </p:nvSpPr>
        <p:spPr>
          <a:xfrm>
            <a:off x="402771" y="1301978"/>
            <a:ext cx="11141530" cy="35804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dirty="0">
                <a:solidFill>
                  <a:schemeClr val="accent1"/>
                </a:solidFill>
                <a:latin typeface="Arial" panose="020B0604020202020204" pitchFamily="34" charset="0"/>
                <a:ea typeface="+mn-lt"/>
                <a:cs typeface="Arial" panose="020B0604020202020204" pitchFamily="34" charset="0"/>
              </a:rPr>
              <a:t>Merci !</a:t>
            </a:r>
          </a:p>
          <a:p>
            <a:pPr>
              <a:spcAft>
                <a:spcPts val="1000"/>
              </a:spcAft>
            </a:pPr>
            <a:r>
              <a:rPr lang="fr-CA" sz="2000" b="1" dirty="0"/>
              <a:t>Communiquez avec moi si vous avez des questions ou des idées de collaboration future </a:t>
            </a:r>
            <a:endParaRPr lang="en-US" sz="2000" b="1" dirty="0"/>
          </a:p>
          <a:p>
            <a:pPr>
              <a:spcAft>
                <a:spcPts val="1000"/>
              </a:spcAft>
            </a:pPr>
            <a:r>
              <a:rPr lang="en-US" b="1" dirty="0">
                <a:latin typeface="+mj-lt"/>
              </a:rPr>
              <a:t>Johanne Proven</a:t>
            </a:r>
            <a:r>
              <a:rPr lang="en-US" b="1" dirty="0">
                <a:latin typeface="+mj-lt"/>
                <a:cs typeface="Arial"/>
              </a:rPr>
              <a:t>çal</a:t>
            </a:r>
            <a:br>
              <a:rPr lang="en-US" dirty="0">
                <a:cs typeface="Arial"/>
              </a:rPr>
            </a:br>
            <a:r>
              <a:rPr lang="en-US" dirty="0" err="1">
                <a:cs typeface="Arial"/>
              </a:rPr>
              <a:t>Directrice</a:t>
            </a:r>
            <a:r>
              <a:rPr lang="en-US" dirty="0">
                <a:cs typeface="Arial"/>
              </a:rPr>
              <a:t>, Recherche, Formation et </a:t>
            </a:r>
            <a:r>
              <a:rPr lang="en-US" dirty="0" err="1">
                <a:cs typeface="Arial"/>
              </a:rPr>
              <a:t>Mobilisation</a:t>
            </a:r>
            <a:r>
              <a:rPr lang="en-US" dirty="0">
                <a:cs typeface="Arial"/>
              </a:rPr>
              <a:t> des </a:t>
            </a:r>
            <a:r>
              <a:rPr lang="en-US" dirty="0" err="1">
                <a:cs typeface="Arial"/>
              </a:rPr>
              <a:t>connaissances</a:t>
            </a:r>
            <a:br>
              <a:rPr lang="en-US" dirty="0">
                <a:cs typeface="Arial"/>
              </a:rPr>
            </a:br>
            <a:r>
              <a:rPr lang="en-US" dirty="0">
                <a:cs typeface="Arial"/>
              </a:rPr>
              <a:t>Réseau </a:t>
            </a:r>
            <a:r>
              <a:rPr lang="en-US" dirty="0" err="1">
                <a:cs typeface="Arial"/>
              </a:rPr>
              <a:t>canadien</a:t>
            </a:r>
            <a:r>
              <a:rPr lang="en-US" dirty="0">
                <a:cs typeface="Arial"/>
              </a:rPr>
              <a:t> des </a:t>
            </a:r>
            <a:r>
              <a:rPr lang="en-US" dirty="0" err="1">
                <a:cs typeface="Arial"/>
              </a:rPr>
              <a:t>Centres</a:t>
            </a:r>
            <a:r>
              <a:rPr lang="en-US" dirty="0">
                <a:cs typeface="Arial"/>
              </a:rPr>
              <a:t> de données de recherche</a:t>
            </a:r>
            <a:br>
              <a:rPr lang="en-US" dirty="0">
                <a:cs typeface="Arial"/>
              </a:rPr>
            </a:br>
            <a:r>
              <a:rPr lang="en-US" dirty="0">
                <a:hlinkClick r:id="rId3"/>
              </a:rPr>
              <a:t>johanne.provencal@crdcn.ca</a:t>
            </a:r>
            <a:r>
              <a:rPr lang="en-US" dirty="0"/>
              <a:t> </a:t>
            </a:r>
            <a:endParaRPr lang="en-US" dirty="0">
              <a:ea typeface="+mn-lt"/>
              <a:cs typeface="Arial" panose="020B0604020202020204" pitchFamily="34" charset="0"/>
            </a:endParaRPr>
          </a:p>
          <a:p>
            <a:pPr>
              <a:spcBef>
                <a:spcPts val="600"/>
              </a:spcBef>
              <a:spcAft>
                <a:spcPts val="600"/>
              </a:spcAft>
            </a:pPr>
            <a:endParaRPr lang="en-US" sz="2000" dirty="0">
              <a:ea typeface="+mn-lt"/>
              <a:cs typeface="Arial" panose="020B0604020202020204" pitchFamily="34" charset="0"/>
            </a:endParaRPr>
          </a:p>
          <a:p>
            <a:pPr marL="0" lvl="1">
              <a:spcBef>
                <a:spcPts val="600"/>
              </a:spcBef>
            </a:pPr>
            <a:endParaRPr lang="en-US" dirty="0">
              <a:cs typeface="Arial"/>
            </a:endParaRPr>
          </a:p>
          <a:p>
            <a:pPr marL="0" lvl="1">
              <a:spcBef>
                <a:spcPts val="600"/>
              </a:spcBef>
            </a:pPr>
            <a:endParaRPr lang="en-US" dirty="0">
              <a:cs typeface="Arial"/>
            </a:endParaRPr>
          </a:p>
        </p:txBody>
      </p:sp>
      <p:sp>
        <p:nvSpPr>
          <p:cNvPr id="7" name="TextBox 6">
            <a:extLst>
              <a:ext uri="{FF2B5EF4-FFF2-40B4-BE49-F238E27FC236}">
                <a16:creationId xmlns:a16="http://schemas.microsoft.com/office/drawing/2014/main" id="{3D7B78C7-BC93-1CCB-D1D4-D54CF9A2BDE2}"/>
              </a:ext>
            </a:extLst>
          </p:cNvPr>
          <p:cNvSpPr txBox="1"/>
          <p:nvPr/>
        </p:nvSpPr>
        <p:spPr>
          <a:xfrm>
            <a:off x="402771" y="4035711"/>
            <a:ext cx="9185406" cy="369332"/>
          </a:xfrm>
          <a:prstGeom prst="rect">
            <a:avLst/>
          </a:prstGeom>
          <a:noFill/>
        </p:spPr>
        <p:txBody>
          <a:bodyPr wrap="square" rtlCol="0">
            <a:spAutoFit/>
          </a:bodyPr>
          <a:lstStyle/>
          <a:p>
            <a:pPr marL="0" lvl="1">
              <a:spcBef>
                <a:spcPts val="600"/>
              </a:spcBef>
              <a:defRPr/>
            </a:pPr>
            <a:r>
              <a:rPr kumimoji="0" lang="en-US" sz="1800" b="0" i="0" u="none" strike="noStrike" kern="1200" cap="none" spc="0" normalizeH="0" baseline="0" noProof="0" dirty="0">
                <a:ln>
                  <a:noFill/>
                </a:ln>
                <a:solidFill>
                  <a:srgbClr val="63656A"/>
                </a:solidFill>
                <a:effectLst/>
                <a:uLnTx/>
                <a:uFillTx/>
                <a:latin typeface="Arial Nova Light"/>
                <a:ea typeface="+mn-ea"/>
                <a:cs typeface="Arial"/>
              </a:rPr>
              <a:t>Pour plus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rPr>
              <a:t>d’information</a:t>
            </a:r>
            <a:r>
              <a:rPr kumimoji="0" lang="en-US" sz="1800" b="0" i="0" u="none" strike="noStrike" kern="1200" cap="none" spc="0" normalizeH="0" baseline="0" noProof="0" dirty="0">
                <a:ln>
                  <a:noFill/>
                </a:ln>
                <a:solidFill>
                  <a:srgbClr val="63656A"/>
                </a:solidFill>
                <a:effectLst/>
                <a:uLnTx/>
                <a:uFillTx/>
                <a:latin typeface="Arial Nova Light"/>
                <a:ea typeface="+mn-ea"/>
                <a:cs typeface="Arial"/>
              </a:rPr>
              <a:t> sur le RCCDR,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hlinkClick r:id="rId4"/>
              </a:rPr>
              <a:t>consultez</a:t>
            </a:r>
            <a:r>
              <a:rPr kumimoji="0" lang="en-US" sz="1800" b="0" i="0" u="none" strike="noStrike" kern="1200" cap="none" spc="0" normalizeH="0" baseline="0" noProof="0" dirty="0">
                <a:ln>
                  <a:noFill/>
                </a:ln>
                <a:solidFill>
                  <a:srgbClr val="63656A"/>
                </a:solidFill>
                <a:effectLst/>
                <a:uLnTx/>
                <a:uFillTx/>
                <a:latin typeface="Arial Nova Light"/>
                <a:ea typeface="+mn-ea"/>
                <a:cs typeface="Arial"/>
                <a:hlinkClick r:id="rId4"/>
              </a:rPr>
              <a:t>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hlinkClick r:id="rId4"/>
              </a:rPr>
              <a:t>notre</a:t>
            </a:r>
            <a:r>
              <a:rPr kumimoji="0" lang="en-US" sz="1800" b="0" i="0" u="none" strike="noStrike" kern="1200" cap="none" spc="0" normalizeH="0" baseline="0" noProof="0" dirty="0">
                <a:ln>
                  <a:noFill/>
                </a:ln>
                <a:solidFill>
                  <a:srgbClr val="63656A"/>
                </a:solidFill>
                <a:effectLst/>
                <a:uLnTx/>
                <a:uFillTx/>
                <a:latin typeface="Arial Nova Light"/>
                <a:ea typeface="+mn-ea"/>
                <a:cs typeface="Arial"/>
                <a:hlinkClick r:id="rId4"/>
              </a:rPr>
              <a:t> site Web</a:t>
            </a:r>
            <a:endParaRPr kumimoji="0" lang="en-US" sz="1800" b="0" i="0" u="none" strike="noStrike" kern="1200" cap="none" spc="0" normalizeH="0" baseline="0" noProof="0" dirty="0">
              <a:ln>
                <a:noFill/>
              </a:ln>
              <a:solidFill>
                <a:srgbClr val="63656A"/>
              </a:solidFill>
              <a:effectLst/>
              <a:uLnTx/>
              <a:uFillTx/>
              <a:latin typeface="Arial Nova Light"/>
              <a:ea typeface="+mn-ea"/>
              <a:cs typeface="Arial"/>
            </a:endParaRPr>
          </a:p>
        </p:txBody>
      </p:sp>
      <p:sp>
        <p:nvSpPr>
          <p:cNvPr id="10" name="TextBox 9">
            <a:extLst>
              <a:ext uri="{FF2B5EF4-FFF2-40B4-BE49-F238E27FC236}">
                <a16:creationId xmlns:a16="http://schemas.microsoft.com/office/drawing/2014/main" id="{B56D4067-17F1-8D66-31AF-21778A3BB0F9}"/>
              </a:ext>
            </a:extLst>
          </p:cNvPr>
          <p:cNvSpPr txBox="1"/>
          <p:nvPr/>
        </p:nvSpPr>
        <p:spPr>
          <a:xfrm>
            <a:off x="402771" y="4882445"/>
            <a:ext cx="8898194" cy="369332"/>
          </a:xfrm>
          <a:prstGeom prst="rect">
            <a:avLst/>
          </a:prstGeom>
          <a:noFill/>
        </p:spPr>
        <p:txBody>
          <a:bodyPr wrap="square" rtlCol="0">
            <a:spAutoFit/>
          </a:bodyPr>
          <a:lstStyle/>
          <a:p>
            <a:pPr marL="0" marR="0" lvl="1" indent="0" algn="l" defTabSz="9144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srgbClr val="63656A"/>
                </a:solidFill>
                <a:effectLst/>
                <a:uLnTx/>
                <a:uFillTx/>
                <a:latin typeface="Arial Nova Light"/>
                <a:ea typeface="+mn-ea"/>
                <a:cs typeface="Arial"/>
              </a:rPr>
              <a:t>Pour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rPr>
              <a:t>s’abonner</a:t>
            </a:r>
            <a:r>
              <a:rPr kumimoji="0" lang="en-US" sz="1800" b="0" i="0" u="none" strike="noStrike" kern="1200" cap="none" spc="0" normalizeH="0" baseline="0" noProof="0" dirty="0">
                <a:ln>
                  <a:noFill/>
                </a:ln>
                <a:solidFill>
                  <a:srgbClr val="63656A"/>
                </a:solidFill>
                <a:effectLst/>
                <a:uLnTx/>
                <a:uFillTx/>
                <a:latin typeface="Arial Nova Light"/>
                <a:ea typeface="+mn-ea"/>
                <a:cs typeface="Arial"/>
              </a:rPr>
              <a:t> à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rPr>
              <a:t>l’infolettre</a:t>
            </a:r>
            <a:r>
              <a:rPr kumimoji="0" lang="en-US" sz="1800" b="0" i="0" u="none" strike="noStrike" kern="1200" cap="none" spc="0" normalizeH="0" baseline="0" noProof="0" dirty="0">
                <a:ln>
                  <a:noFill/>
                </a:ln>
                <a:solidFill>
                  <a:srgbClr val="63656A"/>
                </a:solidFill>
                <a:effectLst/>
                <a:uLnTx/>
                <a:uFillTx/>
                <a:latin typeface="Arial Nova Light"/>
                <a:ea typeface="+mn-ea"/>
                <a:cs typeface="Arial"/>
              </a:rPr>
              <a:t> “Question de données” du RCCDR,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hlinkClick r:id="rId5"/>
              </a:rPr>
              <a:t>cliquez</a:t>
            </a:r>
            <a:r>
              <a:rPr kumimoji="0" lang="en-US" sz="1800" b="0" i="0" u="none" strike="noStrike" kern="1200" cap="none" spc="0" normalizeH="0" baseline="0" noProof="0" dirty="0">
                <a:ln>
                  <a:noFill/>
                </a:ln>
                <a:solidFill>
                  <a:srgbClr val="63656A"/>
                </a:solidFill>
                <a:effectLst/>
                <a:uLnTx/>
                <a:uFillTx/>
                <a:latin typeface="Arial Nova Light"/>
                <a:ea typeface="+mn-ea"/>
                <a:cs typeface="Arial"/>
                <a:hlinkClick r:id="rId5"/>
              </a:rPr>
              <a:t> </a:t>
            </a:r>
            <a:r>
              <a:rPr kumimoji="0" lang="en-US" sz="1800" b="0" i="0" u="none" strike="noStrike" kern="1200" cap="none" spc="0" normalizeH="0" baseline="0" noProof="0" dirty="0" err="1">
                <a:ln>
                  <a:noFill/>
                </a:ln>
                <a:solidFill>
                  <a:srgbClr val="63656A"/>
                </a:solidFill>
                <a:effectLst/>
                <a:uLnTx/>
                <a:uFillTx/>
                <a:latin typeface="Arial Nova Light"/>
                <a:ea typeface="+mn-ea"/>
                <a:cs typeface="Arial"/>
                <a:hlinkClick r:id="rId5"/>
              </a:rPr>
              <a:t>ici</a:t>
            </a:r>
            <a:r>
              <a:rPr kumimoji="0" lang="en-CA"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endParaRPr kumimoji="0" lang="en-US" sz="1800" b="0" i="0" u="none" strike="noStrike" kern="1200" cap="none" spc="0" normalizeH="0" baseline="0" noProof="0" dirty="0">
              <a:ln>
                <a:noFill/>
              </a:ln>
              <a:solidFill>
                <a:srgbClr val="63656A"/>
              </a:solidFill>
              <a:effectLst/>
              <a:uLnTx/>
              <a:uFillTx/>
              <a:latin typeface="Arial Nova Light"/>
              <a:ea typeface="+mn-ea"/>
              <a:cs typeface="Arial"/>
            </a:endParaRPr>
          </a:p>
        </p:txBody>
      </p:sp>
    </p:spTree>
    <p:extLst>
      <p:ext uri="{BB962C8B-B14F-4D97-AF65-F5344CB8AC3E}">
        <p14:creationId xmlns:p14="http://schemas.microsoft.com/office/powerpoint/2010/main" val="1408242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A2865E48-A44C-49D5-A516-40014834D092}"/>
              </a:ext>
            </a:extLst>
          </p:cNvPr>
          <p:cNvSpPr txBox="1">
            <a:spLocks/>
          </p:cNvSpPr>
          <p:nvPr>
            <p:custDataLst>
              <p:tags r:id="rId1"/>
            </p:custDataLst>
          </p:nvPr>
        </p:nvSpPr>
        <p:spPr>
          <a:xfrm>
            <a:off x="822702" y="578459"/>
            <a:ext cx="3532322" cy="940375"/>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accent2"/>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CA" sz="8000" b="0" i="0" u="none" strike="noStrike" kern="1200" cap="none" spc="0" normalizeH="0" baseline="0" noProof="0" dirty="0">
                <a:ln>
                  <a:noFill/>
                </a:ln>
                <a:solidFill>
                  <a:srgbClr val="BD582C"/>
                </a:solidFill>
                <a:effectLst/>
                <a:uLnTx/>
                <a:uFillTx/>
                <a:latin typeface="Calibri" panose="020F0502020204030204"/>
                <a:ea typeface="+mj-ea"/>
                <a:cs typeface="+mj-cs"/>
              </a:rPr>
              <a:t>Merci !</a:t>
            </a:r>
          </a:p>
        </p:txBody>
      </p:sp>
      <p:pic>
        <p:nvPicPr>
          <p:cNvPr id="15" name="Image 14">
            <a:extLst>
              <a:ext uri="{FF2B5EF4-FFF2-40B4-BE49-F238E27FC236}">
                <a16:creationId xmlns:a16="http://schemas.microsoft.com/office/drawing/2014/main" id="{82240D8B-64EF-DBDA-719E-AE9C879385D7}"/>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430265" y="5139836"/>
            <a:ext cx="751187" cy="525831"/>
          </a:xfrm>
          <a:prstGeom prst="rect">
            <a:avLst/>
          </a:prstGeom>
        </p:spPr>
      </p:pic>
      <p:pic>
        <p:nvPicPr>
          <p:cNvPr id="18" name="Image 17">
            <a:extLst>
              <a:ext uri="{FF2B5EF4-FFF2-40B4-BE49-F238E27FC236}">
                <a16:creationId xmlns:a16="http://schemas.microsoft.com/office/drawing/2014/main" id="{F0F506EA-F420-3E47-D393-198F426939F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956306" y="5148757"/>
            <a:ext cx="608129" cy="608129"/>
          </a:xfrm>
          <a:prstGeom prst="rect">
            <a:avLst/>
          </a:prstGeom>
        </p:spPr>
      </p:pic>
      <p:pic>
        <p:nvPicPr>
          <p:cNvPr id="21" name="Image 20">
            <a:extLst>
              <a:ext uri="{FF2B5EF4-FFF2-40B4-BE49-F238E27FC236}">
                <a16:creationId xmlns:a16="http://schemas.microsoft.com/office/drawing/2014/main" id="{D925A777-A58C-F233-E0BF-0E2D0BD194DA}"/>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153532" y="5142528"/>
            <a:ext cx="687637" cy="608129"/>
          </a:xfrm>
          <a:prstGeom prst="rect">
            <a:avLst/>
          </a:prstGeom>
        </p:spPr>
      </p:pic>
      <p:sp>
        <p:nvSpPr>
          <p:cNvPr id="23" name="ZoneTexte 22">
            <a:extLst>
              <a:ext uri="{FF2B5EF4-FFF2-40B4-BE49-F238E27FC236}">
                <a16:creationId xmlns:a16="http://schemas.microsoft.com/office/drawing/2014/main" id="{E3F10E69-9660-04C5-A363-29DF035F0C48}"/>
              </a:ext>
            </a:extLst>
          </p:cNvPr>
          <p:cNvSpPr txBox="1"/>
          <p:nvPr/>
        </p:nvSpPr>
        <p:spPr>
          <a:xfrm>
            <a:off x="1099722" y="5148757"/>
            <a:ext cx="5650329" cy="430887"/>
          </a:xfrm>
          <a:prstGeom prst="rect">
            <a:avLst/>
          </a:prstGeom>
          <a:noFill/>
        </p:spPr>
        <p:txBody>
          <a:bodyPr wrap="none" rtlCol="0">
            <a:spAutoFit/>
          </a:bodyPr>
          <a:lstStyle/>
          <a:p>
            <a:r>
              <a:rPr lang="fr-FR" sz="2200" dirty="0"/>
              <a:t>Suivez-nous également sur nos médias sociaux :</a:t>
            </a:r>
          </a:p>
        </p:txBody>
      </p:sp>
      <p:sp>
        <p:nvSpPr>
          <p:cNvPr id="25" name="ZoneTexte 24">
            <a:extLst>
              <a:ext uri="{FF2B5EF4-FFF2-40B4-BE49-F238E27FC236}">
                <a16:creationId xmlns:a16="http://schemas.microsoft.com/office/drawing/2014/main" id="{B06A38F3-7C37-5561-7399-8213F9F37859}"/>
              </a:ext>
            </a:extLst>
          </p:cNvPr>
          <p:cNvSpPr txBox="1"/>
          <p:nvPr/>
        </p:nvSpPr>
        <p:spPr>
          <a:xfrm>
            <a:off x="1099722" y="4581965"/>
            <a:ext cx="3173626" cy="430887"/>
          </a:xfrm>
          <a:prstGeom prst="rect">
            <a:avLst/>
          </a:prstGeom>
          <a:noFill/>
        </p:spPr>
        <p:txBody>
          <a:bodyPr wrap="none" rtlCol="0">
            <a:spAutoFit/>
          </a:bodyPr>
          <a:lstStyle/>
          <a:p>
            <a:r>
              <a:rPr lang="fr-FR" sz="2200" dirty="0"/>
              <a:t>Courriel : </a:t>
            </a:r>
            <a:r>
              <a:rPr lang="fr-FR" sz="2200" dirty="0">
                <a:hlinkClick r:id="rId9"/>
              </a:rPr>
              <a:t>acces@ciqss.org</a:t>
            </a:r>
            <a:endParaRPr lang="fr-FR" sz="2200" dirty="0"/>
          </a:p>
        </p:txBody>
      </p:sp>
      <p:sp>
        <p:nvSpPr>
          <p:cNvPr id="26" name="ZoneTexte 25">
            <a:extLst>
              <a:ext uri="{FF2B5EF4-FFF2-40B4-BE49-F238E27FC236}">
                <a16:creationId xmlns:a16="http://schemas.microsoft.com/office/drawing/2014/main" id="{18E6A8E7-661E-1061-B212-69686B5EE432}"/>
              </a:ext>
            </a:extLst>
          </p:cNvPr>
          <p:cNvSpPr txBox="1"/>
          <p:nvPr/>
        </p:nvSpPr>
        <p:spPr>
          <a:xfrm>
            <a:off x="1099722" y="1845151"/>
            <a:ext cx="1302857" cy="430887"/>
          </a:xfrm>
          <a:prstGeom prst="rect">
            <a:avLst/>
          </a:prstGeom>
          <a:noFill/>
        </p:spPr>
        <p:txBody>
          <a:bodyPr wrap="none" rtlCol="0">
            <a:spAutoFit/>
          </a:bodyPr>
          <a:lstStyle/>
          <a:p>
            <a:r>
              <a:rPr lang="fr-FR" sz="2200" dirty="0"/>
              <a:t>Site web :</a:t>
            </a:r>
          </a:p>
        </p:txBody>
      </p:sp>
      <p:sp>
        <p:nvSpPr>
          <p:cNvPr id="27" name="ZoneTexte 26">
            <a:extLst>
              <a:ext uri="{FF2B5EF4-FFF2-40B4-BE49-F238E27FC236}">
                <a16:creationId xmlns:a16="http://schemas.microsoft.com/office/drawing/2014/main" id="{FF1FE4DC-0194-03EF-79F6-9C43AB40758A}"/>
              </a:ext>
            </a:extLst>
          </p:cNvPr>
          <p:cNvSpPr txBox="1"/>
          <p:nvPr/>
        </p:nvSpPr>
        <p:spPr>
          <a:xfrm>
            <a:off x="5562404" y="1845151"/>
            <a:ext cx="3331810" cy="769441"/>
          </a:xfrm>
          <a:prstGeom prst="rect">
            <a:avLst/>
          </a:prstGeom>
          <a:noFill/>
        </p:spPr>
        <p:txBody>
          <a:bodyPr wrap="none" rtlCol="0">
            <a:spAutoFit/>
          </a:bodyPr>
          <a:lstStyle/>
          <a:p>
            <a:pPr algn="r"/>
            <a:r>
              <a:rPr lang="fr-FR" sz="2200" dirty="0"/>
              <a:t>Abonnez-vous à l’infolettre </a:t>
            </a:r>
            <a:br>
              <a:rPr lang="fr-FR" sz="2200" dirty="0"/>
            </a:br>
            <a:r>
              <a:rPr lang="fr-FR" sz="2200" dirty="0"/>
              <a:t>du CIQSS :</a:t>
            </a:r>
          </a:p>
        </p:txBody>
      </p:sp>
      <p:pic>
        <p:nvPicPr>
          <p:cNvPr id="29" name="Image 28">
            <a:extLst>
              <a:ext uri="{FF2B5EF4-FFF2-40B4-BE49-F238E27FC236}">
                <a16:creationId xmlns:a16="http://schemas.microsoft.com/office/drawing/2014/main" id="{788DFCCF-F690-1921-E4E4-BF52FC43DDC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28066" y="1878405"/>
            <a:ext cx="2182152" cy="2182152"/>
          </a:xfrm>
          <a:prstGeom prst="rect">
            <a:avLst/>
          </a:prstGeom>
        </p:spPr>
      </p:pic>
      <p:pic>
        <p:nvPicPr>
          <p:cNvPr id="31" name="Image 30">
            <a:extLst>
              <a:ext uri="{FF2B5EF4-FFF2-40B4-BE49-F238E27FC236}">
                <a16:creationId xmlns:a16="http://schemas.microsoft.com/office/drawing/2014/main" id="{E0A915CA-F036-010A-1EDC-B062E8E4DB8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06573" y="1841500"/>
            <a:ext cx="2219057" cy="2219057"/>
          </a:xfrm>
          <a:prstGeom prst="rect">
            <a:avLst/>
          </a:prstGeom>
        </p:spPr>
      </p:pic>
    </p:spTree>
    <p:extLst>
      <p:ext uri="{BB962C8B-B14F-4D97-AF65-F5344CB8AC3E}">
        <p14:creationId xmlns:p14="http://schemas.microsoft.com/office/powerpoint/2010/main" val="4061131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Office Theme">
  <a:themeElements>
    <a:clrScheme name="CRDCN Colours">
      <a:dk1>
        <a:srgbClr val="63656A"/>
      </a:dk1>
      <a:lt1>
        <a:sysClr val="window" lastClr="FFFFFF"/>
      </a:lt1>
      <a:dk2>
        <a:srgbClr val="1F516E"/>
      </a:dk2>
      <a:lt2>
        <a:srgbClr val="E1E3E4"/>
      </a:lt2>
      <a:accent1>
        <a:srgbClr val="527CA6"/>
      </a:accent1>
      <a:accent2>
        <a:srgbClr val="FEC465"/>
      </a:accent2>
      <a:accent3>
        <a:srgbClr val="D7B5C6"/>
      </a:accent3>
      <a:accent4>
        <a:srgbClr val="85C0FB"/>
      </a:accent4>
      <a:accent5>
        <a:srgbClr val="C5E0B3"/>
      </a:accent5>
      <a:accent6>
        <a:srgbClr val="FEE599"/>
      </a:accent6>
      <a:hlink>
        <a:srgbClr val="48A1FA"/>
      </a:hlink>
      <a:folHlink>
        <a:srgbClr val="8EAADB"/>
      </a:folHlink>
    </a:clrScheme>
    <a:fontScheme name="CRDCN Fonts">
      <a:majorFont>
        <a:latin typeface="Arial"/>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Bureau">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e471432c-39b5-4e37-b6a1-0303f55f1001">
      <UserInfo>
        <DisplayName/>
        <AccountId xsi:nil="true"/>
        <AccountType/>
      </UserInfo>
    </SharedWithUsers>
    <lcf76f155ced4ddcb4097134ff3c332f xmlns="fe770d8f-5db2-42ab-9109-2ccfbb694cc3">
      <Terms xmlns="http://schemas.microsoft.com/office/infopath/2007/PartnerControls"/>
    </lcf76f155ced4ddcb4097134ff3c332f>
    <TaxCatchAll xmlns="e471432c-39b5-4e37-b6a1-0303f55f1001" xsi:nil="true"/>
    <_Flow_SignoffStatus xmlns="fe770d8f-5db2-42ab-9109-2ccfbb694cc3" xsi:nil="true"/>
    <MediaLengthInSeconds xmlns="fe770d8f-5db2-42ab-9109-2ccfbb694cc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3999F3824AACA4CB5C02CA1B5B2DFAE" ma:contentTypeVersion="19" ma:contentTypeDescription="Create a new document." ma:contentTypeScope="" ma:versionID="28208ec1fa8993488d2f37d519b62a51">
  <xsd:schema xmlns:xsd="http://www.w3.org/2001/XMLSchema" xmlns:xs="http://www.w3.org/2001/XMLSchema" xmlns:p="http://schemas.microsoft.com/office/2006/metadata/properties" xmlns:ns2="fe770d8f-5db2-42ab-9109-2ccfbb694cc3" xmlns:ns3="e471432c-39b5-4e37-b6a1-0303f55f1001" targetNamespace="http://schemas.microsoft.com/office/2006/metadata/properties" ma:root="true" ma:fieldsID="c5479fc8bf5eba5a8f754de72ea1b178" ns2:_="" ns3:_="">
    <xsd:import namespace="fe770d8f-5db2-42ab-9109-2ccfbb694cc3"/>
    <xsd:import namespace="e471432c-39b5-4e37-b6a1-0303f55f100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Location"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770d8f-5db2-42ab-9109-2ccfbb694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3badbea-0c6b-4d4f-9bff-f10d9c96520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71432c-39b5-4e37-b6a1-0303f55f100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fbaa82e-ed9a-4b83-8378-55e6d8546644}" ma:internalName="TaxCatchAll" ma:showField="CatchAllData" ma:web="e471432c-39b5-4e37-b6a1-0303f55f10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A29483-5E78-4541-AD2D-42735FF9999B}">
  <ds:schemaRefs>
    <ds:schemaRef ds:uri="http://schemas.microsoft.com/sharepoint/v3/contenttype/forms"/>
  </ds:schemaRefs>
</ds:datastoreItem>
</file>

<file path=customXml/itemProps2.xml><?xml version="1.0" encoding="utf-8"?>
<ds:datastoreItem xmlns:ds="http://schemas.openxmlformats.org/officeDocument/2006/customXml" ds:itemID="{555E7EBE-8F52-41E7-AED3-CEA8B1FA5B00}">
  <ds:schemaRefs>
    <ds:schemaRef ds:uri="http://schemas.microsoft.com/office/2006/documentManagement/types"/>
    <ds:schemaRef ds:uri="fe770d8f-5db2-42ab-9109-2ccfbb694cc3"/>
    <ds:schemaRef ds:uri="http://purl.org/dc/terms/"/>
    <ds:schemaRef ds:uri="http://www.w3.org/XML/1998/namespace"/>
    <ds:schemaRef ds:uri="http://schemas.microsoft.com/office/2006/metadata/properties"/>
    <ds:schemaRef ds:uri="http://purl.org/dc/elements/1.1/"/>
    <ds:schemaRef ds:uri="e471432c-39b5-4e37-b6a1-0303f55f100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860D43AB-1C14-4844-BC2B-3ABC7F98AA35}">
  <ds:schemaRefs>
    <ds:schemaRef ds:uri="e471432c-39b5-4e37-b6a1-0303f55f1001"/>
    <ds:schemaRef ds:uri="fe770d8f-5db2-42ab-9109-2ccfbb694cc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2767</TotalTime>
  <Words>2301</Words>
  <Application>Microsoft Office PowerPoint</Application>
  <PresentationFormat>Grand écran</PresentationFormat>
  <Paragraphs>210</Paragraphs>
  <Slides>22</Slides>
  <Notes>8</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22</vt:i4>
      </vt:variant>
    </vt:vector>
  </HeadingPairs>
  <TitlesOfParts>
    <vt:vector size="32" baseType="lpstr">
      <vt:lpstr>Arial</vt:lpstr>
      <vt:lpstr>Arial Nova Light</vt:lpstr>
      <vt:lpstr>Calibri</vt:lpstr>
      <vt:lpstr>Calibri Light</vt:lpstr>
      <vt:lpstr>Myriad Pro 3</vt:lpstr>
      <vt:lpstr>Times New Roman</vt:lpstr>
      <vt:lpstr>Wingdings</vt:lpstr>
      <vt:lpstr>Office Theme</vt:lpstr>
      <vt:lpstr>Office Theme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Sujets couverts par les microdonnées de Statistique Canada</vt:lpstr>
      <vt:lpstr>Présentation PowerPoint</vt:lpstr>
      <vt:lpstr>Présentation PowerPoint</vt:lpstr>
      <vt:lpstr>Présentation PowerPoint</vt:lpstr>
      <vt:lpstr>Présentation PowerPoint</vt:lpstr>
      <vt:lpstr>Présentation PowerPoint</vt:lpstr>
      <vt:lpstr>Présentation PowerPoint</vt:lpstr>
      <vt:lpstr>Le CIQSS, c’est :</vt:lpstr>
      <vt:lpstr>Formations au CIQSS</vt:lpstr>
      <vt:lpstr>Répartition par discipline</vt:lpstr>
      <vt:lpstr>Répartition par fonction</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El-Hajar</dc:creator>
  <cp:lastModifiedBy>Magali Girard</cp:lastModifiedBy>
  <cp:revision>73</cp:revision>
  <dcterms:created xsi:type="dcterms:W3CDTF">2020-03-19T14:29:22Z</dcterms:created>
  <dcterms:modified xsi:type="dcterms:W3CDTF">2025-09-23T11:31:46Z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0x010100A3999F3824AACA4CB5C02CA1B5B2DFAE</vt:lpwstr>
  </property>
  <property fmtid="{D5CDD505-2E9C-101B-9397-08002B2CF9AE}" pid="3" name="Order">
    <vt:r8>88300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y fmtid="{D5CDD505-2E9C-101B-9397-08002B2CF9AE}" pid="10" name="MediaServiceImageTags">
    <vt:lpwstr/>
  </property>
</Properties>
</file>